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67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8" r:id="rId12"/>
    <p:sldId id="269" r:id="rId13"/>
    <p:sldId id="265" r:id="rId14"/>
    <p:sldId id="270" r:id="rId15"/>
    <p:sldId id="266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8" y="3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0158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[0:00-0:30 | DANIEL] PEMBUKAAN</a:t>
            </a:r>
          </a:p>
          <a:p>
            <a:r>
              <a:t>"Selamat pagi/siang Bapak/Ibu dan teman-teman. Kami dari kelompok SejutaStay: saya Daniel Steffen Kurniawan (2602071171) dan rekan saya Edvardo Khong (2602177171). Hari ini kami mempresentasikan proyek AOL Database Technology: perancangan dan normalisasi database pemesanan hotel SejutaStay, dari bentuk tidak normal (UNF) sampai 3NF, untuk sektor Tourism &amp; Hospitality."</a:t>
            </a:r>
          </a:p>
          <a:p/>
          <a:p>
            <a:r>
              <a:t>POIN PENTING: sebutkan nama, NIM, judul, dan sektor industri (Tourism &amp; Hospitality) - ini salah satu syarat soal.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[1:00-2:00 | DANIEL] BAB 1 - MASALAH</a:t>
            </a:r>
          </a:p>
          <a:p>
            <a:r>
              <a:t>"SejutaStay adalah jaringan hotel dengan cabang di Jakarta, Bali, Yogyakarta, Bandung, dan Lombok. Saat ini SEMUA reservasi dicatat di SATU spreadsheet bernama BookingRecord - 18 kolom berisi data tamu, hotel, kamar, dan layanan yang tercampur."</a:t>
            </a:r>
          </a:p>
          <a:p/>
          <a:p>
            <a:r>
              <a:t>Lima masalah performa yang kami temukan:</a:t>
            </a:r>
          </a:p>
          <a:p>
            <a:r>
              <a:t>1. REDUNDANSI DATA - data tamu &amp; hotel ditulis ulang di setiap baris booking.</a:t>
            </a:r>
          </a:p>
          <a:p>
            <a:r>
              <a:t>2. UPDATE ANOMALY - satu perubahan harus diedit di banyak baris, mudah terlewat.</a:t>
            </a:r>
          </a:p>
          <a:p>
            <a:r>
              <a:t>3. INSERTION ANOMALY - hotel/layanan baru tidak bisa ditambah tanpa ada booking.</a:t>
            </a:r>
          </a:p>
          <a:p>
            <a:r>
              <a:t>4. DELETION ANOMALY - menghapus booking bisa ikut menghapus satu-satunya data lain.</a:t>
            </a:r>
          </a:p>
          <a:p>
            <a:r>
              <a:t>5. LAMBAT &amp; TIDAK ANDAL - sulit dicari, sulit dibuat laporan, tidak ada pengecekan integritas.</a:t>
            </a:r>
          </a:p>
          <a:p/>
          <a:p>
            <a:r>
              <a:t>Solusi yang kami usulkan: merancang ulang menjadi database relasional yang dinormalisasi sampai 3NF.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[2:00-2:45 | DANIEL] BAB 2 - DATA SAMPEL (UNF)</a:t>
            </a:r>
          </a:p>
          <a:p>
            <a:r>
              <a:t>"Data sampel kami: 7 reservasi dengan 18 atribut, dimodelkan dari data reservasi hotel nyata (dataset Hotel Booking Demand, Antonio dkk., 2019)."</a:t>
            </a:r>
          </a:p>
          <a:p/>
          <a:p>
            <a:r>
              <a:t>"Mengapa disebut un-normalized? Karena ada REPEATING GROUP - satu booking bisa punya beberapa kamar atau layanan, sehingga banyak nilai dijejalkan dalam satu sel. Contoh: booking B002 menyimpan kamar '201 ; 202' dalam SATU sel - ini melanggar aturan dasar tabel relasional."</a:t>
            </a:r>
          </a:p>
          <a:p/>
          <a:p>
            <a:r>
              <a:t>POIN PENTING: tunjuk simbol penanda repeating group pada tabel di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[2:45-3:30 | DANIEL] BAB 3 - ANOMALI &amp; FUNCTIONAL DEPENDENCY</a:t>
            </a:r>
          </a:p>
          <a:p>
            <a:r>
              <a:t>"Dari data tersebut kami menemukan 3 anomali klasik, masing-masing dengan contoh nyata dari data kami:</a:t>
            </a:r>
          </a:p>
          <a:p>
            <a:r>
              <a:t>- INSERTION: tipe kamar baru tidak bisa disimpan sebelum ada yang booking.</a:t>
            </a:r>
          </a:p>
          <a:p>
            <a:r>
              <a:t>- UPDATE: Andi Wijaya muncul di B001 dan B003 - ubah satu, yang lain jadi tidak konsisten.</a:t>
            </a:r>
          </a:p>
          <a:p>
            <a:r>
              <a:t>- DELETION: hapus B004, layanan 'Laundry' ikut hilang selamanya."</a:t>
            </a:r>
          </a:p>
          <a:p/>
          <a:p>
            <a:r>
              <a:t>"Kami juga memetakan 6 functional dependency. Yang paling penting: RoomNo menentukan HotelID dan RoomTypeID, lalu RoomTypeID menentukan nama tipe dan harga - ini rantai TRANSITIF yang nanti diselesaikan di 3NF."</a:t>
            </a:r>
          </a:p>
          <a:p/>
          <a:p>
            <a:r>
              <a:t>Setelah slide ini, serahkan ke Edvardo untuk bagian normalisasi.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[3:30-4:00 | EDVARDO] BAB 4 - PETA NORMALISASI</a:t>
            </a:r>
          </a:p>
          <a:p>
            <a:r>
              <a:t>"Terima kasih Daniel. Solusinya adalah NORMALISASI: memecah satu tabel besar menjadi tabel-tabel kecil yang terstruktur, tahap demi tahap. Dari UNF (1 tabel) -&gt; 1NF (3 tabel, hilangkan repeating group) -&gt; 2NF (5 tabel, hilangkan partial dependency) -&gt; 3NF (8 tabel, hilangkan transitive dependency)."</a:t>
            </a:r>
          </a:p>
          <a:p/>
          <a:p>
            <a:r>
              <a:t>POIN PENTING: "Setiap tahap TIDAK mengubah isi data - hanya menyusun ulang strukturnya agar lebih aman."</a:t>
            </a:r>
          </a:p>
          <a:p/>
          <a:p>
            <a:r>
              <a:t>Slide ini hanya peta - detailnya ada di 3 slide berikut.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[4:00-4:40 | EDVARDO] LANGKAH 1 - 1NF</a:t>
            </a:r>
          </a:p>
          <a:p>
            <a:r>
              <a:t>"Aturan 1NF: setiap sel hanya boleh berisi SATU nilai (atomik). Sebelumnya, B002 menyimpan dua kamar '201 ; 202' dalam satu sel. Setelah 1NF, setiap nilai mendapat barisnya sendiri: B002-201 dan B002-202."</a:t>
            </a:r>
          </a:p>
          <a:p/>
          <a:p>
            <a:r>
              <a:t>"Hasilnya, tabel dipecah menjadi 3 relasi: Booking_1NF, BookingRoom_1NF, dan BookingService_1NF. Primary key gabungan dibentuk dari BookingID + kunci grup berulangnya."</a:t>
            </a:r>
          </a:p>
          <a:p/>
          <a:p>
            <a:r>
              <a:t>POIN PENTING: tunjuk perbandingan BEFORE (1 sel berisi 2 nilai) vs AFTER (2 baris atomik).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[4:40-5:20 | EDVARDO] LANGKAH 2 - 2NF</a:t>
            </a:r>
          </a:p>
          <a:p>
            <a:r>
              <a:t>"Aturan 2NF: sudah 1NF, dan setiap atribut non-kunci harus bergantung pada SELURUH primary key, bukan sebagian saja."</a:t>
            </a:r>
          </a:p>
          <a:p/>
          <a:p>
            <a:r>
              <a:t>"Masalahnya: di BookingRoom_1NF kuncinya {BookingID, RoomNo}, tetapi RoomTypeID, nama tipe, dan harga hanya bergantung pada RoomNo - ini PARTIAL DEPENDENCY. Hal yang sama terjadi pada layanan yang hanya bergantung pada ServiceID."</a:t>
            </a:r>
          </a:p>
          <a:p/>
          <a:p>
            <a:r>
              <a:t>"Solusinya: pindahkan atribut tersebut ke tabel sendiri (Room_2NF dan Service_2NF), sehingga total menjadi 5 relasi. BookingRoom dan BookingService tinggal menjadi tabel penghubung."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[5:20-5:50 | EDVARDO] LANGKAH 3 - 3NF</a:t>
            </a:r>
          </a:p>
          <a:p>
            <a:r>
              <a:t>"Aturan 3NF: sudah 2NF, dan tidak boleh ada atribut non-kunci yang bergantung pada atribut non-kunci lain (TRANSITIVE DEPENDENCY)."</a:t>
            </a:r>
          </a:p>
          <a:p/>
          <a:p>
            <a:r>
              <a:t>"Contohnya: BookingID -&gt; GuestID -&gt; nama/telepon/email tamu. Data tamu bergantung pada GuestID, bukan langsung pada BookingID. Maka Guest dipisah jadi tabel sendiri. Hal yang sama untuk Hotel dan RoomType."</a:t>
            </a:r>
          </a:p>
          <a:p/>
          <a:p>
            <a:r>
              <a:t>"Hasil akhir: 8 tabel dalam 3NF - 6 tabel entitas (biru) dan 2 tabel junction (emas) yang menyelesaikan relasi many-to-many."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[5:50-6:30 | EDVARDO] ERD HASIL AKHIR</a:t>
            </a:r>
          </a:p>
          <a:p>
            <a:r>
              <a:t>"Inilah ERD final dalam notasi Crow's Foot. Cara membacanya:</a:t>
            </a:r>
          </a:p>
          <a:p>
            <a:r>
              <a:t>- Satu GUEST bisa punya banyak BOOKING (1:N).</a:t>
            </a:r>
          </a:p>
          <a:p>
            <a:r>
              <a:t>- Satu HOTEL punya banyak BOOKING dan banyak ROOM (1:N).</a:t>
            </a:r>
          </a:p>
          <a:p>
            <a:r>
              <a:t>- Satu ROOMTYPE dipakai banyak ROOM (1:N).</a:t>
            </a:r>
          </a:p>
          <a:p>
            <a:r>
              <a:t>- BOOKING-ROOM dan BOOKING-SERVICE adalah relasi M:N, diselesaikan dengan tabel junction BookingRoom dan BookingService."</a:t>
            </a:r>
          </a:p>
          <a:p/>
          <a:p>
            <a:r>
              <a:t>POIN PENTING: sebutkan PK dan FK yang terlihat di setiap entitas. Slide ini menjawab syarat 'Refining an ER Diagram' pada soal.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[7:10-7:35 | EDVARDO] BUKTI IMPLEMENTASI MYSQL</a:t>
            </a:r>
          </a:p>
          <a:p>
            <a:r>
              <a:t>"Desain ini kami implementasikan secara fisik di MySQL (file SejutaStay_Database.sql). Di layar terlihat: perintah CREATE TABLE dengan FOREIGN KEY, query JOIN untuk verifikasi, dan hasil penghitungan baris dari phpMyAdmin: semua 8 tabel terisi, minimal 5 baris per tabel - sesuai ketentuan soal."</a:t>
            </a:r>
          </a:p>
          <a:p/>
          <a:p>
            <a:r>
              <a:t>POIN PENTING: tunjuk screenshot hasil run sebagai BUKTI bahwa script benar-benar dieksekusi tanpa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1AA68-4F50-B251-621E-DB1380F10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DBACB8-CAA9-69CE-CFED-538FF4A98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B456BD-9C59-1BDC-E6DE-94D540621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[7:35-7:55 | EDVARDO] HASIL AKHIR &amp; KESIMPULAN</a:t>
            </a:r>
          </a:p>
          <a:p>
            <a:r>
              <a:t>"Kesimpulannya: 8 tabel berhasil dibuat di MySQL, constraint PK/FK diterapkan, minimal 5 baris per tabel terpenuhi, dan query JOIN memverifikasi desain. Redundansi dan ketiga anomali berhasil dihilangkan - SejutaStay kini punya fondasi database yang bersih untuk aplikasi manajemen pemesanan hotel."</a:t>
            </a:r>
          </a:p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82E8A-4CB9-F7F6-6016-5024F0646B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2111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[7:55-8:00 | BERDUA] PENUTUP</a:t>
            </a:r>
          </a:p>
          <a:p>
            <a:r>
              <a:t>"Sekian presentasi dari kelompok kami. Terima kasih atas perhatiannya - kami siap menjawab pertanyaan."</a:t>
            </a:r>
          </a:p>
          <a:p/>
          <a:p>
            <a:r>
              <a:t>PERSIAPAN Q&amp;A (jawaban singkat):</a:t>
            </a:r>
          </a:p>
          <a:p>
            <a:r>
              <a:t>- "Kenapa berhenti di 3NF, tidak BCNF?" -&gt; Pada desain kami setiap determinan sudah menjadi candidate key, sehingga skema 3NF kami sekaligus memenuhi BCNF; 3NF adalah target yang diminta soal.</a:t>
            </a:r>
          </a:p>
          <a:p>
            <a:r>
              <a:t>- "Kenapa RoomNo jadi PK Room?" -&gt; Kami asumsikan RoomNo unik se-jaringan; HotelID tetap disimpan sebagai FK agar tiap kamar terikat ke cabangnya.</a:t>
            </a:r>
          </a:p>
          <a:p>
            <a:r>
              <a:t>- "Kenapa perlu tabel junction?" -&gt; Karena relasi Booking-Room dan Booking-Service bersifat many-to-many, yang tidak bisa diwakili langsung oleh satu FK.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[0:30-1:00 | DANIEL] AGENDA</a:t>
            </a:r>
          </a:p>
          <a:p>
            <a:r>
              <a:t>"Alur presentasi kami ada 6 tahap: (1) masalah pada data saat ini, (2) data sampel dalam bentuk un-normal, (3) anomali dan functional dependency, (4) proses normalisasi 1NF-2NF-3NF, (5) ERD hasil akhir, dan (6) bukti implementasi di MySQL. Singkatnya: kami mulai dari satu tabel yang berantakan dan berakhir dengan database 3NF yang sudah teruji."</a:t>
            </a:r>
          </a:p>
          <a:p/>
          <a:p>
            <a:r>
              <a:t>TIPS: cukup 2 kalimat, jangan berlama-lama di slide ini.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[6:30-6:50 | DANIEL] DAMPAK BISNIS</a:t>
            </a:r>
          </a:p>
          <a:p>
            <a:r>
              <a:t>"Database yang dinormalisasi bukan hanya rapi secara teknis, tapi manfaatnya nyata: staf front-desk mencari booking lebih cepat dan minim salah ketik; manajemen mendapat laporan okupansi dan pendapatan yang akurat; dan tamu dilayani lebih cepat dengan data pemesanan yang benar."</a:t>
            </a:r>
          </a:p>
          <a:p/>
          <a:p>
            <a:r>
              <a:t>TIPS: cukup 20 detik, pilih satu contoh per kelompok pengguna.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[6:50-7:10 | DANIEL] BEFORE vs AFTER</a:t>
            </a:r>
          </a:p>
          <a:p>
            <a:r>
              <a:t>"Sebagai rangkuman: SEBELUM - satu tabel BookingRecord, data tercampur, nilai berulang, penuh anomali. SESUDAH - 8 tabel 3NF dengan relasi PK/FK, redundansi hilang, query JOIN mudah dan tervalidasi. Data yang disimpan tetap sama - strukturnya yang menjadi lebih aman dan scalable."</a:t>
            </a:r>
          </a:p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4A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784080" y="-1554480"/>
            <a:ext cx="4023360" cy="4023360"/>
          </a:xfrm>
          <a:prstGeom prst="ellipse">
            <a:avLst/>
          </a:prstGeom>
          <a:solidFill>
            <a:srgbClr val="1341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698480" y="4480560"/>
            <a:ext cx="3017520" cy="3017520"/>
          </a:xfrm>
          <a:prstGeom prst="ellipse">
            <a:avLst/>
          </a:prstGeom>
          <a:solidFill>
            <a:srgbClr val="1341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2296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8FB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AOL GROUP PROJECT  ·  COMP6799001 DATABASE TECHNOLOGY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SejutaStay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Booking Database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&amp; Normalization  (UNF → 3NF)  for the Tourism &amp; Hospitality Sector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4297680"/>
            <a:ext cx="3840480" cy="0"/>
          </a:xfrm>
          <a:prstGeom prst="line">
            <a:avLst/>
          </a:prstGeom>
          <a:noFill/>
          <a:ln w="19050">
            <a:solidFill>
              <a:srgbClr val="2A5E7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45262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8FB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Steffen Kurniawan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2602071171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Edvardo Khong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2602177171</a:t>
            </a:r>
          </a:p>
        </p:txBody>
      </p:sp>
      <p:sp>
        <p:nvSpPr>
          <p:cNvPr id="11" name="Text 9"/>
          <p:cNvSpPr/>
          <p:nvPr/>
        </p:nvSpPr>
        <p:spPr>
          <a:xfrm>
            <a:off x="822960" y="58978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Semester 4  ·  Academic Year 2025/2026</a:t>
            </a:r>
            <a:endParaRPr lang="en-US" sz="1200" dirty="0"/>
          </a:p>
        </p:txBody>
      </p:sp>
      <p:sp>
        <p:nvSpPr>
          <p:cNvPr id="12" name="TextBox 11"/>
          <p:cNvSpPr txBox="1"/>
          <p:nvPr/>
        </p:nvSpPr>
        <p:spPr>
          <a:xfrm>
            <a:off x="11448288" y="6446520"/>
            <a:ext cx="320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47D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75488"/>
            <a:ext cx="146304" cy="438912"/>
          </a:xfrm>
          <a:prstGeom prst="rect">
            <a:avLst/>
          </a:prstGeom>
          <a:solidFill>
            <a:srgbClr val="005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1069848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00536D"/>
                </a:solidFill>
                <a:latin typeface="Aptos"/>
              </a:defRPr>
            </a:pPr>
            <a:r>
              <a:t>AGENDA</a:t>
            </a:r>
          </a:p>
          <a:p>
            <a:pPr>
              <a:defRPr sz="2800" b="1">
                <a:solidFill>
                  <a:srgbClr val="162D38"/>
                </a:solidFill>
                <a:latin typeface="Aptos"/>
              </a:defRPr>
            </a:pPr>
            <a:r>
              <a:t>Presentation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1664208" cy="1280160"/>
          </a:xfrm>
          <a:prstGeom prst="roundRect">
            <a:avLst/>
          </a:prstGeom>
          <a:solidFill>
            <a:srgbClr val="DDEDF2"/>
          </a:solidFill>
          <a:ln>
            <a:solidFill>
              <a:srgbClr val="005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5528" y="2075688"/>
            <a:ext cx="411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900" b="1">
                <a:solidFill>
                  <a:srgbClr val="66747D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96312"/>
            <a:ext cx="138988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500" b="1">
                <a:solidFill>
                  <a:srgbClr val="162D38"/>
                </a:solidFill>
                <a:latin typeface="Aptos"/>
              </a:defRPr>
            </a:pPr>
            <a: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68296" y="2468880"/>
            <a:ext cx="2286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66747D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78608" y="1965960"/>
            <a:ext cx="1664208" cy="1280160"/>
          </a:xfrm>
          <a:prstGeom prst="roundRect">
            <a:avLst/>
          </a:prstGeom>
          <a:solidFill>
            <a:srgbClr val="F9EED3"/>
          </a:solidFill>
          <a:ln>
            <a:solidFill>
              <a:srgbClr val="CA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88336" y="2075688"/>
            <a:ext cx="411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900" b="1">
                <a:solidFill>
                  <a:srgbClr val="66747D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5768" y="2496312"/>
            <a:ext cx="138988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500" b="1">
                <a:solidFill>
                  <a:srgbClr val="162D38"/>
                </a:solidFill>
                <a:latin typeface="Aptos"/>
              </a:defRPr>
            </a:pPr>
            <a:r>
              <a:t>UNF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468880"/>
            <a:ext cx="2286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66747D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1965960"/>
            <a:ext cx="1664208" cy="1280160"/>
          </a:xfrm>
          <a:prstGeom prst="roundRect">
            <a:avLst/>
          </a:prstGeom>
          <a:solidFill>
            <a:srgbClr val="DDEDF2"/>
          </a:solidFill>
          <a:ln>
            <a:solidFill>
              <a:srgbClr val="005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81144" y="2075688"/>
            <a:ext cx="411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900" b="1">
                <a:solidFill>
                  <a:srgbClr val="66747D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496312"/>
            <a:ext cx="138988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500" b="1">
                <a:solidFill>
                  <a:srgbClr val="162D38"/>
                </a:solidFill>
                <a:latin typeface="Aptos"/>
              </a:defRPr>
            </a:pPr>
            <a:r>
              <a:t>Anomalies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3912" y="2468880"/>
            <a:ext cx="2286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66747D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1965960"/>
            <a:ext cx="1664208" cy="1280160"/>
          </a:xfrm>
          <a:prstGeom prst="roundRect">
            <a:avLst/>
          </a:prstGeom>
          <a:solidFill>
            <a:srgbClr val="F9EED3"/>
          </a:solidFill>
          <a:ln>
            <a:solidFill>
              <a:srgbClr val="CA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73952" y="2075688"/>
            <a:ext cx="411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900" b="1">
                <a:solidFill>
                  <a:srgbClr val="66747D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2496312"/>
            <a:ext cx="1389888" cy="45720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>
              <a:defRPr sz="1500" b="1">
                <a:solidFill>
                  <a:srgbClr val="162D38"/>
                </a:solidFill>
                <a:latin typeface="Aptos"/>
              </a:defRPr>
            </a:pPr>
            <a:r>
              <a:t>Normalization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468880"/>
            <a:ext cx="2286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66747D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1965960"/>
            <a:ext cx="1664208" cy="1280160"/>
          </a:xfrm>
          <a:prstGeom prst="roundRect">
            <a:avLst/>
          </a:prstGeom>
          <a:solidFill>
            <a:srgbClr val="DDEDF2"/>
          </a:solidFill>
          <a:ln>
            <a:solidFill>
              <a:srgbClr val="005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60" y="2075688"/>
            <a:ext cx="411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900" b="1">
                <a:solidFill>
                  <a:srgbClr val="66747D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2496312"/>
            <a:ext cx="138988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500" b="1">
                <a:solidFill>
                  <a:srgbClr val="162D38"/>
                </a:solidFill>
                <a:latin typeface="Aptos"/>
              </a:defRPr>
            </a:pPr>
            <a:r>
              <a:t>ERD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39528" y="2468880"/>
            <a:ext cx="2286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66747D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1965960"/>
            <a:ext cx="1664208" cy="1280160"/>
          </a:xfrm>
          <a:prstGeom prst="roundRect">
            <a:avLst/>
          </a:prstGeom>
          <a:solidFill>
            <a:srgbClr val="F9EED3"/>
          </a:solidFill>
          <a:ln>
            <a:solidFill>
              <a:srgbClr val="CA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59568" y="2075688"/>
            <a:ext cx="411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defRPr sz="900" b="1">
                <a:solidFill>
                  <a:srgbClr val="66747D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2496312"/>
            <a:ext cx="138988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500" b="1">
                <a:solidFill>
                  <a:srgbClr val="162D38"/>
                </a:solidFill>
                <a:latin typeface="Aptos"/>
              </a:defRPr>
            </a:pPr>
            <a:r>
              <a:t>MySQL Result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069080"/>
            <a:ext cx="9509760" cy="6858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2000" b="1">
                <a:solidFill>
                  <a:srgbClr val="00536D"/>
                </a:solidFill>
                <a:latin typeface="Aptos"/>
              </a:defRPr>
            </a:pPr>
            <a:r>
              <a:t>The story starts with one messy table and ends with a tested 3NF database implementation.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446520"/>
            <a:ext cx="6217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747D"/>
                </a:solidFill>
                <a:latin typeface="Aptos"/>
              </a:defRPr>
            </a:pPr>
            <a:r>
              <a:t>SejutaStay Hotel Booking Database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48288" y="6446520"/>
            <a:ext cx="320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47D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420624"/>
          </a:xfrm>
          <a:prstGeom prst="rect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68680" y="365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 ·  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60350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Big Table, Many Problems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160520" cy="4526280"/>
          </a:xfrm>
          <a:prstGeom prst="roundRect">
            <a:avLst>
              <a:gd name="adj" fmla="val 1758"/>
            </a:avLst>
          </a:prstGeom>
          <a:solidFill>
            <a:srgbClr val="E7F1F4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6868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SITUATION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SejutaStay is a growing hotel network with branches in Jakarta, Bali, Yogyakarta, Bandung and Lombok.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reservation — guest, hotel, rooms and services — is recorded in a single shared spreadsheet: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68680" y="3840480"/>
            <a:ext cx="35661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C9D8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68680" y="3977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“BookingRecord”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97280" y="4389120"/>
            <a:ext cx="3108960" cy="219456"/>
          </a:xfrm>
          <a:prstGeom prst="rect">
            <a:avLst/>
          </a:prstGeom>
          <a:solidFill>
            <a:srgbClr val="DCEBF1"/>
          </a:solidFill>
          <a:ln w="9525">
            <a:solidFill>
              <a:srgbClr val="D9E3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097280" y="4681728"/>
            <a:ext cx="3108960" cy="219456"/>
          </a:xfrm>
          <a:prstGeom prst="rect">
            <a:avLst/>
          </a:prstGeom>
          <a:solidFill>
            <a:srgbClr val="F2F6F8"/>
          </a:solidFill>
          <a:ln w="9525">
            <a:solidFill>
              <a:srgbClr val="D9E3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1097280" y="4974336"/>
            <a:ext cx="3108960" cy="219456"/>
          </a:xfrm>
          <a:prstGeom prst="rect">
            <a:avLst/>
          </a:prstGeom>
          <a:solidFill>
            <a:srgbClr val="F2F6F8"/>
          </a:solidFill>
          <a:ln w="9525">
            <a:solidFill>
              <a:srgbClr val="D9E3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097280" y="5266944"/>
            <a:ext cx="3108960" cy="219456"/>
          </a:xfrm>
          <a:prstGeom prst="rect">
            <a:avLst/>
          </a:prstGeom>
          <a:solidFill>
            <a:srgbClr val="F2F6F8"/>
          </a:solidFill>
          <a:ln w="9525">
            <a:solidFill>
              <a:srgbClr val="D9E3E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68680" y="5532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columns × many rows — all data mixed together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0" y="155448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PERFORMANCE PROBLEMS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0" y="1901952"/>
            <a:ext cx="6583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193792" y="2057400"/>
            <a:ext cx="402336" cy="402336"/>
          </a:xfrm>
          <a:prstGeom prst="ellipse">
            <a:avLst/>
          </a:prstGeom>
          <a:solidFill>
            <a:srgbClr val="0C4A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193792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779008" y="197510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redundancy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779008" y="2258568"/>
            <a:ext cx="5715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&amp; hotel details are repeated in every booking row.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0" y="2743200"/>
            <a:ext cx="6583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5193792" y="2898648"/>
            <a:ext cx="402336" cy="402336"/>
          </a:xfrm>
          <a:prstGeom prst="ellipse">
            <a:avLst/>
          </a:prstGeom>
          <a:solidFill>
            <a:srgbClr val="0C4A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193792" y="2898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779008" y="281635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anomaly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5779008" y="3099816"/>
            <a:ext cx="5715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change must be edited in many rows — easy to miss.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0" y="3584448"/>
            <a:ext cx="6583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193792" y="3739896"/>
            <a:ext cx="402336" cy="402336"/>
          </a:xfrm>
          <a:prstGeom prst="ellipse">
            <a:avLst/>
          </a:prstGeom>
          <a:solidFill>
            <a:srgbClr val="0C4A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193792" y="3739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779008" y="365760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anomaly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5779008" y="3941064"/>
            <a:ext cx="5715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hotel or service cannot be added without a booking.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029200" y="4425696"/>
            <a:ext cx="6583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5193792" y="4581144"/>
            <a:ext cx="402336" cy="402336"/>
          </a:xfrm>
          <a:prstGeom prst="ellipse">
            <a:avLst/>
          </a:prstGeom>
          <a:solidFill>
            <a:srgbClr val="0C4A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5193792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rPr sz="1200" b="1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779008" y="449884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Deletion anomaly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779008" y="4782312"/>
            <a:ext cx="5715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Deleting a booking can erase the only copy of other data.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029200" y="5266944"/>
            <a:ext cx="6583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5193792" y="5422392"/>
            <a:ext cx="402336" cy="402336"/>
          </a:xfrm>
          <a:prstGeom prst="ellipse">
            <a:avLst/>
          </a:prstGeom>
          <a:solidFill>
            <a:srgbClr val="0C4A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5193792" y="5422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rPr sz="1200" b="1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779008" y="534009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&amp; unreliable</a:t>
            </a:r>
            <a:endParaRPr lang="en-US" sz="1450" dirty="0"/>
          </a:p>
        </p:txBody>
      </p:sp>
      <p:sp>
        <p:nvSpPr>
          <p:cNvPr id="41" name="Text 39"/>
          <p:cNvSpPr/>
          <p:nvPr/>
        </p:nvSpPr>
        <p:spPr>
          <a:xfrm>
            <a:off x="5779008" y="5623560"/>
            <a:ext cx="5715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search, report, and no integrity checks.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66928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SejutaStay Hotel Booking Database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43000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420624"/>
          </a:xfrm>
          <a:prstGeom prst="rect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68680" y="365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 ·  SAMPLE DATA (UNF)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60350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Case &amp; The Sample Data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6276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SAMPLE DATA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90195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C4A60"/>
                </a:solidFill>
              </a:rPr>
              <a:t>7</a:t>
            </a:r>
            <a:r>
              <a:rPr lang="en-US" sz="1300" dirty="0">
                <a:solidFill>
                  <a:srgbClr val="1E2E36"/>
                </a:solidFill>
              </a:rPr>
              <a:t>  sample reservations,  </a:t>
            </a:r>
            <a:r>
              <a:rPr lang="en-US" sz="3000" b="1" dirty="0">
                <a:solidFill>
                  <a:srgbClr val="0C4A60"/>
                </a:solidFill>
              </a:rPr>
              <a:t>18</a:t>
            </a:r>
            <a:r>
              <a:rPr lang="en-US" sz="1300" dirty="0">
                <a:solidFill>
                  <a:srgbClr val="1E2E36"/>
                </a:solidFill>
              </a:rPr>
              <a:t>  attributes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 on real hotel reservation data (Hotel Booking Demand dataset, Antonio et al., 2019). A small subset is used so each normalization step can be traced by hand.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456432"/>
            <a:ext cx="4572000" cy="2514600"/>
          </a:xfrm>
          <a:prstGeom prst="roundRect">
            <a:avLst>
              <a:gd name="adj" fmla="val 2909"/>
            </a:avLst>
          </a:prstGeom>
          <a:solidFill>
            <a:srgbClr val="E7F1F4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611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IT “UN-NORMALIZED”?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388620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contains repeating groups — one booking can have several rooms or services, so many values are stuffed into one cell.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4663440"/>
            <a:ext cx="406908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23A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960120" y="4754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B002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60120" y="50109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E36"/>
                </a:solidFill>
              </a:rPr>
              <a:t>RoomNo = </a:t>
            </a:r>
            <a:r>
              <a:rPr lang="en-US" sz="1200" b="1" dirty="0">
                <a:solidFill>
                  <a:srgbClr val="B23A48"/>
                </a:solidFill>
              </a:rPr>
              <a:t>201 ; 202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52852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two values in a single cell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49240" y="1463040"/>
            <a:ext cx="6263640" cy="4507992"/>
          </a:xfrm>
          <a:prstGeom prst="roundRect">
            <a:avLst>
              <a:gd name="adj" fmla="val 1623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577840" y="162763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— UN-NORMALIZED TABLE (extract)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975104"/>
          <a:ext cx="5806440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4A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4A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4A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RoomNo 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4A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4A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Andi Wijaya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Jakarta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23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Breakfast; Spa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Bella Sari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Bali Beach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23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201; 202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23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Breakfast; Transfer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Andi Wijaya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Yogya Heritage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Breakfast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Citra Dewi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Bali Beach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23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Spa; Laundry; Late C/O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Doni Pratama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Bandung High.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23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401; 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E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Breakfast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5577840" y="49834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marks columns with repeating groups (multiple values).  The full table has 7 bookings and 18 attributes.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66928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SejutaStay Hotel Booking Database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43000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420624"/>
          </a:xfrm>
          <a:prstGeom prst="rect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68680" y="365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  ·  ANALYSIS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60350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&amp; Functional Dependencies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456432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456432" cy="457200"/>
          </a:xfrm>
          <a:prstGeom prst="rect">
            <a:avLst/>
          </a:prstGeom>
          <a:solidFill>
            <a:srgbClr val="0C4A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ANOMALY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68096" y="2066544"/>
            <a:ext cx="3054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add a new room type or service until a guest books it.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68096" y="3054096"/>
            <a:ext cx="3054096" cy="676656"/>
          </a:xfrm>
          <a:prstGeom prst="roundRect">
            <a:avLst>
              <a:gd name="adj" fmla="val 6757"/>
            </a:avLst>
          </a:prstGeom>
          <a:solidFill>
            <a:srgbClr val="FBEFD5"/>
          </a:solidFill>
          <a:ln w="9525">
            <a:solidFill>
              <a:srgbClr val="E6D2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77824" y="310896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 </a:t>
            </a:r>
            <a:r>
              <a:rPr lang="en-US" sz="1050" i="1" dirty="0">
                <a:solidFill>
                  <a:srgbClr val="6B5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“infinity pool” cannot be stored yet.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79392" y="1481328"/>
            <a:ext cx="3456432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279392" y="1481328"/>
            <a:ext cx="3456432" cy="457200"/>
          </a:xfrm>
          <a:prstGeom prst="rect">
            <a:avLst/>
          </a:prstGeom>
          <a:solidFill>
            <a:srgbClr val="0C4A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279392" y="14813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ANOMALY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2066544"/>
            <a:ext cx="3054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data is duplicated; editing one row leaves the rest inconsistent.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480560" y="3054096"/>
            <a:ext cx="3054096" cy="676656"/>
          </a:xfrm>
          <a:prstGeom prst="roundRect">
            <a:avLst>
              <a:gd name="adj" fmla="val 6757"/>
            </a:avLst>
          </a:prstGeom>
          <a:solidFill>
            <a:srgbClr val="FBEFD5"/>
          </a:solidFill>
          <a:ln w="9525">
            <a:solidFill>
              <a:srgbClr val="E6D2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90288" y="310896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 </a:t>
            </a:r>
            <a:r>
              <a:rPr lang="en-US" sz="1050" i="1" dirty="0">
                <a:solidFill>
                  <a:srgbClr val="6B5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Wijaya appears in B001 &amp; B003.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991856" y="1481328"/>
            <a:ext cx="3456432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991856" y="1481328"/>
            <a:ext cx="3456432" cy="457200"/>
          </a:xfrm>
          <a:prstGeom prst="rect">
            <a:avLst/>
          </a:prstGeom>
          <a:solidFill>
            <a:srgbClr val="0C4A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7991856" y="14813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DELETION ANOMALY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93024" y="2066544"/>
            <a:ext cx="3054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Deleting a booking can erase the only record of other data.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193024" y="3054096"/>
            <a:ext cx="3054096" cy="676656"/>
          </a:xfrm>
          <a:prstGeom prst="roundRect">
            <a:avLst>
              <a:gd name="adj" fmla="val 6757"/>
            </a:avLst>
          </a:prstGeom>
          <a:solidFill>
            <a:srgbClr val="FBEFD5"/>
          </a:solidFill>
          <a:ln w="9525">
            <a:solidFill>
              <a:srgbClr val="E6D2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302752" y="310896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 </a:t>
            </a:r>
            <a:r>
              <a:rPr lang="en-US" sz="1050" i="1" dirty="0">
                <a:solidFill>
                  <a:srgbClr val="6B5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B004 → lose the “Laundry” service.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114800"/>
            <a:ext cx="11064240" cy="1874520"/>
          </a:xfrm>
          <a:prstGeom prst="roundRect">
            <a:avLst>
              <a:gd name="adj" fmla="val 3902"/>
            </a:avLst>
          </a:prstGeom>
          <a:solidFill>
            <a:srgbClr val="E7F1F4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22960" y="426110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FUNCTIONAL DEPENDENCIES   ( A → B  means A determines B 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68680" y="4626864"/>
            <a:ext cx="109728" cy="109728"/>
          </a:xfrm>
          <a:prstGeom prst="ellipse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078992" y="452628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BookingID → BookingDate, GuestID, HotelID, CheckIn, CheckOut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55080" y="4626864"/>
            <a:ext cx="109728" cy="109728"/>
          </a:xfrm>
          <a:prstGeom prst="ellipse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565392" y="452628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GuestID → GuestName, GuestPhone, GuestEmail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68680" y="5047488"/>
            <a:ext cx="109728" cy="109728"/>
          </a:xfrm>
          <a:prstGeom prst="ellipse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1078992" y="494690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HotelID → HotelName, HotelCity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355080" y="5047488"/>
            <a:ext cx="109728" cy="109728"/>
          </a:xfrm>
          <a:prstGeom prst="ellipse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565392" y="494690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RoomNo → HotelID, RoomTypeID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68680" y="5468112"/>
            <a:ext cx="109728" cy="109728"/>
          </a:xfrm>
          <a:prstGeom prst="ellipse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1078992" y="5367528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RoomTypeID → RoomTypeName, PricePerNight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355080" y="5468112"/>
            <a:ext cx="109728" cy="109728"/>
          </a:xfrm>
          <a:prstGeom prst="ellipse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6565392" y="5367528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ServiceID → ServiceName, ServicePrice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SejutaStay Hotel Booking Database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43000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420624"/>
          </a:xfrm>
          <a:prstGeom prst="rect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68680" y="365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 ·  METHOD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60350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Normalization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3716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 splits the one big table into smaller, well-structured tables — step by step — until every table is in Third Normal Form (3NF).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615184" cy="822960"/>
          </a:xfrm>
          <a:prstGeom prst="rect">
            <a:avLst/>
          </a:prstGeom>
          <a:solidFill>
            <a:srgbClr val="8E9BA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2203704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66928" y="267919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Un-Normalized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3154680"/>
            <a:ext cx="22494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point: one table with repeating groups.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069848" y="4754880"/>
            <a:ext cx="1609344" cy="457200"/>
          </a:xfrm>
          <a:prstGeom prst="roundRect">
            <a:avLst>
              <a:gd name="adj" fmla="val 50000"/>
            </a:avLst>
          </a:prstGeom>
          <a:solidFill>
            <a:srgbClr val="FBEFD5"/>
          </a:solidFill>
          <a:ln w="9525">
            <a:solidFill>
              <a:srgbClr val="E6D2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069848" y="475488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table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136392" y="3474720"/>
            <a:ext cx="310896" cy="310896"/>
          </a:xfrm>
          <a:prstGeom prst="ellipse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3136392" y="3447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383280" y="214884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383280" y="2148840"/>
            <a:ext cx="2615184" cy="8229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383280" y="2203704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1NF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3383280" y="267919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Normal Form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566160" y="3154680"/>
            <a:ext cx="22494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repeating groups — every cell holds one value.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886200" y="4754880"/>
            <a:ext cx="1609344" cy="457200"/>
          </a:xfrm>
          <a:prstGeom prst="roundRect">
            <a:avLst>
              <a:gd name="adj" fmla="val 50000"/>
            </a:avLst>
          </a:prstGeom>
          <a:solidFill>
            <a:srgbClr val="FBEFD5"/>
          </a:solidFill>
          <a:ln w="9525">
            <a:solidFill>
              <a:srgbClr val="E6D2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3886200" y="475488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tables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52744" y="3474720"/>
            <a:ext cx="310896" cy="310896"/>
          </a:xfrm>
          <a:prstGeom prst="ellipse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952744" y="3447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99632" y="214884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6199632" y="2148840"/>
            <a:ext cx="2615184" cy="8229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199632" y="2203704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2NF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6199632" y="267919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Normal Form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382512" y="3154680"/>
            <a:ext cx="22494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partial dependencies on a composite key.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702552" y="4754880"/>
            <a:ext cx="1609344" cy="457200"/>
          </a:xfrm>
          <a:prstGeom prst="roundRect">
            <a:avLst>
              <a:gd name="adj" fmla="val 50000"/>
            </a:avLst>
          </a:prstGeom>
          <a:solidFill>
            <a:srgbClr val="FBEFD5"/>
          </a:solidFill>
          <a:ln w="9525">
            <a:solidFill>
              <a:srgbClr val="E6D2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702552" y="475488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tables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769096" y="3474720"/>
            <a:ext cx="310896" cy="310896"/>
          </a:xfrm>
          <a:prstGeom prst="ellipse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8769096" y="3447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015984" y="214884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9015984" y="2148840"/>
            <a:ext cx="2615184" cy="822960"/>
          </a:xfrm>
          <a:prstGeom prst="rect">
            <a:avLst/>
          </a:prstGeom>
          <a:solidFill>
            <a:srgbClr val="0C4A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9015984" y="2203704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9015984" y="267919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Normal Form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9198864" y="3154680"/>
            <a:ext cx="22494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transitive dependencies between non-key fields.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9518904" y="4754880"/>
            <a:ext cx="1609344" cy="457200"/>
          </a:xfrm>
          <a:prstGeom prst="roundRect">
            <a:avLst>
              <a:gd name="adj" fmla="val 50000"/>
            </a:avLst>
          </a:prstGeom>
          <a:solidFill>
            <a:srgbClr val="FBEFD5"/>
          </a:solidFill>
          <a:ln w="9525">
            <a:solidFill>
              <a:srgbClr val="E6D2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9518904" y="475488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tables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66928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keeps the same data — it only re-organises it into a cleaner, safer structure.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66928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SejutaStay Hotel Booking Database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43000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420624"/>
          </a:xfrm>
          <a:prstGeom prst="rect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68680" y="365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60350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First Normal Form (1NF)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927080" y="457200"/>
            <a:ext cx="713232" cy="71323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927080" y="4572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1NF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141732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E7F1F4"/>
          </a:solidFill>
          <a:ln w="12700">
            <a:solidFill>
              <a:srgbClr val="C9DDE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14173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  </a:t>
            </a:r>
            <a:r>
              <a:rPr lang="en-US" sz="140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 must hold only ONE value — remove all repeating groups.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286000"/>
            <a:ext cx="53492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77240" y="23957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 —  repeating group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68680" y="2697480"/>
            <a:ext cx="2103120" cy="457200"/>
          </a:xfrm>
          <a:prstGeom prst="rect">
            <a:avLst/>
          </a:prstGeom>
          <a:solidFill>
            <a:srgbClr val="F7E9EA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6868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B002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71800" y="2697480"/>
            <a:ext cx="2697480" cy="457200"/>
          </a:xfrm>
          <a:prstGeom prst="rect">
            <a:avLst/>
          </a:prstGeom>
          <a:solidFill>
            <a:srgbClr val="F7E9EA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971800" y="26974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; 202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329184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booking row stores two rooms in a single cell — not allowed.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2286000"/>
            <a:ext cx="53492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92240" y="23957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E7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 —  atomic values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583680" y="2697480"/>
            <a:ext cx="2103120" cy="420624"/>
          </a:xfrm>
          <a:prstGeom prst="rect">
            <a:avLst/>
          </a:prstGeom>
          <a:solidFill>
            <a:srgbClr val="E8F3EC"/>
          </a:solidFill>
          <a:ln w="12700">
            <a:solidFill>
              <a:srgbClr val="2E7D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583680" y="269748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B002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86800" y="2697480"/>
            <a:ext cx="2697480" cy="420624"/>
          </a:xfrm>
          <a:prstGeom prst="rect">
            <a:avLst/>
          </a:prstGeom>
          <a:solidFill>
            <a:srgbClr val="E8F3EC"/>
          </a:solidFill>
          <a:ln w="12700">
            <a:solidFill>
              <a:srgbClr val="2E7D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686800" y="269748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rPr sz="1200" b="1">
                <a:solidFill>
                  <a:srgbClr val="1E7B43"/>
                </a:solidFill>
              </a:rPr>
              <a:t>201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0" y="3209544"/>
            <a:ext cx="2103120" cy="420624"/>
          </a:xfrm>
          <a:prstGeom prst="rect">
            <a:avLst/>
          </a:prstGeom>
          <a:solidFill>
            <a:srgbClr val="E8F3EC"/>
          </a:solidFill>
          <a:ln w="12700">
            <a:solidFill>
              <a:srgbClr val="2E7D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583680" y="320954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B002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686800" y="3209544"/>
            <a:ext cx="2697480" cy="420624"/>
          </a:xfrm>
          <a:prstGeom prst="rect">
            <a:avLst/>
          </a:prstGeom>
          <a:solidFill>
            <a:srgbClr val="E8F3EC"/>
          </a:solidFill>
          <a:ln w="12700">
            <a:solidFill>
              <a:srgbClr val="2E7D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686800" y="3209544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rPr sz="1200" b="1">
                <a:solidFill>
                  <a:srgbClr val="1E7B43"/>
                </a:solidFill>
              </a:rPr>
              <a:t>202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382219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value gets its own row — now every cell is atomic.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4663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 —  the table is split into 3 relations: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5029200"/>
            <a:ext cx="3456432" cy="914400"/>
          </a:xfrm>
          <a:prstGeom prst="roundRect">
            <a:avLst>
              <a:gd name="adj" fmla="val 8000"/>
            </a:avLst>
          </a:prstGeom>
          <a:solidFill>
            <a:srgbClr val="E7F1F4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49808" y="510235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Booking_1NF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49808" y="5394960"/>
            <a:ext cx="3127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BookingID, BookingDate, GuestID… CheckIn, CheckOut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4279392" y="5029200"/>
            <a:ext cx="3456432" cy="914400"/>
          </a:xfrm>
          <a:prstGeom prst="roundRect">
            <a:avLst>
              <a:gd name="adj" fmla="val 8000"/>
            </a:avLst>
          </a:prstGeom>
          <a:solidFill>
            <a:srgbClr val="E7F1F4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462272" y="510235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BookingRoom_1NF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462272" y="5394960"/>
            <a:ext cx="3127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BookingID, RoomNo, RoomTypeID, RoomTypeName, Price</a:t>
            </a:r>
            <a:endParaRPr lang="en-US" sz="980" dirty="0"/>
          </a:p>
        </p:txBody>
      </p:sp>
      <p:sp>
        <p:nvSpPr>
          <p:cNvPr id="34" name="Shape 32"/>
          <p:cNvSpPr/>
          <p:nvPr/>
        </p:nvSpPr>
        <p:spPr>
          <a:xfrm>
            <a:off x="7991856" y="5029200"/>
            <a:ext cx="3456432" cy="914400"/>
          </a:xfrm>
          <a:prstGeom prst="roundRect">
            <a:avLst>
              <a:gd name="adj" fmla="val 8000"/>
            </a:avLst>
          </a:prstGeom>
          <a:solidFill>
            <a:srgbClr val="E7F1F4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8174736" y="510235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BookingService_1NF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174736" y="5394960"/>
            <a:ext cx="3127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BookingID, ServiceID, ServiceName, ServicePrice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SejutaStay Hotel Booking Database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43000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420624"/>
          </a:xfrm>
          <a:prstGeom prst="rect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68680" y="365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60350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Second Normal Form (2NF)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927080" y="457200"/>
            <a:ext cx="713232" cy="71323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927080" y="4572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2NF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141732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E7F1F4"/>
          </a:solidFill>
          <a:ln w="12700">
            <a:solidFill>
              <a:srgbClr val="C9DDE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14173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  </a:t>
            </a:r>
            <a:r>
              <a:rPr lang="en-US" sz="140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1NF, and every non-key attribute depends on the WHOLE primary key — not just part of it.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— PARTIAL DEPENDENCY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56032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68680" y="265176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 BookingRoom_1NF  the key is  </a:t>
            </a:r>
            <a:r>
              <a:rPr lang="en-US" sz="130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{BookingID, RoomNo}</a:t>
            </a:r>
            <a:r>
              <a:rPr lang="en-US" sz="130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But  RoomTypeID, RoomTypeName and Price  depend only on  </a:t>
            </a: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RoomNo</a:t>
            </a:r>
            <a:r>
              <a:rPr lang="en-US" sz="130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only part of the key. The same happens with services depending only on ServiceID.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02336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— move partially-dependent fields into their own tables  →  5 relations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389120"/>
            <a:ext cx="345643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66928" y="4389120"/>
            <a:ext cx="109728" cy="713232"/>
          </a:xfrm>
          <a:prstGeom prst="rect">
            <a:avLst/>
          </a:prstGeom>
          <a:solidFill>
            <a:srgbClr val="8E9BA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445312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Booking_2NF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2960" y="4736592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 — single-field key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4279392" y="4389120"/>
            <a:ext cx="345643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279392" y="4389120"/>
            <a:ext cx="109728" cy="713232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535424" y="445312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BookingRoom_2NF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35424" y="4736592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BookingID, RoomNo  (link only)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7991856" y="4389120"/>
            <a:ext cx="345643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991856" y="4389120"/>
            <a:ext cx="109728" cy="713232"/>
          </a:xfrm>
          <a:prstGeom prst="rect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247888" y="445312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Room_2NF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47888" y="4736592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RoomNo, HotelID, RoomTypeID, RoomTypeName, Price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566928" y="5230368"/>
            <a:ext cx="345643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566928" y="5230368"/>
            <a:ext cx="109728" cy="713232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22960" y="529437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BookingService_2NF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22960" y="5577840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BookingID, ServiceID  (link only)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4279392" y="5230368"/>
            <a:ext cx="345643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279392" y="5230368"/>
            <a:ext cx="109728" cy="713232"/>
          </a:xfrm>
          <a:prstGeom prst="rect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4535424" y="529437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Service_2NF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35424" y="5577840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ServiceID, ServiceName, ServicePrice</a:t>
            </a:r>
            <a:endParaRPr lang="en-US" sz="980" dirty="0"/>
          </a:p>
        </p:txBody>
      </p:sp>
      <p:sp>
        <p:nvSpPr>
          <p:cNvPr id="33" name="Text 31"/>
          <p:cNvSpPr/>
          <p:nvPr/>
        </p:nvSpPr>
        <p:spPr>
          <a:xfrm>
            <a:off x="566928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SejutaStay Hotel Booking Database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43000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420624"/>
          </a:xfrm>
          <a:prstGeom prst="rect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68680" y="365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60350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Third Normal Form (3NF)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927080" y="457200"/>
            <a:ext cx="713232" cy="713232"/>
          </a:xfrm>
          <a:prstGeom prst="ellipse">
            <a:avLst/>
          </a:prstGeom>
          <a:solidFill>
            <a:srgbClr val="0C4A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927080" y="4572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141732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E7F1F4"/>
          </a:solidFill>
          <a:ln w="12700">
            <a:solidFill>
              <a:srgbClr val="C9DDE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14173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  </a:t>
            </a:r>
            <a:r>
              <a:rPr lang="en-US" sz="1400" dirty="0">
                <a:solidFill>
                  <a:srgbClr val="1E2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2NF, and no non-key attribute depends on ANOTHER non-key attribute (transitive dependency).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— TRANSITIVE DEPENDENCY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5603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6868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BookingID → GuestID → GuestName, GuestPhone, GuestEmail          RoomNo → HotelID &amp; RoomTypeID → Price</a:t>
            </a:r>
          </a:p>
        </p:txBody>
      </p:sp>
      <p:sp>
        <p:nvSpPr>
          <p:cNvPr id="12" name="Text 10"/>
          <p:cNvSpPr/>
          <p:nvPr/>
        </p:nvSpPr>
        <p:spPr>
          <a:xfrm>
            <a:off x="640080" y="365760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— move each entity into its own table  →  final 8 tables in 3NF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069080"/>
            <a:ext cx="2596896" cy="749808"/>
          </a:xfrm>
          <a:prstGeom prst="roundRect">
            <a:avLst>
              <a:gd name="adj" fmla="val 9756"/>
            </a:avLst>
          </a:prstGeom>
          <a:solidFill>
            <a:srgbClr val="E7F1F4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713232" y="4261104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1323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rPr sz="1100" b="1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70432" y="406908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3364992" y="4069080"/>
            <a:ext cx="2596896" cy="749808"/>
          </a:xfrm>
          <a:prstGeom prst="roundRect">
            <a:avLst>
              <a:gd name="adj" fmla="val 9756"/>
            </a:avLst>
          </a:prstGeom>
          <a:solidFill>
            <a:srgbClr val="E7F1F4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3511296" y="4261104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511296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rPr sz="1100" b="1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68496" y="406908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63056" y="4069080"/>
            <a:ext cx="2596896" cy="749808"/>
          </a:xfrm>
          <a:prstGeom prst="roundRect">
            <a:avLst>
              <a:gd name="adj" fmla="val 9756"/>
            </a:avLst>
          </a:prstGeom>
          <a:solidFill>
            <a:srgbClr val="E7F1F4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309360" y="4261104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30936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rPr sz="1100" b="1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66560" y="406908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RoomType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961120" y="4069080"/>
            <a:ext cx="2596896" cy="749808"/>
          </a:xfrm>
          <a:prstGeom prst="roundRect">
            <a:avLst>
              <a:gd name="adj" fmla="val 9756"/>
            </a:avLst>
          </a:prstGeom>
          <a:solidFill>
            <a:srgbClr val="E7F1F4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9107424" y="4261104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107424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rPr sz="1100" b="1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564624" y="406908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4983480"/>
            <a:ext cx="2596896" cy="749808"/>
          </a:xfrm>
          <a:prstGeom prst="roundRect">
            <a:avLst>
              <a:gd name="adj" fmla="val 9756"/>
            </a:avLst>
          </a:prstGeom>
          <a:solidFill>
            <a:srgbClr val="E7F1F4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713232" y="5175504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13232" y="5175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rPr sz="1100" b="1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70432" y="498348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3364992" y="4983480"/>
            <a:ext cx="2596896" cy="749808"/>
          </a:xfrm>
          <a:prstGeom prst="roundRect">
            <a:avLst>
              <a:gd name="adj" fmla="val 9756"/>
            </a:avLst>
          </a:prstGeom>
          <a:solidFill>
            <a:srgbClr val="E7F1F4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3511296" y="5175504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3511296" y="5175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rPr sz="1100" b="1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968496" y="498348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163056" y="4983480"/>
            <a:ext cx="2596896" cy="749808"/>
          </a:xfrm>
          <a:prstGeom prst="roundRect">
            <a:avLst>
              <a:gd name="adj" fmla="val 9756"/>
            </a:avLst>
          </a:prstGeom>
          <a:solidFill>
            <a:srgbClr val="FBEFD5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6309360" y="5175504"/>
            <a:ext cx="365760" cy="365760"/>
          </a:xfrm>
          <a:prstGeom prst="ellipse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309360" y="5175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rPr sz="1100" b="1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766560" y="498348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BookingRoom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8961120" y="4983480"/>
            <a:ext cx="2596896" cy="749808"/>
          </a:xfrm>
          <a:prstGeom prst="roundRect">
            <a:avLst>
              <a:gd name="adj" fmla="val 9756"/>
            </a:avLst>
          </a:prstGeom>
          <a:solidFill>
            <a:srgbClr val="FBEFD5"/>
          </a:solidFill>
          <a:ln w="12700">
            <a:solidFill>
              <a:srgbClr val="DCE6EA"/>
            </a:solidFill>
            <a:prstDash val="solid"/>
          </a:ln>
          <a:effectLst>
            <a:outerShdw blurRad="88900" dist="38100" dir="8100000" algn="bl" rotWithShape="0">
              <a:srgbClr val="0C2A36">
                <a:alpha val="1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9107424" y="5175504"/>
            <a:ext cx="365760" cy="365760"/>
          </a:xfrm>
          <a:prstGeom prst="ellipse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107424" y="5175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rPr sz="1100" b="1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564624" y="498348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BookingService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= main entity tables    ·    Gold = junction tables that resolve many-to-many links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66928" y="64373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9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SejutaStay Hotel Booking Database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143000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 sz="900">
                <a:solidFill>
                  <a:srgbClr val="66747D"/>
                </a:solidFill>
                <a:latin typeface="Aptos"/>
              </a:defRPr>
            </a:pPr>
            <a: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66928" y="6446520"/>
            <a:ext cx="6217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747D"/>
                </a:solidFill>
                <a:latin typeface="Aptos"/>
              </a:defRPr>
            </a:pPr>
            <a:r>
              <a:t>SejutaStay Hotel Booking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48288" y="6446520"/>
            <a:ext cx="320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47D"/>
                </a:solidFill>
                <a:latin typeface="Aptos"/>
              </a:defRPr>
            </a:pPr>
            <a:r>
              <a:t>10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01BC40-0C29-CECA-28C4-5885C7F3C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971" y="0"/>
            <a:ext cx="9430068" cy="66296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DFB765B-4C8E-8595-261A-29A153B11565}"/>
              </a:ext>
            </a:extLst>
          </p:cNvPr>
          <p:cNvSpPr txBox="1"/>
          <p:nvPr/>
        </p:nvSpPr>
        <p:spPr>
          <a:xfrm>
            <a:off x="309252" y="316222"/>
            <a:ext cx="6097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0C4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Tables in 3NF</a:t>
            </a:r>
            <a:endParaRPr lang="id-ID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75488"/>
            <a:ext cx="146304" cy="438912"/>
          </a:xfrm>
          <a:prstGeom prst="rect">
            <a:avLst/>
          </a:prstGeom>
          <a:solidFill>
            <a:srgbClr val="005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1069848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00536D"/>
                </a:solidFill>
                <a:latin typeface="Aptos"/>
              </a:defRPr>
            </a:pPr>
            <a:r>
              <a:t>BUSINESS IMPACT</a:t>
            </a:r>
          </a:p>
          <a:p>
            <a:pPr>
              <a:defRPr sz="2800" b="1">
                <a:solidFill>
                  <a:srgbClr val="162D38"/>
                </a:solidFill>
                <a:latin typeface="Aptos"/>
              </a:defRPr>
            </a:pPr>
            <a:r>
              <a:t>Who Benefits From the Database?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337560" cy="3383280"/>
          </a:xfrm>
          <a:prstGeom prst="roundRect">
            <a:avLst/>
          </a:prstGeom>
          <a:solidFill>
            <a:srgbClr val="DDEDF2"/>
          </a:solidFill>
          <a:ln w="15240">
            <a:solidFill>
              <a:srgbClr val="005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64792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536D"/>
                </a:solidFill>
                <a:latin typeface="Aptos"/>
              </a:defRPr>
            </a:pPr>
            <a:r>
              <a:t>Front-desk Staff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971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62D38"/>
                </a:solidFill>
                <a:latin typeface="Aptos"/>
              </a:defRPr>
            </a:pPr>
            <a:r>
              <a:t>• Faster booking search</a:t>
            </a:r>
          </a:p>
          <a:p>
            <a:pPr>
              <a:defRPr sz="1500">
                <a:solidFill>
                  <a:srgbClr val="162D38"/>
                </a:solidFill>
                <a:latin typeface="Aptos"/>
              </a:defRPr>
            </a:pPr>
            <a:r>
              <a:t>• Less repeated typing</a:t>
            </a:r>
          </a:p>
          <a:p>
            <a:pPr>
              <a:defRPr sz="1500">
                <a:solidFill>
                  <a:srgbClr val="162D38"/>
                </a:solidFill>
                <a:latin typeface="Aptos"/>
              </a:defRPr>
            </a:pPr>
            <a:r>
              <a:t>• Fewer wrong room/service records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00200"/>
            <a:ext cx="3337560" cy="3383280"/>
          </a:xfrm>
          <a:prstGeom prst="roundRect">
            <a:avLst/>
          </a:prstGeom>
          <a:solidFill>
            <a:srgbClr val="F9EED3"/>
          </a:solidFill>
          <a:ln w="15240">
            <a:solidFill>
              <a:srgbClr val="CA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720" y="1764792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536D"/>
                </a:solidFill>
                <a:latin typeface="Aptos"/>
              </a:defRPr>
            </a:pPr>
            <a:r>
              <a:t>Hotel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286000"/>
            <a:ext cx="2971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62D38"/>
                </a:solidFill>
                <a:latin typeface="Aptos"/>
              </a:defRPr>
            </a:pPr>
            <a:r>
              <a:t>• Cleaner occupancy reports</a:t>
            </a:r>
          </a:p>
          <a:p>
            <a:pPr>
              <a:defRPr sz="1500">
                <a:solidFill>
                  <a:srgbClr val="162D38"/>
                </a:solidFill>
                <a:latin typeface="Aptos"/>
              </a:defRPr>
            </a:pPr>
            <a:r>
              <a:t>• More reliable revenue data</a:t>
            </a:r>
          </a:p>
          <a:p>
            <a:pPr>
              <a:defRPr sz="1500">
                <a:solidFill>
                  <a:srgbClr val="162D38"/>
                </a:solidFill>
                <a:latin typeface="Aptos"/>
              </a:defRPr>
            </a:pPr>
            <a:r>
              <a:t>• Easier branch-level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00200"/>
            <a:ext cx="3337560" cy="3383280"/>
          </a:xfrm>
          <a:prstGeom prst="roundRect">
            <a:avLst/>
          </a:prstGeom>
          <a:solidFill>
            <a:srgbClr val="DDEDF2"/>
          </a:solidFill>
          <a:ln w="15240">
            <a:solidFill>
              <a:srgbClr val="005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0" y="1764792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536D"/>
                </a:solidFill>
                <a:latin typeface="Aptos"/>
              </a:defRPr>
            </a:pPr>
            <a:r>
              <a:t>Guests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286000"/>
            <a:ext cx="2971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62D38"/>
                </a:solidFill>
                <a:latin typeface="Aptos"/>
              </a:defRPr>
            </a:pPr>
            <a:r>
              <a:t>• Faster service</a:t>
            </a:r>
          </a:p>
          <a:p>
            <a:pPr>
              <a:defRPr sz="1500">
                <a:solidFill>
                  <a:srgbClr val="162D38"/>
                </a:solidFill>
                <a:latin typeface="Aptos"/>
              </a:defRPr>
            </a:pPr>
            <a:r>
              <a:t>• Correct booking details</a:t>
            </a:r>
          </a:p>
          <a:p>
            <a:pPr>
              <a:defRPr sz="1500">
                <a:solidFill>
                  <a:srgbClr val="162D38"/>
                </a:solidFill>
                <a:latin typeface="Aptos"/>
              </a:defRPr>
            </a:pPr>
            <a:r>
              <a:t>• Better check-in experience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86400"/>
            <a:ext cx="10058400" cy="45720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>
              <a:defRPr sz="1700" b="1">
                <a:solidFill>
                  <a:srgbClr val="00536D"/>
                </a:solidFill>
                <a:latin typeface="Aptos"/>
              </a:defRPr>
            </a:pPr>
            <a:r>
              <a:t>A normalized database is not only cleaner technically — it improves daily operations for the hotel network.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46520"/>
            <a:ext cx="6217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747D"/>
                </a:solidFill>
                <a:latin typeface="Aptos"/>
              </a:defRPr>
            </a:pPr>
            <a:r>
              <a:t>SejutaStay Hotel Booking 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48288" y="6446520"/>
            <a:ext cx="320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47D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75488"/>
            <a:ext cx="146304" cy="438912"/>
          </a:xfrm>
          <a:prstGeom prst="rect">
            <a:avLst/>
          </a:prstGeom>
          <a:solidFill>
            <a:srgbClr val="005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1069848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00536D"/>
                </a:solidFill>
                <a:latin typeface="Aptos"/>
              </a:defRPr>
            </a:pPr>
            <a:r>
              <a:t>BEFORE vs AFTER</a:t>
            </a:r>
          </a:p>
          <a:p>
            <a:pPr>
              <a:defRPr sz="2800" b="1">
                <a:solidFill>
                  <a:srgbClr val="162D38"/>
                </a:solidFill>
                <a:latin typeface="Aptos"/>
              </a:defRPr>
            </a:pPr>
            <a:r>
              <a:t>From One Big Table to 8 Clean 3NF Tables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371600"/>
            <a:ext cx="5166360" cy="4206240"/>
          </a:xfrm>
          <a:prstGeom prst="roundRect">
            <a:avLst/>
          </a:prstGeom>
          <a:solidFill>
            <a:srgbClr val="FFF0F0"/>
          </a:solidFill>
          <a:ln>
            <a:solidFill>
              <a:srgbClr val="AE3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263640" y="1371600"/>
            <a:ext cx="5166360" cy="4206240"/>
          </a:xfrm>
          <a:prstGeom prst="roundRect">
            <a:avLst/>
          </a:prstGeom>
          <a:solidFill>
            <a:srgbClr val="EBF9F1"/>
          </a:solidFill>
          <a:ln>
            <a:solidFill>
              <a:srgbClr val="378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663440" cy="41148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2200" b="1">
                <a:solidFill>
                  <a:srgbClr val="AE3A37"/>
                </a:solidFill>
                <a:latin typeface="Aptos"/>
              </a:defRPr>
            </a:pPr>
            <a: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40280"/>
            <a:ext cx="438912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62D38"/>
                </a:solidFill>
                <a:latin typeface="Aptos"/>
              </a:defRPr>
            </a:pPr>
            <a:r>
              <a:t>One BookingRecord table</a:t>
            </a:r>
            <a:br/>
            <a:br/>
            <a:r>
              <a:t>• Guest, hotel, room, and service data mixed together</a:t>
            </a:r>
            <a:br/>
            <a:r>
              <a:t>• Repeated values</a:t>
            </a:r>
            <a:br/>
            <a:r>
              <a:t>• Insertion, update, and deletion anomalies</a:t>
            </a:r>
            <a:br/>
            <a:r>
              <a:t>• Harder to query reliably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663440" cy="41148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>
              <a:defRPr sz="2200" b="1">
                <a:solidFill>
                  <a:srgbClr val="378755"/>
                </a:solidFill>
                <a:latin typeface="Aptos"/>
              </a:defRPr>
            </a:pPr>
            <a:r>
              <a:t>AFTER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240280"/>
            <a:ext cx="438912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62D38"/>
                </a:solidFill>
                <a:latin typeface="Aptos"/>
              </a:defRPr>
            </a:pPr>
            <a:r>
              <a:t>8 tables in 3NF</a:t>
            </a:r>
            <a:br/>
            <a:br/>
            <a:r>
              <a:t>• Separate Guest, Hotel, Room, RoomType, Service, Booking tables</a:t>
            </a:r>
            <a:br/>
            <a:r>
              <a:t>• PK/FK relationships</a:t>
            </a:r>
            <a:br/>
            <a:r>
              <a:t>• Less redundancy</a:t>
            </a:r>
            <a:br/>
            <a:r>
              <a:t>• Easier JOIN queries and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806440"/>
            <a:ext cx="97840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700" b="1">
                <a:solidFill>
                  <a:srgbClr val="00536D"/>
                </a:solidFill>
                <a:latin typeface="Aptos"/>
              </a:defRPr>
            </a:pPr>
            <a:r>
              <a:t>Normalization keeps the same data, but reorganizes it into a safer and more scalable structure.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46520"/>
            <a:ext cx="6217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747D"/>
                </a:solidFill>
                <a:latin typeface="Aptos"/>
              </a:defRPr>
            </a:pPr>
            <a:r>
              <a:t>SejutaStay Hotel Booking 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48288" y="6446520"/>
            <a:ext cx="320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47D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75488"/>
            <a:ext cx="146304" cy="438912"/>
          </a:xfrm>
          <a:prstGeom prst="rect">
            <a:avLst/>
          </a:prstGeom>
          <a:solidFill>
            <a:srgbClr val="005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1069848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00536D"/>
                </a:solidFill>
                <a:latin typeface="Aptos"/>
              </a:defRPr>
            </a:pPr>
            <a:r>
              <a:t>MYSQL RESULT</a:t>
            </a:r>
          </a:p>
          <a:p>
            <a:pPr>
              <a:defRPr sz="2800" b="1">
                <a:solidFill>
                  <a:srgbClr val="162D38"/>
                </a:solidFill>
                <a:latin typeface="Aptos"/>
              </a:defRPr>
            </a:pPr>
            <a:r>
              <a:t>Implementation Proof &amp; Final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3291840" cy="2743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defRPr sz="1300" b="1">
                <a:solidFill>
                  <a:srgbClr val="00536D"/>
                </a:solidFill>
                <a:latin typeface="Aptos"/>
              </a:defRPr>
            </a:pPr>
            <a:r>
              <a:t>CREATE TABLE + FK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36192"/>
            <a:ext cx="3474720" cy="1920240"/>
          </a:xfrm>
          <a:prstGeom prst="roundRect">
            <a:avLst/>
          </a:prstGeom>
          <a:solidFill>
            <a:srgbClr val="F5F7F8"/>
          </a:solidFill>
          <a:ln w="15240">
            <a:solidFill>
              <a:srgbClr val="005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73351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CREATE TABLE Room (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  RoomNo INT PRIMARY KEY,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  HotelID VARCHAR(5),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  RoomTypeID VARCHAR(5),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  FOREIGN KEY (HotelID)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    REFERENCES Hotel(HotelID)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234440"/>
            <a:ext cx="3291840" cy="2743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defRPr sz="1300" b="1">
                <a:solidFill>
                  <a:srgbClr val="00536D"/>
                </a:solidFill>
                <a:latin typeface="Aptos"/>
              </a:defRPr>
            </a:pPr>
            <a:r>
              <a:t>JOIN Verification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36192"/>
            <a:ext cx="3474720" cy="1920240"/>
          </a:xfrm>
          <a:prstGeom prst="roundRect">
            <a:avLst/>
          </a:prstGeom>
          <a:solidFill>
            <a:srgbClr val="F5F7F8"/>
          </a:solidFill>
          <a:ln w="15240">
            <a:solidFill>
              <a:srgbClr val="005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1673351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SELECT b.BookingID,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       g.GuestName,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       h.HotelName,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       r.RoomNo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FROM Booking b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JOIN Guest g ...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JOIN Room r ...;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234440"/>
            <a:ext cx="3291840" cy="2743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defRPr sz="1300" b="1">
                <a:solidFill>
                  <a:srgbClr val="00536D"/>
                </a:solidFill>
                <a:latin typeface="Aptos"/>
              </a:defRPr>
            </a:pPr>
            <a:r>
              <a:t>Row Count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536192"/>
            <a:ext cx="3474720" cy="1920240"/>
          </a:xfrm>
          <a:prstGeom prst="roundRect">
            <a:avLst/>
          </a:prstGeom>
          <a:solidFill>
            <a:srgbClr val="F5F7F8"/>
          </a:solidFill>
          <a:ln w="15240">
            <a:solidFill>
              <a:srgbClr val="005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83879" y="1673351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Guest = 6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Hotel = 5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RoomType = 5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Service = 5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Room = 9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Booking = 7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BookingRoom = 9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BookingService =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8731" y="3524724"/>
            <a:ext cx="2910293" cy="535212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defRPr sz="1700" b="1">
                <a:solidFill>
                  <a:srgbClr val="00536D"/>
                </a:solidFill>
                <a:latin typeface="Aptos"/>
              </a:defRPr>
            </a:pPr>
            <a:r>
              <a:rPr lang="en-US" sz="1700" b="1" dirty="0"/>
              <a:t>phpMyAdmin screenshot run code(row count check)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1097280" y="4617720"/>
            <a:ext cx="996696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162D38"/>
                </a:solidFill>
                <a:latin typeface="Aptos"/>
              </a:defRPr>
            </a:pP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566928" y="6446520"/>
            <a:ext cx="6217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747D"/>
                </a:solidFill>
                <a:latin typeface="Aptos"/>
              </a:defRPr>
            </a:pPr>
            <a:r>
              <a:t>SejutaStay Hotel Booking 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48288" y="6446520"/>
            <a:ext cx="320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47D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80369F5-8679-F264-79A0-17C9D60E7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0226" y="4124307"/>
            <a:ext cx="2910294" cy="205768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23999F8-AF5F-6E62-49A5-D3A39D2094DE}"/>
              </a:ext>
            </a:extLst>
          </p:cNvPr>
          <p:cNvSpPr txBox="1"/>
          <p:nvPr/>
        </p:nvSpPr>
        <p:spPr>
          <a:xfrm>
            <a:off x="6903720" y="3593591"/>
            <a:ext cx="2194560" cy="32004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defRPr sz="1700" b="1">
                <a:solidFill>
                  <a:srgbClr val="00536D"/>
                </a:solidFill>
                <a:latin typeface="Aptos"/>
              </a:defRPr>
            </a:pPr>
            <a:r>
              <a:rPr lang="en-US" sz="1700" b="1" dirty="0"/>
              <a:t>Result</a:t>
            </a:r>
            <a:endParaRPr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43536DA-F57F-91A2-D4C6-409A0F188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6400" y="3913631"/>
            <a:ext cx="2217920" cy="238594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D566F4-FDC3-C5CE-A54F-7D268CCB4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4D87D5-765F-5A15-6C1C-80F40A60EAD5}"/>
              </a:ext>
            </a:extLst>
          </p:cNvPr>
          <p:cNvSpPr/>
          <p:nvPr/>
        </p:nvSpPr>
        <p:spPr>
          <a:xfrm>
            <a:off x="502920" y="475488"/>
            <a:ext cx="146304" cy="438912"/>
          </a:xfrm>
          <a:prstGeom prst="rect">
            <a:avLst/>
          </a:prstGeom>
          <a:solidFill>
            <a:srgbClr val="005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2E349F-D883-6B3A-90B8-E4995A7D4A77}"/>
              </a:ext>
            </a:extLst>
          </p:cNvPr>
          <p:cNvSpPr txBox="1"/>
          <p:nvPr/>
        </p:nvSpPr>
        <p:spPr>
          <a:xfrm>
            <a:off x="868680" y="384048"/>
            <a:ext cx="1069848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00536D"/>
                </a:solidFill>
                <a:latin typeface="Aptos"/>
              </a:defRPr>
            </a:pPr>
            <a:r>
              <a:t>MYSQL RESULT</a:t>
            </a:r>
          </a:p>
          <a:p>
            <a:pPr>
              <a:defRPr sz="2800" b="1">
                <a:solidFill>
                  <a:srgbClr val="162D38"/>
                </a:solidFill>
                <a:latin typeface="Aptos"/>
              </a:defRPr>
            </a:pPr>
            <a:r>
              <a:t>Implementation Proof &amp; Final Outcome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CD902B-074A-A458-1887-0FCE9D415898}"/>
              </a:ext>
            </a:extLst>
          </p:cNvPr>
          <p:cNvSpPr txBox="1"/>
          <p:nvPr/>
        </p:nvSpPr>
        <p:spPr>
          <a:xfrm>
            <a:off x="777240" y="1234440"/>
            <a:ext cx="3291840" cy="2743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defRPr sz="1300" b="1">
                <a:solidFill>
                  <a:srgbClr val="00536D"/>
                </a:solidFill>
                <a:latin typeface="Aptos"/>
              </a:defRPr>
            </a:pPr>
            <a:r>
              <a:t>CREATE TABLE + FK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7DCACA8-A90D-642E-9E3F-EEABD4FE2DFD}"/>
              </a:ext>
            </a:extLst>
          </p:cNvPr>
          <p:cNvSpPr/>
          <p:nvPr/>
        </p:nvSpPr>
        <p:spPr>
          <a:xfrm>
            <a:off x="685800" y="1536192"/>
            <a:ext cx="3474720" cy="1920240"/>
          </a:xfrm>
          <a:prstGeom prst="roundRect">
            <a:avLst/>
          </a:prstGeom>
          <a:solidFill>
            <a:srgbClr val="F5F7F8"/>
          </a:solidFill>
          <a:ln w="15240">
            <a:solidFill>
              <a:srgbClr val="005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6E40EC-79AC-BD30-770D-929B60A933B2}"/>
              </a:ext>
            </a:extLst>
          </p:cNvPr>
          <p:cNvSpPr txBox="1"/>
          <p:nvPr/>
        </p:nvSpPr>
        <p:spPr>
          <a:xfrm>
            <a:off x="868680" y="1673351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CREATE TABLE Room (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  RoomNo INT PRIMARY KEY,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  HotelID VARCHAR(5),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  RoomTypeID VARCHAR(5),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  FOREIGN KEY (HotelID)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    REFERENCES Hotel(HotelID)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A703AB-36F3-065B-5590-8091152331CB}"/>
              </a:ext>
            </a:extLst>
          </p:cNvPr>
          <p:cNvSpPr txBox="1"/>
          <p:nvPr/>
        </p:nvSpPr>
        <p:spPr>
          <a:xfrm>
            <a:off x="4434840" y="1234440"/>
            <a:ext cx="3291840" cy="2743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defRPr sz="1300" b="1">
                <a:solidFill>
                  <a:srgbClr val="00536D"/>
                </a:solidFill>
                <a:latin typeface="Aptos"/>
              </a:defRPr>
            </a:pPr>
            <a:r>
              <a:t>JOIN Verification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C443EF5-45CE-2D4E-3732-FB4A116BA973}"/>
              </a:ext>
            </a:extLst>
          </p:cNvPr>
          <p:cNvSpPr/>
          <p:nvPr/>
        </p:nvSpPr>
        <p:spPr>
          <a:xfrm>
            <a:off x="4343400" y="1536192"/>
            <a:ext cx="3474720" cy="1920240"/>
          </a:xfrm>
          <a:prstGeom prst="roundRect">
            <a:avLst/>
          </a:prstGeom>
          <a:solidFill>
            <a:srgbClr val="F5F7F8"/>
          </a:solidFill>
          <a:ln w="15240">
            <a:solidFill>
              <a:srgbClr val="005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FBE600-A20A-B227-4E3E-C1A7E582D02F}"/>
              </a:ext>
            </a:extLst>
          </p:cNvPr>
          <p:cNvSpPr txBox="1"/>
          <p:nvPr/>
        </p:nvSpPr>
        <p:spPr>
          <a:xfrm>
            <a:off x="4526280" y="1673351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SELECT b.BookingID,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       g.GuestName,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       h.HotelName,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       r.RoomNo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FROM Booking b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JOIN Guest g ...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JOIN Room r ...;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A2DE50-6DA1-EADD-0028-D0E53CB1AEB5}"/>
              </a:ext>
            </a:extLst>
          </p:cNvPr>
          <p:cNvSpPr txBox="1"/>
          <p:nvPr/>
        </p:nvSpPr>
        <p:spPr>
          <a:xfrm>
            <a:off x="8092440" y="1234440"/>
            <a:ext cx="3291840" cy="2743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defRPr sz="1300" b="1">
                <a:solidFill>
                  <a:srgbClr val="00536D"/>
                </a:solidFill>
                <a:latin typeface="Aptos"/>
              </a:defRPr>
            </a:pPr>
            <a:r>
              <a:t>Row Count Check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DDE0BB4-52E0-0CF4-90AF-20D39D9824F2}"/>
              </a:ext>
            </a:extLst>
          </p:cNvPr>
          <p:cNvSpPr/>
          <p:nvPr/>
        </p:nvSpPr>
        <p:spPr>
          <a:xfrm>
            <a:off x="8001000" y="1536192"/>
            <a:ext cx="3474720" cy="1920240"/>
          </a:xfrm>
          <a:prstGeom prst="roundRect">
            <a:avLst/>
          </a:prstGeom>
          <a:solidFill>
            <a:srgbClr val="F5F7F8"/>
          </a:solidFill>
          <a:ln w="15240">
            <a:solidFill>
              <a:srgbClr val="005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E59C84-BEF6-1AB4-739B-ECADFD45A46A}"/>
              </a:ext>
            </a:extLst>
          </p:cNvPr>
          <p:cNvSpPr txBox="1"/>
          <p:nvPr/>
        </p:nvSpPr>
        <p:spPr>
          <a:xfrm>
            <a:off x="8183879" y="1673351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Guest = 6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Hotel = 5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RoomType = 5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Service = 5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Room = 9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Booking = 7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BookingRoom = 9</a:t>
            </a:r>
          </a:p>
          <a:p>
            <a:pPr>
              <a:defRPr sz="1100">
                <a:solidFill>
                  <a:srgbClr val="162D38"/>
                </a:solidFill>
                <a:latin typeface="Aptos"/>
              </a:defRPr>
            </a:pPr>
            <a:r>
              <a:t>BookingService = 12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851F237-0DA7-9D22-5241-6315E398FA13}"/>
              </a:ext>
            </a:extLst>
          </p:cNvPr>
          <p:cNvSpPr/>
          <p:nvPr/>
        </p:nvSpPr>
        <p:spPr>
          <a:xfrm>
            <a:off x="868680" y="3977639"/>
            <a:ext cx="10424160" cy="1508760"/>
          </a:xfrm>
          <a:prstGeom prst="roundRect">
            <a:avLst/>
          </a:prstGeom>
          <a:solidFill>
            <a:srgbClr val="DDEDF2"/>
          </a:solidFill>
          <a:ln>
            <a:solidFill>
              <a:srgbClr val="005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E8B20C-7823-32AB-540C-117370D452E0}"/>
              </a:ext>
            </a:extLst>
          </p:cNvPr>
          <p:cNvSpPr txBox="1"/>
          <p:nvPr/>
        </p:nvSpPr>
        <p:spPr>
          <a:xfrm>
            <a:off x="1097280" y="4160520"/>
            <a:ext cx="2194560" cy="32004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>
              <a:defRPr sz="1700" b="1">
                <a:solidFill>
                  <a:srgbClr val="00536D"/>
                </a:solidFill>
                <a:latin typeface="Aptos"/>
              </a:defRPr>
            </a:pPr>
            <a:r>
              <a:t>Final Outcome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50920F-5362-6A39-FFDC-3B449BA87A60}"/>
              </a:ext>
            </a:extLst>
          </p:cNvPr>
          <p:cNvSpPr txBox="1"/>
          <p:nvPr/>
        </p:nvSpPr>
        <p:spPr>
          <a:xfrm>
            <a:off x="1097280" y="4617720"/>
            <a:ext cx="9966960" cy="36576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>
              <a:defRPr sz="1500" b="1">
                <a:solidFill>
                  <a:srgbClr val="162D38"/>
                </a:solidFill>
                <a:latin typeface="Aptos"/>
              </a:defRPr>
            </a:pPr>
            <a:r>
              <a:t>✓ 8 tables created in MySQL     ✓ PK/FK constraints applied     ✓ Minimum 5 rows per table     ✓ JOIN queries verify the design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175791-305E-3C34-8358-830910770FFB}"/>
              </a:ext>
            </a:extLst>
          </p:cNvPr>
          <p:cNvSpPr txBox="1"/>
          <p:nvPr/>
        </p:nvSpPr>
        <p:spPr>
          <a:xfrm>
            <a:off x="1097280" y="5029200"/>
            <a:ext cx="9966960" cy="32004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>
              <a:defRPr sz="1400" b="0">
                <a:solidFill>
                  <a:srgbClr val="162D38"/>
                </a:solidFill>
                <a:latin typeface="Aptos"/>
              </a:defRPr>
            </a:pPr>
            <a:r>
              <a:t>Conclusion: redundancy and anomalies are removed, and SejutaStay now has a clean database foundation for hotel booking management.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F94202-8F40-C368-5AB3-DE4CF62EC99B}"/>
              </a:ext>
            </a:extLst>
          </p:cNvPr>
          <p:cNvSpPr txBox="1"/>
          <p:nvPr/>
        </p:nvSpPr>
        <p:spPr>
          <a:xfrm>
            <a:off x="566928" y="6446520"/>
            <a:ext cx="6217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747D"/>
                </a:solidFill>
                <a:latin typeface="Aptos"/>
              </a:defRPr>
            </a:pPr>
            <a:r>
              <a:t>SejutaStay Hotel Booking Database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E2DC65-1043-35BF-2525-6611E01EE511}"/>
              </a:ext>
            </a:extLst>
          </p:cNvPr>
          <p:cNvSpPr txBox="1"/>
          <p:nvPr/>
        </p:nvSpPr>
        <p:spPr>
          <a:xfrm>
            <a:off x="11448288" y="6446520"/>
            <a:ext cx="320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47D"/>
                </a:solidFill>
                <a:latin typeface="Aptos"/>
              </a:defRPr>
            </a:pPr>
            <a: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4226656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4A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886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-1371600" y="4572000"/>
            <a:ext cx="3840480" cy="3840480"/>
          </a:xfrm>
          <a:prstGeom prst="ellipse">
            <a:avLst/>
          </a:prstGeom>
          <a:solidFill>
            <a:srgbClr val="1341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424160" y="-1463040"/>
            <a:ext cx="3474720" cy="3474720"/>
          </a:xfrm>
          <a:prstGeom prst="ellipse">
            <a:avLst/>
          </a:prstGeom>
          <a:solidFill>
            <a:srgbClr val="1341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0" y="228600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0" y="34290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welcome your questions and feedback.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815688" y="4069080"/>
            <a:ext cx="256032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0" y="42976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FB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SejutaStay Hotel Booking Database  ·  AOL Database Technology (COMP6799001)</a:t>
            </a:r>
            <a:endParaRPr lang="en-US" sz="1250" dirty="0"/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Daniel Steffen Kurniawan — 2602071171   ·   Edvardo Khong — 2602177171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48288" y="6446520"/>
            <a:ext cx="320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47D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2549</Words>
  <Application>Microsoft Office PowerPoint</Application>
  <PresentationFormat>Widescreen</PresentationFormat>
  <Paragraphs>334</Paragraphs>
  <Slides>15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SejutaStay Hotel Booking Database - AOL Database Technology</dc:title>
  <dc:subject>PptxGenJS Presentation</dc:subject>
  <dc:creator>Daniel Steffen Kurniawan</dc:creator>
  <cp:lastModifiedBy>EDVARDO KHONG</cp:lastModifiedBy>
  <cp:revision>6</cp:revision>
  <dcterms:created xsi:type="dcterms:W3CDTF">2026-05-26T02:50:58Z</dcterms:created>
  <dcterms:modified xsi:type="dcterms:W3CDTF">2026-06-10T01:36:36Z</dcterms:modified>
</cp:coreProperties>
</file>