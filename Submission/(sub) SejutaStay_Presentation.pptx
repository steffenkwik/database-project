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7" r:id="rId3"/>
    <p:sldId id="257" r:id="rId4"/>
    <p:sldId id="258" r:id="rId5"/>
    <p:sldId id="259" r:id="rId6"/>
    <p:sldId id="260" r:id="rId7"/>
    <p:sldId id="261" r:id="rId8"/>
    <p:sldId id="262" r:id="rId9"/>
    <p:sldId id="263" r:id="rId10"/>
    <p:sldId id="264" r:id="rId11"/>
    <p:sldId id="268" r:id="rId12"/>
    <p:sldId id="269" r:id="rId13"/>
    <p:sldId id="265" r:id="rId14"/>
    <p:sldId id="270" r:id="rId15"/>
    <p:sldId id="26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8" d="100"/>
          <a:sy n="68" d="100"/>
        </p:scale>
        <p:origin x="48" y="3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0158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PEMBUKAAN | sekitar 30 detik | DANIEL]</a:t>
            </a:r>
          </a:p>
          <a:p/>
          <a:p>
            <a:r>
              <a:t>Selamat pagi Bapak/Ibu dosen dan teman-teman semua. Perkenalkan, kami dari kelompok SejutaStay. Saya Daniel Steffen Kurniawan, dan ini rekan saya, Edvardo Khong.</a:t>
            </a:r>
          </a:p>
          <a:p/>
          <a:p>
            <a:r>
              <a:t>Hari ini kami akan mempresentasikan proyek mata kuliah Database Technology. Sederhananya, database itu adalah tempat untuk menyimpan data di komputer secara rapi dan teratur. Dalam proyek ini, kami membuat database untuk pemesanan hotel, dengan nama perusahaan fiktif "SejutaStay". Kasus ini termasuk dalam sektor pariwisata dan perhotelan, sesuai pilihan yang diberikan di soal.</a:t>
            </a:r>
          </a:p>
          <a:p/>
          <a:p>
            <a:r>
              <a:t>Inti proyek kami: kami mengambil data hotel yang awalnya berantakan, lalu kami rapikan tahap demi tahap dengan teknik yang namanya "normalisasi", sampai menjadi database yang baik dan benar.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BAB 1: MASALAH | sekitar 1 menit | DANIEL]</a:t>
            </a:r>
          </a:p>
          <a:p/>
          <a:p>
            <a:r>
              <a:t>Kita mulai dari ceritanya dulu. SejutaStay adalah jaringan hotel yang sedang berkembang. Cabangnya ada di Jakarta, Bali, Yogyakarta, Bandung, dan Lombok.</a:t>
            </a:r>
          </a:p>
          <a:p/>
          <a:p>
            <a:r>
              <a:t>Masalahnya begini: setiap kali ada tamu yang memesan kamar, petugas hotel mencatat SEMUANYA di satu file spreadsheet - mirip Excel - yang diberi nama "BookingRecord". Satu baris berisi campuran semua data: nama tamu, nomor teleponnya, nama hotelnya, nomor kamarnya, sampai layanan tambahannya. Totalnya ada 18 kolom.</a:t>
            </a:r>
          </a:p>
          <a:p/>
          <a:p>
            <a:r>
              <a:t>Waktu hotelnya masih kecil, cara ini tidak masalah. Tapi begitu pemesanannya makin banyak, muncul lima masalah:</a:t>
            </a:r>
          </a:p>
          <a:p/>
          <a:p>
            <a:r>
              <a:t>Satu, REDUNDANSI DATA. Artinya data yang sama ditulis berulang-ulang. Setiap kali tamu yang sama memesan lagi, nama dan nomor teleponnya ditulis ulang. Ini membuang tempat penyimpanan.</a:t>
            </a:r>
          </a:p>
          <a:p/>
          <a:p>
            <a:r>
              <a:t>Dua, ANOMALI UPDATE. Kalau tamu ganti nomor telepon, kita harus mengedit SEMUA baris yang memuat namanya. Kalau ada satu baris yang terlewat, datanya jadi tidak cocok satu sama lain.</a:t>
            </a:r>
          </a:p>
          <a:p/>
          <a:p>
            <a:r>
              <a:t>Tiga, ANOMALI INSERT. Hotel cabang baru tidak bisa dicatat ke dalam sistem sebelum ada tamu yang memesan di sana. Padahal hotelnya sudah ada.</a:t>
            </a:r>
          </a:p>
          <a:p/>
          <a:p>
            <a:r>
              <a:t>Empat, ANOMALI DELETE. Kalau kita menghapus satu pemesanan, data lain bisa ikut hilang. Misalnya, data sebuah hotel bisa hilang total hanya karena satu-satunya booking di hotel itu dihapus.</a:t>
            </a:r>
          </a:p>
          <a:p/>
          <a:p>
            <a:r>
              <a:t>Dan lima, datanya jadi LAMBAT DAN TIDAK BISA DIANDALKAN. Mencari data susah, membuat laporan susah, dan tidak ada yang mencegah data salah masuk ke tabel.</a:t>
            </a:r>
          </a:p>
          <a:p/>
          <a:p>
            <a:r>
              <a:t>Solusi yang kami usulkan: merancang ulang data ini menjadi database yang rapi, dengan teknik normalisasi sampai tahap yang disebut 3NF.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 BAB 2: DATA SAMPEL | sekitar 45 detik | DANIEL]</a:t>
            </a:r>
          </a:p>
          <a:p/>
          <a:p>
            <a:r>
              <a:t>Sekarang kita lihat datanya. Kami memakai 7 contoh pemesanan dengan 18 kolom. Bentuk datanya kami contoh dari data reservasi hotel sungguhan yang dipublikasikan peneliti pada tahun 2019. Kami sengaja pakai data yang sedikit, supaya setiap langkah perapian bisa diikuti dengan mudah.</a:t>
            </a:r>
          </a:p>
          <a:p/>
          <a:p>
            <a:r>
              <a:t>Data seperti ini disebut "UN-NORMALIZED" atau belum normal. Kenapa? Coba lihat tabel di sebelah kanan, di baris B002. Tamu bernama Bella Sari memesan DUA kamar sekaligus, yaitu kamar 201 dan 202. Dua nomor kamar itu ditulis di dalam SATU kotak, dipisah titik koma.</a:t>
            </a:r>
          </a:p>
          <a:p/>
          <a:p>
            <a:r>
              <a:t>Nah, dalam aturan database, satu kotak seharusnya hanya boleh berisi SATU nilai. Kondisi di mana satu kotak berisi banyak nilai ini punya istilah, namanya "repeating group" atau kelompok berulang. Inilah tanda paling jelas bahwa data kami belum normal dan harus dirapikan.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BAB 3: ANOMALI &amp; FUNCTIONAL DEPENDENCY | sekitar 45 detik | DANIEL]</a:t>
            </a:r>
          </a:p>
          <a:p/>
          <a:p>
            <a:r>
              <a:t>Sebelum mulai merapikan, kami analisis dulu masalahnya secara lebih teliti. Ada tiga anomali - anomali itu artinya kejadian aneh yang merugikan.</a:t>
            </a:r>
          </a:p>
          <a:p/>
          <a:p>
            <a:r>
              <a:t>Anomali insert: tipe kamar baru tidak bisa disimpan ke sistem sebelum ada tamu yang memesannya. Anomali update: tamu bernama Andi Wijaya muncul di dua pemesanan, B001 dan B003 - kalau datanya diubah di satu tempat saja, dua catatan itu jadi berbeda. Anomali delete: kalau pemesanan B004 dihapus, layanan "Laundry" ikut hilang dari sistem, karena hanya tercatat di situ.</a:t>
            </a:r>
          </a:p>
          <a:p/>
          <a:p>
            <a:r>
              <a:t>Lalu kami juga memetakan yang namanya "functional dependency". Istilah ini terdengar sulit, tapi artinya sederhana: kalau kita tahu nilai A, maka kita pasti tahu nilai B. Contohnya: kalau kita tahu nomor identitas tamu, kita pasti tahu nama, telepon, dan emailnya. Kalau kita tahu nomor kamar, kita pasti tahu kamar itu ada di hotel mana dan tipenya apa.</a:t>
            </a:r>
          </a:p>
          <a:p/>
          <a:p>
            <a:r>
              <a:t>Daftar ketergantungan inilah yang menjadi peta untuk merapikan tabel di langkah berikutnya. Selanjutnya, bagian normalisasi akan dijelaskan oleh Edvardo.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BAB 4: PETA NORMALISASI | sekitar 30 detik | EDVARDO]</a:t>
            </a:r>
          </a:p>
          <a:p/>
          <a:p>
            <a:r>
              <a:t>Terima kasih, Daniel. Sekarang masuk ke solusinya, yaitu NORMALISASI.</a:t>
            </a:r>
          </a:p>
          <a:p/>
          <a:p>
            <a:r>
              <a:t>Bayangkan normalisasi itu seperti merapikan lemari yang isinya campur aduk. Kita tidak membuang barang apa pun - kita hanya memindahkan setiap barang ke laci yang tepat. Sama persis: normalisasi memecah satu tabel besar menjadi beberapa tabel kecil yang rapi, tanpa mengubah isi datanya.</a:t>
            </a:r>
          </a:p>
          <a:p/>
          <a:p>
            <a:r>
              <a:t>Prosesnya tiga tahap. Dari UNF, yaitu satu tabel berantakan. Masuk tahap 1NF, tabelnya jadi tiga. Masuk tahap 2NF, jadi lima tabel. Dan di tahap terakhir, 3NF, hasil akhirnya delapan tabel yang rapi. Sekarang saya jelaskan satu per satu tahapnya.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LANGKAH 1: 1NF | sekitar 40 detik | EDVARDO]</a:t>
            </a:r>
          </a:p>
          <a:p/>
          <a:p>
            <a:r>
              <a:t>Tahap pertama: First Normal Form, disingkat 1NF.</a:t>
            </a:r>
          </a:p>
          <a:p/>
          <a:p>
            <a:r>
              <a:t>Aturannya cuma satu dan sederhana: SETIAP KOTAK HANYA BOLEH BERISI SATU NILAI.</a:t>
            </a:r>
          </a:p>
          <a:p/>
          <a:p>
            <a:r>
              <a:t>Lihat contoh di kiri, kondisi SEBELUM: pemesanan B002 menyimpan dua nomor kamar, 201 dan 202, di dalam satu kotak. Ini melanggar aturan. Lihat di kanan, kondisi SESUDAH: kami pecah menjadi dua baris - baris pertama B002 dengan kamar 201, baris kedua B002 dengan kamar 202. Sekarang setiap kotak hanya berisi satu nilai.</a:t>
            </a:r>
          </a:p>
          <a:p/>
          <a:p>
            <a:r>
              <a:t>Setelah semua kotak seperti itu, tabel besar tadi otomatis terbagi menjadi tiga tabel: satu tabel untuk data pemesanannya sendiri, satu tabel untuk daftar kamar yang dipesan, dan satu tabel untuk daftar layanan yang diambil. Selesai tahap satu.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 LANGKAH 2: 2NF | sekitar 40 detik | EDVARDO]</a:t>
            </a:r>
          </a:p>
          <a:p/>
          <a:p>
            <a:r>
              <a:t>Tahap kedua: Second Normal Form, atau 2NF.</a:t>
            </a:r>
          </a:p>
          <a:p/>
          <a:p>
            <a:r>
              <a:t>Sebelum masuk aturannya, saya jelaskan dulu satu istilah. Setiap tabel punya "primary key", yaitu kolom penanda yang membedakan satu baris dengan baris lain - seperti nomor induk mahasiswa yang membedakan kita satu sama lain. Kadang penandanya harus gabungan DUA kolom sekaligus.</a:t>
            </a:r>
          </a:p>
          <a:p/>
          <a:p>
            <a:r>
              <a:t>Aturan 2NF: setiap kolom biasa harus bergantung pada SELURUH penanda itu, tidak boleh hanya pada separuhnya.</a:t>
            </a:r>
          </a:p>
          <a:p/>
          <a:p>
            <a:r>
              <a:t>Masalah di tabel kami: pada tabel kamar yang dipesan, penandanya gabungan dua kolom, yaitu nomor pemesanan DAN nomor kamar. Tapi tipe kamar dan harganya hanya bergantung pada nomor kamar saja - tidak ada hubungannya dengan nomor pemesanan. Ini disebut "partial dependency", atau ketergantungan sebagian.</a:t>
            </a:r>
          </a:p>
          <a:p/>
          <a:p>
            <a:r>
              <a:t>Solusinya: data yang hanya bergantung pada nomor kamar kami pindahkan ke tabel sendiri bernama Room. Data layanan juga sama, pindah ke tabel Service. Hasilnya sekarang lima tabel.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 LANGKAH 3: 3NF | sekitar 30 detik | EDVARDO]</a:t>
            </a:r>
          </a:p>
          <a:p/>
          <a:p>
            <a:r>
              <a:t>Tahap terakhir: Third Normal Form, atau 3NF.</a:t>
            </a:r>
          </a:p>
          <a:p/>
          <a:p>
            <a:r>
              <a:t>Aturannya: kolom biasa tidak boleh bergantung pada kolom biasa LAINNYA. Ketergantungan yang nyambung lewat perantara seperti ini disebut "transitive dependency".</a:t>
            </a:r>
          </a:p>
          <a:p/>
          <a:p>
            <a:r>
              <a:t>Contohnya di tabel kami: dari nomor pemesanan, kita tahu nomor tamunya. Lalu dari nomor tamu, baru kita tahu nama dan teleponnya. Jadi nama tamu itu bergantungnya lewat perantara. Solusinya: data tamu dipisah ke tabel sendiri. Hal yang sama kami lakukan untuk data hotel dan data tipe kamar.</a:t>
            </a:r>
          </a:p>
          <a:p/>
          <a:p>
            <a:r>
              <a:t>Hasil akhirnya: DELAPAN tabel yang rapi. Enam tabel berwarna biru adalah tabel data utama - Guest untuk tamu, Hotel, RoomType untuk tipe kamar, Room untuk kamar, Service untuk layanan, dan Booking untuk pemesanan. Dua tabel berwarna emas adalah tabel penghubung.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 ERD HASIL AKHIR | sekitar 40 detik | EDVARDO]</a:t>
            </a:r>
          </a:p>
          <a:p/>
          <a:p>
            <a:r>
              <a:t>Inilah hasil akhir rancangan kami, digambarkan dalam diagram yang disebut ERD - Entity Relationship Diagram. Sederhananya, ini adalah PETA yang menunjukkan semua tabel dan hubungan antar tabelnya. Garis-garis dengan simbol cakar ayam ini disebut notasi "Crow's Foot" - simbol itu artinya "banyak".</a:t>
            </a:r>
          </a:p>
          <a:p/>
          <a:p>
            <a:r>
              <a:t>Cara membacanya seperti ini:</a:t>
            </a:r>
          </a:p>
          <a:p>
            <a:r>
              <a:t>Satu tamu bisa membuat BANYAK pemesanan, tapi satu pemesanan hanya milik satu tamu.</a:t>
            </a:r>
          </a:p>
          <a:p>
            <a:r>
              <a:t>Satu hotel bisa menerima banyak pemesanan, dan satu hotel punya banyak kamar.</a:t>
            </a:r>
          </a:p>
          <a:p>
            <a:r>
              <a:t>Satu tipe kamar bisa dipakai oleh banyak kamar.</a:t>
            </a:r>
          </a:p>
          <a:p/>
          <a:p>
            <a:r>
              <a:t>Lalu untuk hubungan pemesanan dengan kamar: satu pemesanan bisa berisi beberapa kamar, dan satu kamar bisa dipesan berkali-kali. Hubungan "banyak ke banyak" seperti ini tidak boleh langsung, jadi kami buatkan tabel penghubung bernama BookingRoom. Hal yang sama berlaku untuk layanan, lewat tabel BookingService.</a:t>
            </a:r>
          </a:p>
          <a:p/>
          <a:p>
            <a:r>
              <a:t>Di setiap tabel juga terlihat tanda PK untuk primary key, dan FK untuk foreign key - yaitu kolom yang menghubungkan satu tabel ke tabel lain.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 BUKTI DI MYSQL | sekitar 25 detik | EDVARDO]</a:t>
            </a:r>
          </a:p>
          <a:p/>
          <a:p>
            <a:r>
              <a:t>Rancangan ini tidak berhenti di atas kertas. Kami benar-benar membangunnya di MySQL - yaitu program database yang umum dipakai - dan hasilnya kami kumpulkan dalam file SQL.</a:t>
            </a:r>
          </a:p>
          <a:p/>
          <a:p>
            <a:r>
              <a:t>Di kiri ini contoh perintah CREATE TABLE untuk membuat tabel kamar, lengkap dengan foreign key yang menghubungkannya ke tabel hotel. Di tengah ada query JOIN, yaitu perintah untuk menggabungkan data dari beberapa tabel sekaligus. Dan di kanan, hasil penghitungan isi tabel: semua tabel terisi minimal lima baris data, sesuai ketentuan soal.</a:t>
            </a:r>
          </a:p>
          <a:p/>
          <a:p>
            <a:r>
              <a:t>Di bawah ini screenshot dari phpMyAdmin sebagai bukti bahwa perintahnya benar-benar kami jalankan dan berhasil tanpa error.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1AA68-4F50-B251-621E-DB1380F10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BACB8-CAA9-69CE-CFED-538FF4A98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456BD-9C59-1BDC-E6DE-94D540621F35}"/>
              </a:ext>
            </a:extLst>
          </p:cNvPr>
          <p:cNvSpPr>
            <a:spLocks noGrp="1"/>
          </p:cNvSpPr>
          <p:nvPr>
            <p:ph type="body" idx="1"/>
          </p:nvPr>
        </p:nvSpPr>
        <p:spPr/>
        <p:txBody>
          <a:bodyPr/>
          <a:lstStyle/>
          <a:p>
            <a:r>
              <a:t>[SLIDE 14 - KESIMPULAN | sekitar 20 detik | EDVARDO]</a:t>
            </a:r>
          </a:p>
          <a:p/>
          <a:p>
            <a:r>
              <a:t>Kesimpulannya:</a:t>
            </a:r>
          </a:p>
          <a:p/>
          <a:p>
            <a:r>
              <a:t>Delapan tabel berhasil dibuat di MySQL. Aturan primary key dan foreign key sudah diterapkan. Setiap tabel berisi minimal lima baris data. Dan query JOIN membuktikan semua tabel terhubung dengan benar.</a:t>
            </a:r>
          </a:p>
          <a:p/>
          <a:p>
            <a:r>
              <a:t>Dengan kata lain: semua masalah yang kami sebutkan di awal - data dobel, anomali update, insert, dan delete - berhasil dihilangkan. SejutaStay sekarang punya fondasi database yang bersih dan siap dipakai untuk aplikasi pemesanan hotel.</a:t>
            </a:r>
          </a:p>
        </p:txBody>
      </p:sp>
      <p:sp>
        <p:nvSpPr>
          <p:cNvPr id="4" name="Slide Number Placeholder 3">
            <a:extLst>
              <a:ext uri="{FF2B5EF4-FFF2-40B4-BE49-F238E27FC236}">
                <a16:creationId xmlns:a16="http://schemas.microsoft.com/office/drawing/2014/main" id="{0E982E8A-4CB9-F7F6-6016-5024F0646B9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96211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 PENUTUP | sekitar 10 detik | BERDUA]</a:t>
            </a:r>
          </a:p>
          <a:p/>
          <a:p>
            <a:r>
              <a:t>Sekian presentasi dari kelompok kami. Terima kasih atas perhatian Bapak/Ibu dan teman-teman. Kami siap menjawab pertanyaan.</a:t>
            </a:r>
          </a:p>
          <a:p/>
          <a:p>
            <a:r>
              <a:t>=== CONTEKAN JAWABAN TANYA-JAWAB (bahasa sederhana) ===</a:t>
            </a:r>
          </a:p>
          <a:p/>
          <a:p>
            <a:r>
              <a:t>T: Kenapa berhenti di 3NF, tidak lanjut ke BCNF?</a:t>
            </a:r>
          </a:p>
          <a:p>
            <a:r>
              <a:t>J: Soalnya meminta sampai 3NF. Dan kebetulan, desain kami juga sudah memenuhi syarat BCNF, karena di setiap tabel, semua yang "menentukan" kolom lain memang sudah menjadi kunci tabel itu.</a:t>
            </a:r>
          </a:p>
          <a:p/>
          <a:p>
            <a:r>
              <a:t>T: Kenapa nomor kamar (RoomNo) dijadikan primary key tabel Room?</a:t>
            </a:r>
          </a:p>
          <a:p>
            <a:r>
              <a:t>J: Kami pakai asumsi bahwa nomor kamar bersifat unik di seluruh jaringan hotel - tidak ada dua kamar dengan nomor sama. Kolom HotelID tetap kami simpan di tabel Room supaya setiap kamar jelas milik cabang yang mana.</a:t>
            </a:r>
          </a:p>
          <a:p/>
          <a:p>
            <a:r>
              <a:t>T: Kenapa harus ada tabel penghubung BookingRoom dan BookingService?</a:t>
            </a:r>
          </a:p>
          <a:p>
            <a:r>
              <a:t>J: Karena hubungannya "banyak ke banyak": satu pemesanan bisa berisi banyak kamar, dan satu kamar bisa muncul di banyak pemesanan. Hubungan seperti ini tidak bisa digambarkan dengan satu kolom saja, jadi butuh tabel kecil di tengah sebagai jembatan.</a:t>
            </a:r>
          </a:p>
          <a:p/>
          <a:p>
            <a:r>
              <a:t>T: Apa bedanya primary key dan foreign key?</a:t>
            </a:r>
          </a:p>
          <a:p>
            <a:r>
              <a:t>J: Primary key itu penanda unik milik tabel sendiri, seperti NIM mahasiswa. Foreign key itu "salinan" penanda dari tabel lain, yang gunanya menghubungkan dua tabel.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[SLIDE 2 - AGENDA | sekitar 30 detik | DANIEL]</a:t>
            </a:r>
          </a:p>
          <a:p/>
          <a:p>
            <a:r>
              <a:t>Sebelum masuk ke isi, ini alur presentasi kami. Ada enam bagian.</a:t>
            </a:r>
          </a:p>
          <a:p/>
          <a:p>
            <a:r>
              <a:t>Pertama, kami ceritakan dulu MASALAHNYA - apa yang salah dengan cara hotel menyimpan data sekarang. Kedua, kami tunjukkan DATA CONTOHNYA yang masih berantakan. Ketiga, kami tunjukkan ANOMALI, yaitu masalah-masalah aneh yang muncul karena data berantakan itu. Keempat, kami rapikan datanya lewat tiga tahap NORMALISASI. Kelima, kami gambarkan hasil akhirnya dalam bentuk diagram yang disebut ERD. Dan keenam, kami buktikan bahwa semuanya benar-benar jalan di program MySQL.</a:t>
            </a:r>
          </a:p>
          <a:p/>
          <a:p>
            <a:r>
              <a:t>Jadi singkatnya: kami mulai dari satu tabel yang berantakan, dan berakhir dengan database yang rapi dan sudah teruji.</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[SLIDE 11 - DAMPAK BISNIS | sekitar 20 detik | DANIEL]</a:t>
            </a:r>
          </a:p>
          <a:p/>
          <a:p>
            <a:r>
              <a:t>Lalu, apa manfaat nyatanya untuk hotel?</a:t>
            </a:r>
          </a:p>
          <a:p/>
          <a:p>
            <a:r>
              <a:t>Untuk staf resepsionis: mencari data pemesanan jadi lebih cepat, dan tidak perlu mengetik ulang data tamu yang sama. Untuk manajemen hotel: laporan tingkat hunian dan pendapatan jadi lebih akurat dan bisa dipercaya. Dan untuk tamunya sendiri: pelayanan lebih cepat dan data pemesanannya selalu benar.</a:t>
            </a:r>
          </a:p>
          <a:p/>
          <a:p>
            <a:r>
              <a:t>Jadi database yang rapi bukan cuma bagus secara teori - tapi benar-benar membantu pekerjaan sehari-hari.</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[SLIDE 12 - SEBELUM vs SESUDAH | sekitar 20 detik | DANIEL]</a:t>
            </a:r>
          </a:p>
          <a:p/>
          <a:p>
            <a:r>
              <a:t>Ini rangkuman perubahannya, sebelum dan sesudah.</a:t>
            </a:r>
          </a:p>
          <a:p/>
          <a:p>
            <a:r>
              <a:t>SEBELUM: satu tabel besar, semua data tercampur, banyak data ditulis berulang, dan penuh anomali. SESUDAH: delapan tabel yang rapi, setiap data punya tempatnya sendiri, antar tabel saling terhubung dengan kunci, dan datanya mudah dicari.</a:t>
            </a:r>
          </a:p>
          <a:p/>
          <a:p>
            <a:r>
              <a:t>Yang penting diingat: isi datanya sama persis, tidak ada yang hilang - hanya susunannya yang dibuat lebih aman dan siap berkembang.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4A6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B8860B"/>
          </a:solidFill>
          <a:ln/>
        </p:spPr>
        <p:txBody>
          <a:bodyPr/>
          <a:lstStyle/>
          <a:p>
            <a:endParaRPr/>
          </a:p>
        </p:txBody>
      </p:sp>
      <p:sp>
        <p:nvSpPr>
          <p:cNvPr id="3" name="Shape 1"/>
          <p:cNvSpPr/>
          <p:nvPr/>
        </p:nvSpPr>
        <p:spPr>
          <a:xfrm>
            <a:off x="9784080" y="-1554480"/>
            <a:ext cx="4023360" cy="4023360"/>
          </a:xfrm>
          <a:prstGeom prst="ellipse">
            <a:avLst/>
          </a:prstGeom>
          <a:solidFill>
            <a:srgbClr val="13415A"/>
          </a:solidFill>
          <a:ln/>
        </p:spPr>
        <p:txBody>
          <a:bodyPr/>
          <a:lstStyle/>
          <a:p>
            <a:endParaRPr/>
          </a:p>
        </p:txBody>
      </p:sp>
      <p:sp>
        <p:nvSpPr>
          <p:cNvPr id="4" name="Shape 2"/>
          <p:cNvSpPr/>
          <p:nvPr/>
        </p:nvSpPr>
        <p:spPr>
          <a:xfrm>
            <a:off x="10698480" y="4480560"/>
            <a:ext cx="3017520" cy="3017520"/>
          </a:xfrm>
          <a:prstGeom prst="ellipse">
            <a:avLst/>
          </a:prstGeom>
          <a:solidFill>
            <a:srgbClr val="13415A"/>
          </a:solidFill>
          <a:ln/>
        </p:spPr>
        <p:txBody>
          <a:bodyPr/>
          <a:lstStyle/>
          <a:p>
            <a:endParaRPr/>
          </a:p>
        </p:txBody>
      </p:sp>
      <p:sp>
        <p:nvSpPr>
          <p:cNvPr id="5" name="Text 3"/>
          <p:cNvSpPr/>
          <p:nvPr/>
        </p:nvSpPr>
        <p:spPr>
          <a:xfrm>
            <a:off x="822960" y="1234440"/>
            <a:ext cx="10058400" cy="365760"/>
          </a:xfrm>
          <a:prstGeom prst="rect">
            <a:avLst/>
          </a:prstGeom>
          <a:noFill/>
          <a:ln/>
        </p:spPr>
        <p:txBody>
          <a:bodyPr wrap="square" lIns="0" tIns="0" rIns="0" bIns="0" rtlCol="0" anchor="ctr"/>
          <a:lstStyle/>
          <a:p>
            <a:pPr marL="0" indent="0">
              <a:buNone/>
            </a:pPr>
            <a:r>
              <a:rPr lang="en-US" sz="1300" b="1" kern="0" spc="200" dirty="0">
                <a:solidFill>
                  <a:srgbClr val="8FB9C8"/>
                </a:solidFill>
                <a:latin typeface="Calibri" pitchFamily="34" charset="0"/>
                <a:ea typeface="Calibri" pitchFamily="34" charset="-122"/>
                <a:cs typeface="Calibri" pitchFamily="34" charset="-120"/>
              </a:rPr>
              <a:t>PROYEK KELOMPOK AOL  ·  COMP6799001 DATABASE TECHNOLOGY</a:t>
            </a:r>
            <a:endParaRPr lang="en-US" sz="1300" dirty="0"/>
          </a:p>
        </p:txBody>
      </p:sp>
      <p:sp>
        <p:nvSpPr>
          <p:cNvPr id="6" name="Text 4"/>
          <p:cNvSpPr/>
          <p:nvPr/>
        </p:nvSpPr>
        <p:spPr>
          <a:xfrm>
            <a:off x="777240" y="1783080"/>
            <a:ext cx="10607040" cy="96012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SejutaStay</a:t>
            </a:r>
            <a:endParaRPr lang="en-US" sz="5800" dirty="0"/>
          </a:p>
        </p:txBody>
      </p:sp>
      <p:sp>
        <p:nvSpPr>
          <p:cNvPr id="7" name="Text 5"/>
          <p:cNvSpPr/>
          <p:nvPr/>
        </p:nvSpPr>
        <p:spPr>
          <a:xfrm>
            <a:off x="777240" y="2697480"/>
            <a:ext cx="10607040" cy="822960"/>
          </a:xfrm>
          <a:prstGeom prst="rect">
            <a:avLst/>
          </a:prstGeom>
          <a:noFill/>
          <a:ln/>
        </p:spPr>
        <p:txBody>
          <a:bodyPr wrap="square" lIns="0" tIns="0" rIns="0" bIns="0" rtlCol="0" anchor="ctr"/>
          <a:lstStyle/>
          <a:p>
            <a:pPr marL="0" indent="0">
              <a:buNone/>
            </a:pPr>
            <a:r>
              <a:rPr lang="en-US" sz="4000" b="1" dirty="0">
                <a:solidFill>
                  <a:srgbClr val="B8860B"/>
                </a:solidFill>
                <a:latin typeface="Calibri" pitchFamily="34" charset="0"/>
                <a:ea typeface="Calibri" pitchFamily="34" charset="-122"/>
                <a:cs typeface="Calibri" pitchFamily="34" charset="-120"/>
              </a:rPr>
              <a:t>Database Pemesanan Hotel</a:t>
            </a:r>
            <a:endParaRPr lang="en-US" sz="4000" dirty="0"/>
          </a:p>
        </p:txBody>
      </p:sp>
      <p:sp>
        <p:nvSpPr>
          <p:cNvPr id="8" name="Text 6"/>
          <p:cNvSpPr/>
          <p:nvPr/>
        </p:nvSpPr>
        <p:spPr>
          <a:xfrm>
            <a:off x="822960" y="3611880"/>
            <a:ext cx="10058400" cy="457200"/>
          </a:xfrm>
          <a:prstGeom prst="rect">
            <a:avLst/>
          </a:prstGeom>
          <a:noFill/>
          <a:ln/>
        </p:spPr>
        <p:txBody>
          <a:bodyPr wrap="square" lIns="0" tIns="0" rIns="0" bIns="0" rtlCol="0" anchor="ctr"/>
          <a:lstStyle/>
          <a:p>
            <a:pPr marL="0" indent="0">
              <a:buNone/>
            </a:pPr>
            <a:r>
              <a:rPr lang="en-US" sz="1600" i="1" dirty="0">
                <a:solidFill>
                  <a:srgbClr val="CADCE3"/>
                </a:solidFill>
                <a:latin typeface="Calibri" pitchFamily="34" charset="0"/>
                <a:ea typeface="Calibri" pitchFamily="34" charset="-122"/>
                <a:cs typeface="Calibri" pitchFamily="34" charset="-120"/>
              </a:rPr>
              <a:t>Perancangan &amp; Normalisasi Database  (UNF → 3NF)  untuk Sektor Pariwisata &amp; Perhotelan</a:t>
            </a:r>
            <a:endParaRPr lang="en-US" sz="1600" dirty="0"/>
          </a:p>
        </p:txBody>
      </p:sp>
      <p:sp>
        <p:nvSpPr>
          <p:cNvPr id="9" name="Shape 7"/>
          <p:cNvSpPr/>
          <p:nvPr/>
        </p:nvSpPr>
        <p:spPr>
          <a:xfrm>
            <a:off x="841248" y="4297680"/>
            <a:ext cx="3840480" cy="0"/>
          </a:xfrm>
          <a:prstGeom prst="line">
            <a:avLst/>
          </a:prstGeom>
          <a:noFill/>
          <a:ln w="19050">
            <a:solidFill>
              <a:srgbClr val="2A5E76"/>
            </a:solidFill>
            <a:prstDash val="solid"/>
          </a:ln>
        </p:spPr>
        <p:txBody>
          <a:bodyPr/>
          <a:lstStyle/>
          <a:p>
            <a:endParaRPr/>
          </a:p>
        </p:txBody>
      </p:sp>
      <p:sp>
        <p:nvSpPr>
          <p:cNvPr id="10" name="Text 8"/>
          <p:cNvSpPr/>
          <p:nvPr/>
        </p:nvSpPr>
        <p:spPr>
          <a:xfrm>
            <a:off x="822960" y="4526280"/>
            <a:ext cx="10058400" cy="1188720"/>
          </a:xfrm>
          <a:prstGeom prst="rect">
            <a:avLst/>
          </a:prstGeom>
          <a:noFill/>
          <a:ln/>
        </p:spPr>
        <p:txBody>
          <a:bodyPr wrap="square" lIns="0" tIns="0" rIns="0" bIns="0" rtlCol="0" anchor="ctr"/>
          <a:lstStyle/>
          <a:p>
            <a:pPr marL="0" indent="0">
              <a:lnSpc>
                <a:spcPct val="115000"/>
              </a:lnSpc>
              <a:buNone/>
            </a:pPr>
            <a:r>
              <a:rPr lang="en-US" sz="1200" b="1" dirty="0">
                <a:solidFill>
                  <a:srgbClr val="8FB9C8"/>
                </a:solidFill>
                <a:latin typeface="Calibri" pitchFamily="34" charset="0"/>
                <a:ea typeface="Calibri" pitchFamily="34" charset="-122"/>
                <a:cs typeface="Calibri" pitchFamily="34" charset="-120"/>
              </a:rPr>
              <a:t>Disusun oleh</a:t>
            </a:r>
          </a:p>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Daniel Steffen Kurniawan</a:t>
            </a:r>
          </a:p>
          <a:p>
            <a:pPr marL="0" indent="0">
              <a:lnSpc>
                <a:spcPct val="115000"/>
              </a:lnSpc>
              <a:buNone/>
            </a:pPr>
            <a:r>
              <a:rPr lang="en-US" sz="1300" dirty="0">
                <a:solidFill>
                  <a:srgbClr val="CADCE3"/>
                </a:solidFill>
                <a:latin typeface="Calibri" pitchFamily="34" charset="0"/>
                <a:ea typeface="Calibri" pitchFamily="34" charset="-122"/>
                <a:cs typeface="Calibri" pitchFamily="34" charset="-120"/>
              </a:rPr>
              <a:t>2602071171</a:t>
            </a:r>
          </a:p>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Edvardo Khong</a:t>
            </a:r>
          </a:p>
          <a:p>
            <a:pPr marL="0" indent="0">
              <a:lnSpc>
                <a:spcPct val="115000"/>
              </a:lnSpc>
              <a:buNone/>
            </a:pPr>
            <a:r>
              <a:rPr lang="en-US" sz="1300" dirty="0">
                <a:solidFill>
                  <a:srgbClr val="CADCE3"/>
                </a:solidFill>
                <a:latin typeface="Calibri" pitchFamily="34" charset="0"/>
                <a:ea typeface="Calibri" pitchFamily="34" charset="-122"/>
                <a:cs typeface="Calibri" pitchFamily="34" charset="-120"/>
              </a:rPr>
              <a:t>2602177171</a:t>
            </a:r>
          </a:p>
        </p:txBody>
      </p:sp>
      <p:sp>
        <p:nvSpPr>
          <p:cNvPr id="11" name="Text 9"/>
          <p:cNvSpPr/>
          <p:nvPr/>
        </p:nvSpPr>
        <p:spPr>
          <a:xfrm>
            <a:off x="822960" y="5897880"/>
            <a:ext cx="10058400" cy="320040"/>
          </a:xfrm>
          <a:prstGeom prst="rect">
            <a:avLst/>
          </a:prstGeom>
          <a:noFill/>
          <a:ln/>
        </p:spPr>
        <p:txBody>
          <a:bodyPr wrap="square" lIns="0" tIns="0" rIns="0" bIns="0" rtlCol="0" anchor="ctr"/>
          <a:lstStyle/>
          <a:p>
            <a:pPr marL="0" indent="0">
              <a:buNone/>
            </a:pPr>
            <a:r>
              <a:rPr lang="en-US" sz="1200" dirty="0">
                <a:solidFill>
                  <a:srgbClr val="8FB9C8"/>
                </a:solidFill>
                <a:latin typeface="Calibri" pitchFamily="34" charset="0"/>
                <a:ea typeface="Calibri" pitchFamily="34" charset="-122"/>
                <a:cs typeface="Calibri" pitchFamily="34" charset="-120"/>
              </a:rPr>
              <a:t>Semester 4  ·  Tahun Akademik 2025/2026</a:t>
            </a:r>
            <a:endParaRPr lang="en-US" sz="1200" dirty="0"/>
          </a:p>
        </p:txBody>
      </p:sp>
      <p:sp>
        <p:nvSpPr>
          <p:cNvPr id="12" name="TextBox 11"/>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75488"/>
            <a:ext cx="146304" cy="438912"/>
          </a:xfrm>
          <a:prstGeom prst="rect">
            <a:avLst/>
          </a:prstGeom>
          <a:solidFill>
            <a:srgbClr val="005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384048"/>
            <a:ext cx="10698480" cy="685800"/>
          </a:xfrm>
          <a:prstGeom prst="rect">
            <a:avLst/>
          </a:prstGeom>
          <a:noFill/>
        </p:spPr>
        <p:txBody>
          <a:bodyPr wrap="none" lIns="0" tIns="0" rIns="0" bIns="0">
            <a:spAutoFit/>
          </a:bodyPr>
          <a:lstStyle/>
          <a:p>
            <a:pPr>
              <a:defRPr sz="1200" b="1">
                <a:solidFill>
                  <a:srgbClr val="00536D"/>
                </a:solidFill>
                <a:latin typeface="Aptos"/>
              </a:defRPr>
            </a:pPr>
            <a:r>
              <a:t>AGENDA</a:t>
            </a:r>
          </a:p>
          <a:p>
            <a:pPr>
              <a:defRPr sz="2800" b="1">
                <a:solidFill>
                  <a:srgbClr val="162D38"/>
                </a:solidFill>
                <a:latin typeface="Aptos"/>
              </a:defRPr>
            </a:pPr>
            <a:r>
              <a:t>Alur Presentasi</a:t>
            </a:r>
          </a:p>
        </p:txBody>
      </p:sp>
      <p:sp>
        <p:nvSpPr>
          <p:cNvPr id="4" name="Rounded Rectangle 3"/>
          <p:cNvSpPr/>
          <p:nvPr/>
        </p:nvSpPr>
        <p:spPr>
          <a:xfrm>
            <a:off x="685800" y="1965960"/>
            <a:ext cx="1664208" cy="1280160"/>
          </a:xfrm>
          <a:prstGeom prst="roundRect">
            <a:avLst/>
          </a:prstGeom>
          <a:solidFill>
            <a:srgbClr val="DDEDF2"/>
          </a:solidFill>
          <a:ln>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075688"/>
            <a:ext cx="411480" cy="320040"/>
          </a:xfrm>
          <a:prstGeom prst="rect">
            <a:avLst/>
          </a:prstGeom>
          <a:noFill/>
        </p:spPr>
        <p:txBody>
          <a:bodyPr wrap="square">
            <a:normAutofit/>
          </a:bodyPr>
          <a:lstStyle/>
          <a:p>
            <a:pPr algn="r">
              <a:defRPr sz="900" b="1">
                <a:solidFill>
                  <a:srgbClr val="66747D"/>
                </a:solidFill>
                <a:latin typeface="Aptos"/>
              </a:defRPr>
            </a:pPr>
            <a:r>
              <a:t>1</a:t>
            </a:r>
          </a:p>
        </p:txBody>
      </p:sp>
      <p:sp>
        <p:nvSpPr>
          <p:cNvPr id="6" name="TextBox 5"/>
          <p:cNvSpPr txBox="1"/>
          <p:nvPr/>
        </p:nvSpPr>
        <p:spPr>
          <a:xfrm>
            <a:off x="822960" y="2496312"/>
            <a:ext cx="1389888" cy="457200"/>
          </a:xfrm>
          <a:prstGeom prst="rect">
            <a:avLst/>
          </a:prstGeom>
          <a:noFill/>
        </p:spPr>
        <p:txBody>
          <a:bodyPr wrap="square">
            <a:normAutofit/>
          </a:bodyPr>
          <a:lstStyle/>
          <a:p>
            <a:pPr algn="ctr">
              <a:defRPr sz="1500" b="1">
                <a:solidFill>
                  <a:srgbClr val="162D38"/>
                </a:solidFill>
                <a:latin typeface="Aptos"/>
              </a:defRPr>
            </a:pPr>
            <a:r>
              <a:t>Masalah</a:t>
            </a:r>
          </a:p>
        </p:txBody>
      </p:sp>
      <p:sp>
        <p:nvSpPr>
          <p:cNvPr id="7" name="TextBox 6"/>
          <p:cNvSpPr txBox="1"/>
          <p:nvPr/>
        </p:nvSpPr>
        <p:spPr>
          <a:xfrm>
            <a:off x="2368296" y="2468880"/>
            <a:ext cx="228600" cy="411480"/>
          </a:xfrm>
          <a:prstGeom prst="rect">
            <a:avLst/>
          </a:prstGeom>
          <a:noFill/>
        </p:spPr>
        <p:txBody>
          <a:bodyPr wrap="square">
            <a:normAutofit/>
          </a:bodyPr>
          <a:lstStyle/>
          <a:p>
            <a:pPr algn="ctr">
              <a:defRPr sz="2000" b="1">
                <a:solidFill>
                  <a:srgbClr val="66747D"/>
                </a:solidFill>
                <a:latin typeface="Aptos"/>
              </a:defRPr>
            </a:pPr>
            <a:r>
              <a:t>→</a:t>
            </a:r>
          </a:p>
        </p:txBody>
      </p:sp>
      <p:sp>
        <p:nvSpPr>
          <p:cNvPr id="8" name="Rounded Rectangle 7"/>
          <p:cNvSpPr/>
          <p:nvPr/>
        </p:nvSpPr>
        <p:spPr>
          <a:xfrm>
            <a:off x="2578608" y="1965960"/>
            <a:ext cx="1664208" cy="1280160"/>
          </a:xfrm>
          <a:prstGeom prst="roundRect">
            <a:avLst/>
          </a:prstGeom>
          <a:solidFill>
            <a:srgbClr val="F9EED3"/>
          </a:solidFill>
          <a:ln>
            <a:solidFill>
              <a:srgbClr val="CA8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88336" y="2075688"/>
            <a:ext cx="411480" cy="320040"/>
          </a:xfrm>
          <a:prstGeom prst="rect">
            <a:avLst/>
          </a:prstGeom>
          <a:noFill/>
        </p:spPr>
        <p:txBody>
          <a:bodyPr wrap="square">
            <a:normAutofit/>
          </a:bodyPr>
          <a:lstStyle/>
          <a:p>
            <a:pPr algn="r">
              <a:defRPr sz="900" b="1">
                <a:solidFill>
                  <a:srgbClr val="66747D"/>
                </a:solidFill>
                <a:latin typeface="Aptos"/>
              </a:defRPr>
            </a:pPr>
            <a:r>
              <a:t>2</a:t>
            </a:r>
          </a:p>
        </p:txBody>
      </p:sp>
      <p:sp>
        <p:nvSpPr>
          <p:cNvPr id="10" name="TextBox 9"/>
          <p:cNvSpPr txBox="1"/>
          <p:nvPr/>
        </p:nvSpPr>
        <p:spPr>
          <a:xfrm>
            <a:off x="2715768" y="2496312"/>
            <a:ext cx="1389888" cy="457200"/>
          </a:xfrm>
          <a:prstGeom prst="rect">
            <a:avLst/>
          </a:prstGeom>
          <a:noFill/>
        </p:spPr>
        <p:txBody>
          <a:bodyPr wrap="square">
            <a:normAutofit/>
          </a:bodyPr>
          <a:lstStyle/>
          <a:p>
            <a:pPr algn="ctr">
              <a:defRPr sz="1500" b="1">
                <a:solidFill>
                  <a:srgbClr val="162D38"/>
                </a:solidFill>
                <a:latin typeface="Aptos"/>
              </a:defRPr>
            </a:pPr>
            <a:r>
              <a:t>Data UNF</a:t>
            </a:r>
          </a:p>
        </p:txBody>
      </p:sp>
      <p:sp>
        <p:nvSpPr>
          <p:cNvPr id="11" name="TextBox 10"/>
          <p:cNvSpPr txBox="1"/>
          <p:nvPr/>
        </p:nvSpPr>
        <p:spPr>
          <a:xfrm>
            <a:off x="4261104" y="2468880"/>
            <a:ext cx="228600" cy="411480"/>
          </a:xfrm>
          <a:prstGeom prst="rect">
            <a:avLst/>
          </a:prstGeom>
          <a:noFill/>
        </p:spPr>
        <p:txBody>
          <a:bodyPr wrap="square">
            <a:normAutofit/>
          </a:bodyPr>
          <a:lstStyle/>
          <a:p>
            <a:pPr algn="ctr">
              <a:defRPr sz="2000" b="1">
                <a:solidFill>
                  <a:srgbClr val="66747D"/>
                </a:solidFill>
                <a:latin typeface="Aptos"/>
              </a:defRPr>
            </a:pPr>
            <a:r>
              <a:t>→</a:t>
            </a:r>
          </a:p>
        </p:txBody>
      </p:sp>
      <p:sp>
        <p:nvSpPr>
          <p:cNvPr id="12" name="Rounded Rectangle 11"/>
          <p:cNvSpPr/>
          <p:nvPr/>
        </p:nvSpPr>
        <p:spPr>
          <a:xfrm>
            <a:off x="4471416" y="1965960"/>
            <a:ext cx="1664208" cy="1280160"/>
          </a:xfrm>
          <a:prstGeom prst="roundRect">
            <a:avLst/>
          </a:prstGeom>
          <a:solidFill>
            <a:srgbClr val="DDEDF2"/>
          </a:solidFill>
          <a:ln>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2075688"/>
            <a:ext cx="411480" cy="320040"/>
          </a:xfrm>
          <a:prstGeom prst="rect">
            <a:avLst/>
          </a:prstGeom>
          <a:noFill/>
        </p:spPr>
        <p:txBody>
          <a:bodyPr wrap="square">
            <a:normAutofit/>
          </a:bodyPr>
          <a:lstStyle/>
          <a:p>
            <a:pPr algn="r">
              <a:defRPr sz="900" b="1">
                <a:solidFill>
                  <a:srgbClr val="66747D"/>
                </a:solidFill>
                <a:latin typeface="Aptos"/>
              </a:defRPr>
            </a:pPr>
            <a:r>
              <a:t>3</a:t>
            </a:r>
          </a:p>
        </p:txBody>
      </p:sp>
      <p:sp>
        <p:nvSpPr>
          <p:cNvPr id="14" name="TextBox 13"/>
          <p:cNvSpPr txBox="1"/>
          <p:nvPr/>
        </p:nvSpPr>
        <p:spPr>
          <a:xfrm>
            <a:off x="4608576" y="2496312"/>
            <a:ext cx="1389888" cy="457200"/>
          </a:xfrm>
          <a:prstGeom prst="rect">
            <a:avLst/>
          </a:prstGeom>
          <a:noFill/>
        </p:spPr>
        <p:txBody>
          <a:bodyPr wrap="square">
            <a:normAutofit/>
          </a:bodyPr>
          <a:lstStyle/>
          <a:p>
            <a:pPr algn="ctr">
              <a:defRPr sz="1500" b="1">
                <a:solidFill>
                  <a:srgbClr val="162D38"/>
                </a:solidFill>
                <a:latin typeface="Aptos"/>
              </a:defRPr>
            </a:pPr>
            <a:r>
              <a:t>Anomali</a:t>
            </a:r>
          </a:p>
        </p:txBody>
      </p:sp>
      <p:sp>
        <p:nvSpPr>
          <p:cNvPr id="15" name="TextBox 14"/>
          <p:cNvSpPr txBox="1"/>
          <p:nvPr/>
        </p:nvSpPr>
        <p:spPr>
          <a:xfrm>
            <a:off x="6153912" y="2468880"/>
            <a:ext cx="228600" cy="411480"/>
          </a:xfrm>
          <a:prstGeom prst="rect">
            <a:avLst/>
          </a:prstGeom>
          <a:noFill/>
        </p:spPr>
        <p:txBody>
          <a:bodyPr wrap="square">
            <a:normAutofit/>
          </a:bodyPr>
          <a:lstStyle/>
          <a:p>
            <a:pPr algn="ctr">
              <a:defRPr sz="2000" b="1">
                <a:solidFill>
                  <a:srgbClr val="66747D"/>
                </a:solidFill>
                <a:latin typeface="Aptos"/>
              </a:defRPr>
            </a:pPr>
            <a:r>
              <a:t>→</a:t>
            </a:r>
          </a:p>
        </p:txBody>
      </p:sp>
      <p:sp>
        <p:nvSpPr>
          <p:cNvPr id="16" name="Rounded Rectangle 15"/>
          <p:cNvSpPr/>
          <p:nvPr/>
        </p:nvSpPr>
        <p:spPr>
          <a:xfrm>
            <a:off x="6364224" y="1965960"/>
            <a:ext cx="1664208" cy="1280160"/>
          </a:xfrm>
          <a:prstGeom prst="roundRect">
            <a:avLst/>
          </a:prstGeom>
          <a:solidFill>
            <a:srgbClr val="F9EED3"/>
          </a:solidFill>
          <a:ln>
            <a:solidFill>
              <a:srgbClr val="CA8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73952" y="2075688"/>
            <a:ext cx="411480" cy="320040"/>
          </a:xfrm>
          <a:prstGeom prst="rect">
            <a:avLst/>
          </a:prstGeom>
          <a:noFill/>
        </p:spPr>
        <p:txBody>
          <a:bodyPr wrap="square">
            <a:normAutofit/>
          </a:bodyPr>
          <a:lstStyle/>
          <a:p>
            <a:pPr algn="r">
              <a:defRPr sz="900" b="1">
                <a:solidFill>
                  <a:srgbClr val="66747D"/>
                </a:solidFill>
                <a:latin typeface="Aptos"/>
              </a:defRPr>
            </a:pPr>
            <a:r>
              <a:t>4</a:t>
            </a:r>
          </a:p>
        </p:txBody>
      </p:sp>
      <p:sp>
        <p:nvSpPr>
          <p:cNvPr id="18" name="TextBox 17"/>
          <p:cNvSpPr txBox="1"/>
          <p:nvPr/>
        </p:nvSpPr>
        <p:spPr>
          <a:xfrm>
            <a:off x="6501384" y="2496312"/>
            <a:ext cx="1389888" cy="457200"/>
          </a:xfrm>
          <a:prstGeom prst="rect">
            <a:avLst/>
          </a:prstGeom>
          <a:noFill/>
        </p:spPr>
        <p:txBody>
          <a:bodyPr wrap="square">
            <a:normAutofit fontScale="92500"/>
          </a:bodyPr>
          <a:lstStyle/>
          <a:p>
            <a:pPr algn="ctr">
              <a:defRPr sz="1500" b="1">
                <a:solidFill>
                  <a:srgbClr val="162D38"/>
                </a:solidFill>
                <a:latin typeface="Aptos"/>
              </a:defRPr>
            </a:pPr>
            <a:r>
              <a:t>Normalisasi</a:t>
            </a:r>
          </a:p>
        </p:txBody>
      </p:sp>
      <p:sp>
        <p:nvSpPr>
          <p:cNvPr id="19" name="TextBox 18"/>
          <p:cNvSpPr txBox="1"/>
          <p:nvPr/>
        </p:nvSpPr>
        <p:spPr>
          <a:xfrm>
            <a:off x="8046720" y="2468880"/>
            <a:ext cx="228600" cy="411480"/>
          </a:xfrm>
          <a:prstGeom prst="rect">
            <a:avLst/>
          </a:prstGeom>
          <a:noFill/>
        </p:spPr>
        <p:txBody>
          <a:bodyPr wrap="square">
            <a:normAutofit/>
          </a:bodyPr>
          <a:lstStyle/>
          <a:p>
            <a:pPr algn="ctr">
              <a:defRPr sz="2000" b="1">
                <a:solidFill>
                  <a:srgbClr val="66747D"/>
                </a:solidFill>
                <a:latin typeface="Aptos"/>
              </a:defRPr>
            </a:pPr>
            <a:r>
              <a:t>→</a:t>
            </a:r>
          </a:p>
        </p:txBody>
      </p:sp>
      <p:sp>
        <p:nvSpPr>
          <p:cNvPr id="20" name="Rounded Rectangle 19"/>
          <p:cNvSpPr/>
          <p:nvPr/>
        </p:nvSpPr>
        <p:spPr>
          <a:xfrm>
            <a:off x="8257032" y="1965960"/>
            <a:ext cx="1664208" cy="1280160"/>
          </a:xfrm>
          <a:prstGeom prst="roundRect">
            <a:avLst/>
          </a:prstGeom>
          <a:solidFill>
            <a:srgbClr val="DDEDF2"/>
          </a:solidFill>
          <a:ln>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2075688"/>
            <a:ext cx="411480" cy="320040"/>
          </a:xfrm>
          <a:prstGeom prst="rect">
            <a:avLst/>
          </a:prstGeom>
          <a:noFill/>
        </p:spPr>
        <p:txBody>
          <a:bodyPr wrap="square">
            <a:normAutofit/>
          </a:bodyPr>
          <a:lstStyle/>
          <a:p>
            <a:pPr algn="r">
              <a:defRPr sz="900" b="1">
                <a:solidFill>
                  <a:srgbClr val="66747D"/>
                </a:solidFill>
                <a:latin typeface="Aptos"/>
              </a:defRPr>
            </a:pPr>
            <a:r>
              <a:t>5</a:t>
            </a:r>
          </a:p>
        </p:txBody>
      </p:sp>
      <p:sp>
        <p:nvSpPr>
          <p:cNvPr id="22" name="TextBox 21"/>
          <p:cNvSpPr txBox="1"/>
          <p:nvPr/>
        </p:nvSpPr>
        <p:spPr>
          <a:xfrm>
            <a:off x="8394192" y="2496312"/>
            <a:ext cx="1389888" cy="457200"/>
          </a:xfrm>
          <a:prstGeom prst="rect">
            <a:avLst/>
          </a:prstGeom>
          <a:noFill/>
        </p:spPr>
        <p:txBody>
          <a:bodyPr wrap="square">
            <a:normAutofit/>
          </a:bodyPr>
          <a:lstStyle/>
          <a:p>
            <a:pPr algn="ctr">
              <a:defRPr sz="1500" b="1">
                <a:solidFill>
                  <a:srgbClr val="162D38"/>
                </a:solidFill>
                <a:latin typeface="Aptos"/>
              </a:defRPr>
            </a:pPr>
            <a:r>
              <a:t>ERD</a:t>
            </a:r>
          </a:p>
        </p:txBody>
      </p:sp>
      <p:sp>
        <p:nvSpPr>
          <p:cNvPr id="23" name="TextBox 22"/>
          <p:cNvSpPr txBox="1"/>
          <p:nvPr/>
        </p:nvSpPr>
        <p:spPr>
          <a:xfrm>
            <a:off x="9939528" y="2468880"/>
            <a:ext cx="228600" cy="411480"/>
          </a:xfrm>
          <a:prstGeom prst="rect">
            <a:avLst/>
          </a:prstGeom>
          <a:noFill/>
        </p:spPr>
        <p:txBody>
          <a:bodyPr wrap="square">
            <a:normAutofit/>
          </a:bodyPr>
          <a:lstStyle/>
          <a:p>
            <a:pPr algn="ctr">
              <a:defRPr sz="2000" b="1">
                <a:solidFill>
                  <a:srgbClr val="66747D"/>
                </a:solidFill>
                <a:latin typeface="Aptos"/>
              </a:defRPr>
            </a:pPr>
            <a:r>
              <a:t>→</a:t>
            </a:r>
          </a:p>
        </p:txBody>
      </p:sp>
      <p:sp>
        <p:nvSpPr>
          <p:cNvPr id="24" name="Rounded Rectangle 23"/>
          <p:cNvSpPr/>
          <p:nvPr/>
        </p:nvSpPr>
        <p:spPr>
          <a:xfrm>
            <a:off x="10149840" y="1965960"/>
            <a:ext cx="1664208" cy="1280160"/>
          </a:xfrm>
          <a:prstGeom prst="roundRect">
            <a:avLst/>
          </a:prstGeom>
          <a:solidFill>
            <a:srgbClr val="F9EED3"/>
          </a:solidFill>
          <a:ln>
            <a:solidFill>
              <a:srgbClr val="CA8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59568" y="2075688"/>
            <a:ext cx="411480" cy="320040"/>
          </a:xfrm>
          <a:prstGeom prst="rect">
            <a:avLst/>
          </a:prstGeom>
          <a:noFill/>
        </p:spPr>
        <p:txBody>
          <a:bodyPr wrap="square">
            <a:normAutofit/>
          </a:bodyPr>
          <a:lstStyle/>
          <a:p>
            <a:pPr algn="r">
              <a:defRPr sz="900" b="1">
                <a:solidFill>
                  <a:srgbClr val="66747D"/>
                </a:solidFill>
                <a:latin typeface="Aptos"/>
              </a:defRPr>
            </a:pPr>
            <a:r>
              <a:t>6</a:t>
            </a:r>
          </a:p>
        </p:txBody>
      </p:sp>
      <p:sp>
        <p:nvSpPr>
          <p:cNvPr id="26" name="TextBox 25"/>
          <p:cNvSpPr txBox="1"/>
          <p:nvPr/>
        </p:nvSpPr>
        <p:spPr>
          <a:xfrm>
            <a:off x="10287000" y="2496312"/>
            <a:ext cx="1389888" cy="457200"/>
          </a:xfrm>
          <a:prstGeom prst="rect">
            <a:avLst/>
          </a:prstGeom>
          <a:noFill/>
        </p:spPr>
        <p:txBody>
          <a:bodyPr wrap="square">
            <a:normAutofit/>
          </a:bodyPr>
          <a:lstStyle/>
          <a:p>
            <a:pPr algn="ctr">
              <a:defRPr sz="1500" b="1">
                <a:solidFill>
                  <a:srgbClr val="162D38"/>
                </a:solidFill>
                <a:latin typeface="Aptos"/>
              </a:defRPr>
            </a:pPr>
            <a:r>
              <a:t>Hasil MySQL</a:t>
            </a:r>
          </a:p>
        </p:txBody>
      </p:sp>
      <p:sp>
        <p:nvSpPr>
          <p:cNvPr id="27" name="TextBox 26"/>
          <p:cNvSpPr txBox="1"/>
          <p:nvPr/>
        </p:nvSpPr>
        <p:spPr>
          <a:xfrm>
            <a:off x="1371600" y="4069080"/>
            <a:ext cx="9509760" cy="685800"/>
          </a:xfrm>
          <a:prstGeom prst="rect">
            <a:avLst/>
          </a:prstGeom>
          <a:noFill/>
        </p:spPr>
        <p:txBody>
          <a:bodyPr wrap="square">
            <a:normAutofit lnSpcReduction="10000"/>
          </a:bodyPr>
          <a:lstStyle/>
          <a:p>
            <a:pPr algn="ctr">
              <a:defRPr sz="2000" b="1">
                <a:solidFill>
                  <a:srgbClr val="00536D"/>
                </a:solidFill>
                <a:latin typeface="Aptos"/>
              </a:defRPr>
            </a:pPr>
            <a:r>
              <a:t>Cerita kami dimulai dari satu tabel yang berantakan, dan berakhir dengan database 3NF yang sudah teruji.</a:t>
            </a:r>
          </a:p>
        </p:txBody>
      </p:sp>
      <p:sp>
        <p:nvSpPr>
          <p:cNvPr id="28" name="TextBox 27"/>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Database Pemesanan Hotel SejutaStay</a:t>
            </a:r>
          </a:p>
        </p:txBody>
      </p:sp>
      <p:sp>
        <p:nvSpPr>
          <p:cNvPr id="29" name="TextBox 28"/>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BAB 1  ·  MASALAH</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Satu Tabel Besar, Banyak Masalah</a:t>
            </a:r>
            <a:endParaRPr lang="en-US" sz="2800" dirty="0"/>
          </a:p>
        </p:txBody>
      </p:sp>
      <p:sp>
        <p:nvSpPr>
          <p:cNvPr id="5" name="Shape 3"/>
          <p:cNvSpPr/>
          <p:nvPr/>
        </p:nvSpPr>
        <p:spPr>
          <a:xfrm>
            <a:off x="566928" y="1417320"/>
            <a:ext cx="4160520" cy="4526280"/>
          </a:xfrm>
          <a:prstGeom prst="roundRect">
            <a:avLst>
              <a:gd name="adj" fmla="val 1758"/>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6" name="Text 4"/>
          <p:cNvSpPr/>
          <p:nvPr/>
        </p:nvSpPr>
        <p:spPr>
          <a:xfrm>
            <a:off x="868680" y="1645920"/>
            <a:ext cx="3657600" cy="27432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SITUASI SAAT INI</a:t>
            </a:r>
            <a:endParaRPr lang="en-US" sz="1200" dirty="0"/>
          </a:p>
        </p:txBody>
      </p:sp>
      <p:sp>
        <p:nvSpPr>
          <p:cNvPr id="7" name="Text 5"/>
          <p:cNvSpPr/>
          <p:nvPr/>
        </p:nvSpPr>
        <p:spPr>
          <a:xfrm>
            <a:off x="868680" y="1965960"/>
            <a:ext cx="3611880" cy="914400"/>
          </a:xfrm>
          <a:prstGeom prst="rect">
            <a:avLst/>
          </a:prstGeom>
          <a:noFill/>
          <a:ln/>
        </p:spPr>
        <p:txBody>
          <a:bodyPr wrap="square" lIns="0" tIns="0" rIns="0" bIns="0" rtlCol="0" anchor="ctr"/>
          <a:lstStyle/>
          <a:p>
            <a:pPr marL="0" indent="0">
              <a:buNone/>
            </a:pPr>
            <a:r>
              <a:rPr lang="en-US" sz="1450" dirty="0">
                <a:solidFill>
                  <a:srgbClr val="1E2E36"/>
                </a:solidFill>
                <a:latin typeface="Calibri" pitchFamily="34" charset="0"/>
                <a:ea typeface="Calibri" pitchFamily="34" charset="-122"/>
                <a:cs typeface="Calibri" pitchFamily="34" charset="-120"/>
              </a:rPr>
              <a:t>SejutaStay adalah jaringan hotel yang sedang berkembang dengan cabang di Jakarta, Bali, Yogyakarta, Bandung, dan Lombok.</a:t>
            </a:r>
            <a:endParaRPr lang="en-US" sz="1450" dirty="0"/>
          </a:p>
        </p:txBody>
      </p:sp>
      <p:sp>
        <p:nvSpPr>
          <p:cNvPr id="8" name="Text 6"/>
          <p:cNvSpPr/>
          <p:nvPr/>
        </p:nvSpPr>
        <p:spPr>
          <a:xfrm>
            <a:off x="868680" y="2880360"/>
            <a:ext cx="3611880" cy="914400"/>
          </a:xfrm>
          <a:prstGeom prst="rect">
            <a:avLst/>
          </a:prstGeom>
          <a:noFill/>
          <a:ln/>
        </p:spPr>
        <p:txBody>
          <a:bodyPr wrap="square" lIns="0" tIns="0" rIns="0" bIns="0" rtlCol="0" anchor="ctr"/>
          <a:lstStyle/>
          <a:p>
            <a:pPr marL="0" indent="0">
              <a:buNone/>
            </a:pPr>
            <a:r>
              <a:rPr lang="en-US" sz="1450" dirty="0">
                <a:solidFill>
                  <a:srgbClr val="1E2E36"/>
                </a:solidFill>
                <a:latin typeface="Calibri" pitchFamily="34" charset="0"/>
                <a:ea typeface="Calibri" pitchFamily="34" charset="-122"/>
                <a:cs typeface="Calibri" pitchFamily="34" charset="-120"/>
              </a:rPr>
              <a:t>Setiap reservasi — tamu, hotel, kamar, dan layanan — dicatat dalam satu spreadsheet bersama:</a:t>
            </a:r>
            <a:endParaRPr lang="en-US" sz="1450" dirty="0"/>
          </a:p>
        </p:txBody>
      </p:sp>
      <p:sp>
        <p:nvSpPr>
          <p:cNvPr id="9" name="Shape 7"/>
          <p:cNvSpPr/>
          <p:nvPr/>
        </p:nvSpPr>
        <p:spPr>
          <a:xfrm>
            <a:off x="868680" y="3840480"/>
            <a:ext cx="3566160" cy="1874520"/>
          </a:xfrm>
          <a:prstGeom prst="roundRect">
            <a:avLst>
              <a:gd name="adj" fmla="val 2927"/>
            </a:avLst>
          </a:prstGeom>
          <a:solidFill>
            <a:srgbClr val="FFFFFF"/>
          </a:solidFill>
          <a:ln w="12700">
            <a:solidFill>
              <a:srgbClr val="C9D8DE"/>
            </a:solidFill>
            <a:prstDash val="solid"/>
          </a:ln>
        </p:spPr>
        <p:txBody>
          <a:bodyPr/>
          <a:lstStyle/>
          <a:p>
            <a:endParaRPr/>
          </a:p>
        </p:txBody>
      </p:sp>
      <p:sp>
        <p:nvSpPr>
          <p:cNvPr id="10" name="Text 8"/>
          <p:cNvSpPr/>
          <p:nvPr/>
        </p:nvSpPr>
        <p:spPr>
          <a:xfrm>
            <a:off x="868680" y="3977640"/>
            <a:ext cx="3566160" cy="365760"/>
          </a:xfrm>
          <a:prstGeom prst="rect">
            <a:avLst/>
          </a:prstGeom>
          <a:noFill/>
          <a:ln/>
        </p:spPr>
        <p:txBody>
          <a:bodyPr wrap="square" lIns="0" tIns="0" rIns="0" bIns="0" rtlCol="0" anchor="ctr"/>
          <a:lstStyle/>
          <a:p>
            <a:pPr marL="0" indent="0" algn="ctr">
              <a:buNone/>
            </a:pPr>
            <a:r>
              <a:rPr lang="en-US" sz="1300" b="1" dirty="0">
                <a:solidFill>
                  <a:srgbClr val="0C4A60"/>
                </a:solidFill>
                <a:latin typeface="Calibri" pitchFamily="34" charset="0"/>
                <a:ea typeface="Calibri" pitchFamily="34" charset="-122"/>
                <a:cs typeface="Calibri" pitchFamily="34" charset="-120"/>
              </a:rPr>
              <a:t>“BookingRecord”</a:t>
            </a:r>
            <a:endParaRPr lang="en-US" sz="1300" dirty="0"/>
          </a:p>
        </p:txBody>
      </p:sp>
      <p:sp>
        <p:nvSpPr>
          <p:cNvPr id="11" name="Shape 9"/>
          <p:cNvSpPr/>
          <p:nvPr/>
        </p:nvSpPr>
        <p:spPr>
          <a:xfrm>
            <a:off x="1097280" y="4389120"/>
            <a:ext cx="3108960" cy="219456"/>
          </a:xfrm>
          <a:prstGeom prst="rect">
            <a:avLst/>
          </a:prstGeom>
          <a:solidFill>
            <a:srgbClr val="DCEBF1"/>
          </a:solidFill>
          <a:ln w="9525">
            <a:solidFill>
              <a:srgbClr val="D9E3E7"/>
            </a:solidFill>
            <a:prstDash val="solid"/>
          </a:ln>
        </p:spPr>
        <p:txBody>
          <a:bodyPr/>
          <a:lstStyle/>
          <a:p>
            <a:endParaRPr/>
          </a:p>
        </p:txBody>
      </p:sp>
      <p:sp>
        <p:nvSpPr>
          <p:cNvPr id="12" name="Shape 10"/>
          <p:cNvSpPr/>
          <p:nvPr/>
        </p:nvSpPr>
        <p:spPr>
          <a:xfrm>
            <a:off x="1097280" y="4681728"/>
            <a:ext cx="3108960" cy="219456"/>
          </a:xfrm>
          <a:prstGeom prst="rect">
            <a:avLst/>
          </a:prstGeom>
          <a:solidFill>
            <a:srgbClr val="F2F6F8"/>
          </a:solidFill>
          <a:ln w="9525">
            <a:solidFill>
              <a:srgbClr val="D9E3E7"/>
            </a:solidFill>
            <a:prstDash val="solid"/>
          </a:ln>
        </p:spPr>
        <p:txBody>
          <a:bodyPr/>
          <a:lstStyle/>
          <a:p>
            <a:endParaRPr/>
          </a:p>
        </p:txBody>
      </p:sp>
      <p:sp>
        <p:nvSpPr>
          <p:cNvPr id="13" name="Shape 11"/>
          <p:cNvSpPr/>
          <p:nvPr/>
        </p:nvSpPr>
        <p:spPr>
          <a:xfrm>
            <a:off x="1097280" y="4974336"/>
            <a:ext cx="3108960" cy="219456"/>
          </a:xfrm>
          <a:prstGeom prst="rect">
            <a:avLst/>
          </a:prstGeom>
          <a:solidFill>
            <a:srgbClr val="F2F6F8"/>
          </a:solidFill>
          <a:ln w="9525">
            <a:solidFill>
              <a:srgbClr val="D9E3E7"/>
            </a:solidFill>
            <a:prstDash val="solid"/>
          </a:ln>
        </p:spPr>
        <p:txBody>
          <a:bodyPr/>
          <a:lstStyle/>
          <a:p>
            <a:endParaRPr/>
          </a:p>
        </p:txBody>
      </p:sp>
      <p:sp>
        <p:nvSpPr>
          <p:cNvPr id="14" name="Shape 12"/>
          <p:cNvSpPr/>
          <p:nvPr/>
        </p:nvSpPr>
        <p:spPr>
          <a:xfrm>
            <a:off x="1097280" y="5266944"/>
            <a:ext cx="3108960" cy="219456"/>
          </a:xfrm>
          <a:prstGeom prst="rect">
            <a:avLst/>
          </a:prstGeom>
          <a:solidFill>
            <a:srgbClr val="F2F6F8"/>
          </a:solidFill>
          <a:ln w="9525">
            <a:solidFill>
              <a:srgbClr val="D9E3E7"/>
            </a:solidFill>
            <a:prstDash val="solid"/>
          </a:ln>
        </p:spPr>
        <p:txBody>
          <a:bodyPr/>
          <a:lstStyle/>
          <a:p>
            <a:endParaRPr/>
          </a:p>
        </p:txBody>
      </p:sp>
      <p:sp>
        <p:nvSpPr>
          <p:cNvPr id="15" name="Text 13"/>
          <p:cNvSpPr/>
          <p:nvPr/>
        </p:nvSpPr>
        <p:spPr>
          <a:xfrm>
            <a:off x="868680" y="5532120"/>
            <a:ext cx="3566160" cy="274320"/>
          </a:xfrm>
          <a:prstGeom prst="rect">
            <a:avLst/>
          </a:prstGeom>
          <a:noFill/>
          <a:ln/>
        </p:spPr>
        <p:txBody>
          <a:bodyPr wrap="square" lIns="0" tIns="0" rIns="0" bIns="0" rtlCol="0" anchor="ctr"/>
          <a:lstStyle/>
          <a:p>
            <a:pPr marL="0" indent="0" algn="ctr">
              <a:buNone/>
            </a:pPr>
            <a:r>
              <a:rPr lang="en-US" sz="1050" i="1" dirty="0">
                <a:solidFill>
                  <a:srgbClr val="5C7984"/>
                </a:solidFill>
                <a:latin typeface="Calibri" pitchFamily="34" charset="0"/>
                <a:ea typeface="Calibri" pitchFamily="34" charset="-122"/>
                <a:cs typeface="Calibri" pitchFamily="34" charset="-120"/>
              </a:rPr>
              <a:t>18 kolom × banyak baris — semua data tercampur jadi satu</a:t>
            </a:r>
            <a:endParaRPr lang="en-US" sz="1050" dirty="0"/>
          </a:p>
        </p:txBody>
      </p:sp>
      <p:sp>
        <p:nvSpPr>
          <p:cNvPr id="16" name="Text 14"/>
          <p:cNvSpPr/>
          <p:nvPr/>
        </p:nvSpPr>
        <p:spPr>
          <a:xfrm>
            <a:off x="5029200" y="1554480"/>
            <a:ext cx="6583680" cy="292608"/>
          </a:xfrm>
          <a:prstGeom prst="rect">
            <a:avLst/>
          </a:prstGeom>
          <a:noFill/>
          <a:ln/>
        </p:spPr>
        <p:txBody>
          <a:bodyPr wrap="square" lIns="0" tIns="0" rIns="0" bIns="0" rtlCol="0" anchor="ctr"/>
          <a:lstStyle/>
          <a:p>
            <a:pPr marL="0" indent="0">
              <a:buNone/>
            </a:pPr>
            <a:r>
              <a:rPr lang="en-US" sz="1250" b="1" kern="0" spc="100" dirty="0">
                <a:solidFill>
                  <a:srgbClr val="B8860B"/>
                </a:solidFill>
                <a:latin typeface="Calibri" pitchFamily="34" charset="0"/>
                <a:ea typeface="Calibri" pitchFamily="34" charset="-122"/>
                <a:cs typeface="Calibri" pitchFamily="34" charset="-120"/>
              </a:rPr>
              <a:t>LIMA MASALAH PERFORMA</a:t>
            </a:r>
            <a:endParaRPr lang="en-US" sz="1250" dirty="0"/>
          </a:p>
        </p:txBody>
      </p:sp>
      <p:sp>
        <p:nvSpPr>
          <p:cNvPr id="17" name="Shape 15"/>
          <p:cNvSpPr/>
          <p:nvPr/>
        </p:nvSpPr>
        <p:spPr>
          <a:xfrm>
            <a:off x="5029200" y="1901952"/>
            <a:ext cx="6583680"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8" name="Shape 16"/>
          <p:cNvSpPr/>
          <p:nvPr/>
        </p:nvSpPr>
        <p:spPr>
          <a:xfrm>
            <a:off x="5193792" y="2057400"/>
            <a:ext cx="402336" cy="402336"/>
          </a:xfrm>
          <a:prstGeom prst="ellipse">
            <a:avLst/>
          </a:prstGeom>
          <a:solidFill>
            <a:srgbClr val="0C4A60"/>
          </a:solidFill>
          <a:ln/>
        </p:spPr>
        <p:txBody>
          <a:bodyPr/>
          <a:lstStyle/>
          <a:p>
            <a:endParaRPr/>
          </a:p>
        </p:txBody>
      </p:sp>
      <p:sp>
        <p:nvSpPr>
          <p:cNvPr id="19" name="Text 17"/>
          <p:cNvSpPr/>
          <p:nvPr/>
        </p:nvSpPr>
        <p:spPr>
          <a:xfrm>
            <a:off x="5193792" y="2057400"/>
            <a:ext cx="402336" cy="402336"/>
          </a:xfrm>
          <a:prstGeom prst="rect">
            <a:avLst/>
          </a:prstGeom>
          <a:noFill/>
          <a:ln/>
        </p:spPr>
        <p:txBody>
          <a:bodyPr wrap="square" lIns="0" tIns="0" rIns="0" bIns="0" rtlCol="0" anchor="ctr"/>
          <a:lstStyle/>
          <a:p>
            <a:pPr marL="0" indent="0" algn="r">
              <a:buNone/>
              <a:defRPr sz="900">
                <a:solidFill>
                  <a:srgbClr val="66747D"/>
                </a:solidFill>
                <a:latin typeface="Aptos"/>
              </a:defRPr>
            </a:pPr>
            <a:r>
              <a:rPr sz="1200" b="1">
                <a:solidFill>
                  <a:srgbClr val="FFFFFF"/>
                </a:solidFill>
              </a:rPr>
              <a:t>1</a:t>
            </a:r>
            <a:endParaRPr lang="en-US" sz="1300" dirty="0"/>
          </a:p>
        </p:txBody>
      </p:sp>
      <p:sp>
        <p:nvSpPr>
          <p:cNvPr id="20" name="Text 18"/>
          <p:cNvSpPr/>
          <p:nvPr/>
        </p:nvSpPr>
        <p:spPr>
          <a:xfrm>
            <a:off x="5779008" y="1975104"/>
            <a:ext cx="5669280" cy="292608"/>
          </a:xfrm>
          <a:prstGeom prst="rect">
            <a:avLst/>
          </a:prstGeom>
          <a:noFill/>
          <a:ln/>
        </p:spPr>
        <p:txBody>
          <a:bodyPr wrap="square" lIns="0" tIns="0" rIns="0" bIns="0" rtlCol="0" anchor="ctr"/>
          <a:lstStyle/>
          <a:p>
            <a:pPr marL="0" indent="0">
              <a:buNone/>
            </a:pPr>
            <a:r>
              <a:rPr lang="en-US" sz="1450" b="1" dirty="0">
                <a:solidFill>
                  <a:srgbClr val="0C4A60"/>
                </a:solidFill>
                <a:latin typeface="Calibri" pitchFamily="34" charset="0"/>
                <a:ea typeface="Calibri" pitchFamily="34" charset="-122"/>
                <a:cs typeface="Calibri" pitchFamily="34" charset="-120"/>
              </a:rPr>
              <a:t>Redundansi data</a:t>
            </a:r>
            <a:endParaRPr lang="en-US" sz="1450" dirty="0"/>
          </a:p>
        </p:txBody>
      </p:sp>
      <p:sp>
        <p:nvSpPr>
          <p:cNvPr id="21" name="Text 19"/>
          <p:cNvSpPr/>
          <p:nvPr/>
        </p:nvSpPr>
        <p:spPr>
          <a:xfrm>
            <a:off x="5779008" y="2258568"/>
            <a:ext cx="5715000" cy="310896"/>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Data tamu &amp; hotel ditulis ulang di setiap baris booking.</a:t>
            </a:r>
            <a:endParaRPr lang="en-US" sz="1150" dirty="0"/>
          </a:p>
        </p:txBody>
      </p:sp>
      <p:sp>
        <p:nvSpPr>
          <p:cNvPr id="22" name="Shape 20"/>
          <p:cNvSpPr/>
          <p:nvPr/>
        </p:nvSpPr>
        <p:spPr>
          <a:xfrm>
            <a:off x="5029200" y="2743200"/>
            <a:ext cx="6583680"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3" name="Shape 21"/>
          <p:cNvSpPr/>
          <p:nvPr/>
        </p:nvSpPr>
        <p:spPr>
          <a:xfrm>
            <a:off x="5193792" y="2898648"/>
            <a:ext cx="402336" cy="402336"/>
          </a:xfrm>
          <a:prstGeom prst="ellipse">
            <a:avLst/>
          </a:prstGeom>
          <a:solidFill>
            <a:srgbClr val="0C4A60"/>
          </a:solidFill>
          <a:ln/>
        </p:spPr>
        <p:txBody>
          <a:bodyPr/>
          <a:lstStyle/>
          <a:p>
            <a:endParaRPr/>
          </a:p>
        </p:txBody>
      </p:sp>
      <p:sp>
        <p:nvSpPr>
          <p:cNvPr id="24" name="Text 22"/>
          <p:cNvSpPr/>
          <p:nvPr/>
        </p:nvSpPr>
        <p:spPr>
          <a:xfrm>
            <a:off x="5193792" y="2898648"/>
            <a:ext cx="402336" cy="402336"/>
          </a:xfrm>
          <a:prstGeom prst="rect">
            <a:avLst/>
          </a:prstGeom>
          <a:noFill/>
          <a:ln/>
        </p:spPr>
        <p:txBody>
          <a:bodyPr wrap="square" lIns="0" tIns="0" rIns="0" bIns="0" rtlCol="0" anchor="ctr"/>
          <a:lstStyle/>
          <a:p>
            <a:pPr marL="0" indent="0" algn="r">
              <a:buNone/>
              <a:defRPr sz="900">
                <a:solidFill>
                  <a:srgbClr val="66747D"/>
                </a:solidFill>
                <a:latin typeface="Aptos"/>
              </a:defRPr>
            </a:pPr>
            <a:r>
              <a:rPr sz="1200" b="1">
                <a:solidFill>
                  <a:srgbClr val="FFFFFF"/>
                </a:solidFill>
              </a:rPr>
              <a:t>2</a:t>
            </a:r>
            <a:endParaRPr lang="en-US" sz="1300" dirty="0"/>
          </a:p>
        </p:txBody>
      </p:sp>
      <p:sp>
        <p:nvSpPr>
          <p:cNvPr id="25" name="Text 23"/>
          <p:cNvSpPr/>
          <p:nvPr/>
        </p:nvSpPr>
        <p:spPr>
          <a:xfrm>
            <a:off x="5779008" y="2816352"/>
            <a:ext cx="5669280" cy="292608"/>
          </a:xfrm>
          <a:prstGeom prst="rect">
            <a:avLst/>
          </a:prstGeom>
          <a:noFill/>
          <a:ln/>
        </p:spPr>
        <p:txBody>
          <a:bodyPr wrap="square" lIns="0" tIns="0" rIns="0" bIns="0" rtlCol="0" anchor="ctr"/>
          <a:lstStyle/>
          <a:p>
            <a:pPr marL="0" indent="0">
              <a:buNone/>
            </a:pPr>
            <a:r>
              <a:rPr lang="en-US" sz="1450" b="1" dirty="0">
                <a:solidFill>
                  <a:srgbClr val="0C4A60"/>
                </a:solidFill>
                <a:latin typeface="Calibri" pitchFamily="34" charset="0"/>
                <a:ea typeface="Calibri" pitchFamily="34" charset="-122"/>
                <a:cs typeface="Calibri" pitchFamily="34" charset="-120"/>
              </a:rPr>
              <a:t>Anomali update</a:t>
            </a:r>
            <a:endParaRPr lang="en-US" sz="1450" dirty="0"/>
          </a:p>
        </p:txBody>
      </p:sp>
      <p:sp>
        <p:nvSpPr>
          <p:cNvPr id="26" name="Text 24"/>
          <p:cNvSpPr/>
          <p:nvPr/>
        </p:nvSpPr>
        <p:spPr>
          <a:xfrm>
            <a:off x="5779008" y="3099816"/>
            <a:ext cx="5715000" cy="310896"/>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Satu perubahan harus diedit di banyak baris — mudah terlewat.</a:t>
            </a:r>
            <a:endParaRPr lang="en-US" sz="1150" dirty="0"/>
          </a:p>
        </p:txBody>
      </p:sp>
      <p:sp>
        <p:nvSpPr>
          <p:cNvPr id="27" name="Shape 25"/>
          <p:cNvSpPr/>
          <p:nvPr/>
        </p:nvSpPr>
        <p:spPr>
          <a:xfrm>
            <a:off x="5029200" y="3584448"/>
            <a:ext cx="6583680"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8" name="Shape 26"/>
          <p:cNvSpPr/>
          <p:nvPr/>
        </p:nvSpPr>
        <p:spPr>
          <a:xfrm>
            <a:off x="5193792" y="3739896"/>
            <a:ext cx="402336" cy="402336"/>
          </a:xfrm>
          <a:prstGeom prst="ellipse">
            <a:avLst/>
          </a:prstGeom>
          <a:solidFill>
            <a:srgbClr val="0C4A60"/>
          </a:solidFill>
          <a:ln/>
        </p:spPr>
        <p:txBody>
          <a:bodyPr/>
          <a:lstStyle/>
          <a:p>
            <a:endParaRPr/>
          </a:p>
        </p:txBody>
      </p:sp>
      <p:sp>
        <p:nvSpPr>
          <p:cNvPr id="29" name="Text 27"/>
          <p:cNvSpPr/>
          <p:nvPr/>
        </p:nvSpPr>
        <p:spPr>
          <a:xfrm>
            <a:off x="5193792" y="3739896"/>
            <a:ext cx="402336" cy="402336"/>
          </a:xfrm>
          <a:prstGeom prst="rect">
            <a:avLst/>
          </a:prstGeom>
          <a:noFill/>
          <a:ln/>
        </p:spPr>
        <p:txBody>
          <a:bodyPr wrap="square" lIns="0" tIns="0" rIns="0" bIns="0" rtlCol="0" anchor="ctr"/>
          <a:lstStyle/>
          <a:p>
            <a:pPr marL="0" indent="0" algn="r">
              <a:buNone/>
              <a:defRPr sz="900">
                <a:solidFill>
                  <a:srgbClr val="66747D"/>
                </a:solidFill>
                <a:latin typeface="Aptos"/>
              </a:defRPr>
            </a:pPr>
            <a:r>
              <a:rPr sz="1200" b="1">
                <a:solidFill>
                  <a:srgbClr val="FFFFFF"/>
                </a:solidFill>
              </a:rPr>
              <a:t>3</a:t>
            </a:r>
            <a:endParaRPr lang="en-US" sz="1300" dirty="0"/>
          </a:p>
        </p:txBody>
      </p:sp>
      <p:sp>
        <p:nvSpPr>
          <p:cNvPr id="30" name="Text 28"/>
          <p:cNvSpPr/>
          <p:nvPr/>
        </p:nvSpPr>
        <p:spPr>
          <a:xfrm>
            <a:off x="5779008" y="3657600"/>
            <a:ext cx="5669280" cy="292608"/>
          </a:xfrm>
          <a:prstGeom prst="rect">
            <a:avLst/>
          </a:prstGeom>
          <a:noFill/>
          <a:ln/>
        </p:spPr>
        <p:txBody>
          <a:bodyPr wrap="square" lIns="0" tIns="0" rIns="0" bIns="0" rtlCol="0" anchor="ctr"/>
          <a:lstStyle/>
          <a:p>
            <a:pPr marL="0" indent="0">
              <a:buNone/>
            </a:pPr>
            <a:r>
              <a:rPr lang="en-US" sz="1450" b="1" dirty="0">
                <a:solidFill>
                  <a:srgbClr val="0C4A60"/>
                </a:solidFill>
                <a:latin typeface="Calibri" pitchFamily="34" charset="0"/>
                <a:ea typeface="Calibri" pitchFamily="34" charset="-122"/>
                <a:cs typeface="Calibri" pitchFamily="34" charset="-120"/>
              </a:rPr>
              <a:t>Anomali insert</a:t>
            </a:r>
            <a:endParaRPr lang="en-US" sz="1450" dirty="0"/>
          </a:p>
        </p:txBody>
      </p:sp>
      <p:sp>
        <p:nvSpPr>
          <p:cNvPr id="31" name="Text 29"/>
          <p:cNvSpPr/>
          <p:nvPr/>
        </p:nvSpPr>
        <p:spPr>
          <a:xfrm>
            <a:off x="5779008" y="3941064"/>
            <a:ext cx="5715000" cy="310896"/>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Hotel atau layanan baru tidak bisa ditambah tanpa ada booking.</a:t>
            </a:r>
            <a:endParaRPr lang="en-US" sz="1150" dirty="0"/>
          </a:p>
        </p:txBody>
      </p:sp>
      <p:sp>
        <p:nvSpPr>
          <p:cNvPr id="32" name="Shape 30"/>
          <p:cNvSpPr/>
          <p:nvPr/>
        </p:nvSpPr>
        <p:spPr>
          <a:xfrm>
            <a:off x="5029200" y="4425696"/>
            <a:ext cx="6583680"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3" name="Shape 31"/>
          <p:cNvSpPr/>
          <p:nvPr/>
        </p:nvSpPr>
        <p:spPr>
          <a:xfrm>
            <a:off x="5193792" y="4581144"/>
            <a:ext cx="402336" cy="402336"/>
          </a:xfrm>
          <a:prstGeom prst="ellipse">
            <a:avLst/>
          </a:prstGeom>
          <a:solidFill>
            <a:srgbClr val="0C4A60"/>
          </a:solidFill>
          <a:ln/>
        </p:spPr>
        <p:txBody>
          <a:bodyPr/>
          <a:lstStyle/>
          <a:p>
            <a:endParaRPr/>
          </a:p>
        </p:txBody>
      </p:sp>
      <p:sp>
        <p:nvSpPr>
          <p:cNvPr id="34" name="Text 32"/>
          <p:cNvSpPr/>
          <p:nvPr/>
        </p:nvSpPr>
        <p:spPr>
          <a:xfrm>
            <a:off x="5193792" y="4581144"/>
            <a:ext cx="402336" cy="402336"/>
          </a:xfrm>
          <a:prstGeom prst="rect">
            <a:avLst/>
          </a:prstGeom>
          <a:noFill/>
          <a:ln/>
        </p:spPr>
        <p:txBody>
          <a:bodyPr wrap="square" lIns="0" tIns="0" rIns="0" bIns="0" rtlCol="0" anchor="ctr"/>
          <a:lstStyle/>
          <a:p>
            <a:pPr marL="0" indent="0" algn="r">
              <a:buNone/>
              <a:defRPr sz="900">
                <a:solidFill>
                  <a:srgbClr val="66747D"/>
                </a:solidFill>
                <a:latin typeface="Aptos"/>
              </a:defRPr>
            </a:pPr>
            <a:r>
              <a:rPr sz="1200" b="1">
                <a:solidFill>
                  <a:srgbClr val="FFFFFF"/>
                </a:solidFill>
              </a:rPr>
              <a:t>4</a:t>
            </a:r>
            <a:endParaRPr lang="en-US" sz="1300" dirty="0"/>
          </a:p>
        </p:txBody>
      </p:sp>
      <p:sp>
        <p:nvSpPr>
          <p:cNvPr id="35" name="Text 33"/>
          <p:cNvSpPr/>
          <p:nvPr/>
        </p:nvSpPr>
        <p:spPr>
          <a:xfrm>
            <a:off x="5779008" y="4498848"/>
            <a:ext cx="5669280" cy="292608"/>
          </a:xfrm>
          <a:prstGeom prst="rect">
            <a:avLst/>
          </a:prstGeom>
          <a:noFill/>
          <a:ln/>
        </p:spPr>
        <p:txBody>
          <a:bodyPr wrap="square" lIns="0" tIns="0" rIns="0" bIns="0" rtlCol="0" anchor="ctr"/>
          <a:lstStyle/>
          <a:p>
            <a:pPr marL="0" indent="0">
              <a:buNone/>
            </a:pPr>
            <a:r>
              <a:rPr lang="en-US" sz="1450" b="1" dirty="0">
                <a:solidFill>
                  <a:srgbClr val="0C4A60"/>
                </a:solidFill>
                <a:latin typeface="Calibri" pitchFamily="34" charset="0"/>
                <a:ea typeface="Calibri" pitchFamily="34" charset="-122"/>
                <a:cs typeface="Calibri" pitchFamily="34" charset="-120"/>
              </a:rPr>
              <a:t>Anomali delete</a:t>
            </a:r>
            <a:endParaRPr lang="en-US" sz="1450" dirty="0"/>
          </a:p>
        </p:txBody>
      </p:sp>
      <p:sp>
        <p:nvSpPr>
          <p:cNvPr id="36" name="Text 34"/>
          <p:cNvSpPr/>
          <p:nvPr/>
        </p:nvSpPr>
        <p:spPr>
          <a:xfrm>
            <a:off x="5779008" y="4782312"/>
            <a:ext cx="5715000" cy="310896"/>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Menghapus satu booking bisa ikut menghapus satu-satunya salinan data lain.</a:t>
            </a:r>
            <a:endParaRPr lang="en-US" sz="1150" dirty="0"/>
          </a:p>
        </p:txBody>
      </p:sp>
      <p:sp>
        <p:nvSpPr>
          <p:cNvPr id="37" name="Shape 35"/>
          <p:cNvSpPr/>
          <p:nvPr/>
        </p:nvSpPr>
        <p:spPr>
          <a:xfrm>
            <a:off x="5029200" y="5266944"/>
            <a:ext cx="6583680"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8" name="Shape 36"/>
          <p:cNvSpPr/>
          <p:nvPr/>
        </p:nvSpPr>
        <p:spPr>
          <a:xfrm>
            <a:off x="5193792" y="5422392"/>
            <a:ext cx="402336" cy="402336"/>
          </a:xfrm>
          <a:prstGeom prst="ellipse">
            <a:avLst/>
          </a:prstGeom>
          <a:solidFill>
            <a:srgbClr val="0C4A60"/>
          </a:solidFill>
          <a:ln/>
        </p:spPr>
        <p:txBody>
          <a:bodyPr/>
          <a:lstStyle/>
          <a:p>
            <a:endParaRPr/>
          </a:p>
        </p:txBody>
      </p:sp>
      <p:sp>
        <p:nvSpPr>
          <p:cNvPr id="39" name="Text 37"/>
          <p:cNvSpPr/>
          <p:nvPr/>
        </p:nvSpPr>
        <p:spPr>
          <a:xfrm>
            <a:off x="5193792" y="5422392"/>
            <a:ext cx="402336" cy="402336"/>
          </a:xfrm>
          <a:prstGeom prst="rect">
            <a:avLst/>
          </a:prstGeom>
          <a:noFill/>
          <a:ln/>
        </p:spPr>
        <p:txBody>
          <a:bodyPr wrap="square" lIns="0" tIns="0" rIns="0" bIns="0" rtlCol="0" anchor="ctr"/>
          <a:lstStyle/>
          <a:p>
            <a:pPr marL="0" indent="0" algn="r">
              <a:buNone/>
              <a:defRPr sz="900">
                <a:solidFill>
                  <a:srgbClr val="66747D"/>
                </a:solidFill>
                <a:latin typeface="Aptos"/>
              </a:defRPr>
            </a:pPr>
            <a:r>
              <a:rPr sz="1200" b="1">
                <a:solidFill>
                  <a:srgbClr val="FFFFFF"/>
                </a:solidFill>
              </a:rPr>
              <a:t>5</a:t>
            </a:r>
            <a:endParaRPr lang="en-US" sz="1300" dirty="0"/>
          </a:p>
        </p:txBody>
      </p:sp>
      <p:sp>
        <p:nvSpPr>
          <p:cNvPr id="40" name="Text 38"/>
          <p:cNvSpPr/>
          <p:nvPr/>
        </p:nvSpPr>
        <p:spPr>
          <a:xfrm>
            <a:off x="5779008" y="5340096"/>
            <a:ext cx="5669280" cy="292608"/>
          </a:xfrm>
          <a:prstGeom prst="rect">
            <a:avLst/>
          </a:prstGeom>
          <a:noFill/>
          <a:ln/>
        </p:spPr>
        <p:txBody>
          <a:bodyPr wrap="square" lIns="0" tIns="0" rIns="0" bIns="0" rtlCol="0" anchor="ctr"/>
          <a:lstStyle/>
          <a:p>
            <a:pPr marL="0" indent="0">
              <a:buNone/>
            </a:pPr>
            <a:r>
              <a:rPr lang="en-US" sz="1450" b="1" dirty="0">
                <a:solidFill>
                  <a:srgbClr val="0C4A60"/>
                </a:solidFill>
                <a:latin typeface="Calibri" pitchFamily="34" charset="0"/>
                <a:ea typeface="Calibri" pitchFamily="34" charset="-122"/>
                <a:cs typeface="Calibri" pitchFamily="34" charset="-120"/>
              </a:rPr>
              <a:t>Lambat &amp; tidak andal</a:t>
            </a:r>
            <a:endParaRPr lang="en-US" sz="1450" dirty="0"/>
          </a:p>
        </p:txBody>
      </p:sp>
      <p:sp>
        <p:nvSpPr>
          <p:cNvPr id="41" name="Text 39"/>
          <p:cNvSpPr/>
          <p:nvPr/>
        </p:nvSpPr>
        <p:spPr>
          <a:xfrm>
            <a:off x="5779008" y="5623560"/>
            <a:ext cx="5715000" cy="310896"/>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Sulit dicari, sulit dibuat laporan, dan tanpa pengecekan integritas.</a:t>
            </a:r>
            <a:endParaRPr lang="en-US" sz="1150" dirty="0"/>
          </a:p>
        </p:txBody>
      </p:sp>
      <p:sp>
        <p:nvSpPr>
          <p:cNvPr id="42" name="Text 40"/>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Database Pemesanan Hotel SejutaStay</a:t>
            </a:r>
            <a:endParaRPr lang="en-US" sz="900" dirty="0"/>
          </a:p>
        </p:txBody>
      </p:sp>
      <p:sp>
        <p:nvSpPr>
          <p:cNvPr id="43" name="Text 41"/>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BAB 2  ·  DATA SAMPEL (UNF)</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Kasus Kami &amp; Data Sampel</a:t>
            </a:r>
            <a:endParaRPr lang="en-US" sz="2800" dirty="0"/>
          </a:p>
        </p:txBody>
      </p:sp>
      <p:sp>
        <p:nvSpPr>
          <p:cNvPr id="5" name="Shape 3"/>
          <p:cNvSpPr/>
          <p:nvPr/>
        </p:nvSpPr>
        <p:spPr>
          <a:xfrm>
            <a:off x="566928" y="1463040"/>
            <a:ext cx="4572000" cy="1828800"/>
          </a:xfrm>
          <a:prstGeom prst="roundRect">
            <a:avLst>
              <a:gd name="adj" fmla="val 4000"/>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6" name="Text 4"/>
          <p:cNvSpPr/>
          <p:nvPr/>
        </p:nvSpPr>
        <p:spPr>
          <a:xfrm>
            <a:off x="822960" y="1627632"/>
            <a:ext cx="411480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DATA SAMPEL</a:t>
            </a:r>
            <a:endParaRPr lang="en-US" sz="1200" dirty="0"/>
          </a:p>
        </p:txBody>
      </p:sp>
      <p:sp>
        <p:nvSpPr>
          <p:cNvPr id="7" name="Text 5"/>
          <p:cNvSpPr/>
          <p:nvPr/>
        </p:nvSpPr>
        <p:spPr>
          <a:xfrm>
            <a:off x="822960" y="1901952"/>
            <a:ext cx="4206240" cy="502920"/>
          </a:xfrm>
          <a:prstGeom prst="rect">
            <a:avLst/>
          </a:prstGeom>
          <a:noFill/>
          <a:ln/>
        </p:spPr>
        <p:txBody>
          <a:bodyPr wrap="square" lIns="0" tIns="0" rIns="0" bIns="0" rtlCol="0" anchor="ctr"/>
          <a:lstStyle/>
          <a:p>
            <a:pPr marL="0" indent="0">
              <a:buNone/>
            </a:pPr>
            <a:r>
              <a:rPr lang="en-US" sz="3000" b="1" dirty="0">
                <a:solidFill>
                  <a:srgbClr val="0C4A60"/>
                </a:solidFill>
              </a:rPr>
              <a:t>7</a:t>
            </a:r>
            <a:r>
              <a:rPr lang="en-US" sz="1300" dirty="0">
                <a:solidFill>
                  <a:srgbClr val="1E2E36"/>
                </a:solidFill>
              </a:rPr>
              <a:t>  reservasi sampel,  </a:t>
            </a:r>
            <a:r>
              <a:rPr lang="en-US" sz="3000" b="1" dirty="0">
                <a:solidFill>
                  <a:srgbClr val="0C4A60"/>
                </a:solidFill>
              </a:rPr>
              <a:t>18</a:t>
            </a:r>
            <a:r>
              <a:rPr lang="en-US" sz="1300" dirty="0">
                <a:solidFill>
                  <a:srgbClr val="1E2E36"/>
                </a:solidFill>
              </a:rPr>
              <a:t>  atribut</a:t>
            </a:r>
            <a:endParaRPr lang="en-US" sz="3000" dirty="0"/>
          </a:p>
        </p:txBody>
      </p:sp>
      <p:sp>
        <p:nvSpPr>
          <p:cNvPr id="8" name="Text 6"/>
          <p:cNvSpPr/>
          <p:nvPr/>
        </p:nvSpPr>
        <p:spPr>
          <a:xfrm>
            <a:off x="822960" y="2395728"/>
            <a:ext cx="4114800" cy="868680"/>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Dimodelkan dari data reservasi hotel nyata (dataset Hotel Booking Demand, Antonio dkk., 2019). Kami memakai sebagian kecil data agar setiap langkah normalisasi bisa ditelusuri secara manual.</a:t>
            </a:r>
            <a:endParaRPr lang="en-US" sz="1150" dirty="0"/>
          </a:p>
        </p:txBody>
      </p:sp>
      <p:sp>
        <p:nvSpPr>
          <p:cNvPr id="9" name="Shape 7"/>
          <p:cNvSpPr/>
          <p:nvPr/>
        </p:nvSpPr>
        <p:spPr>
          <a:xfrm>
            <a:off x="566928" y="3456432"/>
            <a:ext cx="4572000" cy="2514600"/>
          </a:xfrm>
          <a:prstGeom prst="roundRect">
            <a:avLst>
              <a:gd name="adj" fmla="val 2909"/>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0" name="Text 8"/>
          <p:cNvSpPr/>
          <p:nvPr/>
        </p:nvSpPr>
        <p:spPr>
          <a:xfrm>
            <a:off x="822960" y="3611880"/>
            <a:ext cx="411480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MENGAPA DISEBUT “UN-NORMALIZED”?</a:t>
            </a:r>
            <a:endParaRPr lang="en-US" sz="1200" dirty="0"/>
          </a:p>
        </p:txBody>
      </p:sp>
      <p:sp>
        <p:nvSpPr>
          <p:cNvPr id="11" name="Text 9"/>
          <p:cNvSpPr/>
          <p:nvPr/>
        </p:nvSpPr>
        <p:spPr>
          <a:xfrm>
            <a:off x="822960" y="3886200"/>
            <a:ext cx="4114800" cy="777240"/>
          </a:xfrm>
          <a:prstGeom prst="rect">
            <a:avLst/>
          </a:prstGeom>
          <a:noFill/>
          <a:ln/>
        </p:spPr>
        <p:txBody>
          <a:bodyPr wrap="square" lIns="0" tIns="0" rIns="0" bIns="0" rtlCol="0" anchor="ctr"/>
          <a:lstStyle/>
          <a:p>
            <a:pPr marL="0" indent="0">
              <a:buNone/>
            </a:pPr>
            <a:r>
              <a:rPr lang="en-US" sz="1250" dirty="0">
                <a:solidFill>
                  <a:srgbClr val="1E2E36"/>
                </a:solidFill>
                <a:latin typeface="Calibri" pitchFamily="34" charset="0"/>
                <a:ea typeface="Calibri" pitchFamily="34" charset="-122"/>
                <a:cs typeface="Calibri" pitchFamily="34" charset="-120"/>
              </a:rPr>
              <a:t>Tabel ini mengandung repeating group — satu booking bisa punya beberapa kamar atau layanan, sehingga banyak nilai dijejalkan ke dalam satu sel.</a:t>
            </a:r>
            <a:endParaRPr lang="en-US" sz="1250" dirty="0"/>
          </a:p>
        </p:txBody>
      </p:sp>
      <p:sp>
        <p:nvSpPr>
          <p:cNvPr id="12" name="Shape 10"/>
          <p:cNvSpPr/>
          <p:nvPr/>
        </p:nvSpPr>
        <p:spPr>
          <a:xfrm>
            <a:off x="822960" y="4663440"/>
            <a:ext cx="4069080" cy="1097280"/>
          </a:xfrm>
          <a:prstGeom prst="roundRect">
            <a:avLst>
              <a:gd name="adj" fmla="val 5000"/>
            </a:avLst>
          </a:prstGeom>
          <a:solidFill>
            <a:srgbClr val="FFFFFF"/>
          </a:solidFill>
          <a:ln w="15875">
            <a:solidFill>
              <a:srgbClr val="B23A48"/>
            </a:solidFill>
            <a:prstDash val="solid"/>
          </a:ln>
        </p:spPr>
        <p:txBody>
          <a:bodyPr/>
          <a:lstStyle/>
          <a:p>
            <a:endParaRPr/>
          </a:p>
        </p:txBody>
      </p:sp>
      <p:sp>
        <p:nvSpPr>
          <p:cNvPr id="13" name="Text 11"/>
          <p:cNvSpPr/>
          <p:nvPr/>
        </p:nvSpPr>
        <p:spPr>
          <a:xfrm>
            <a:off x="960120" y="4754880"/>
            <a:ext cx="3840480" cy="274320"/>
          </a:xfrm>
          <a:prstGeom prst="rect">
            <a:avLst/>
          </a:prstGeom>
          <a:noFill/>
          <a:ln/>
        </p:spPr>
        <p:txBody>
          <a:bodyPr wrap="square" lIns="0" tIns="0" rIns="0" bIns="0" rtlCol="0" anchor="ctr"/>
          <a:lstStyle/>
          <a:p>
            <a:pPr marL="0" indent="0">
              <a:buNone/>
            </a:pPr>
            <a:r>
              <a:rPr lang="en-US" sz="1150" b="1" dirty="0">
                <a:solidFill>
                  <a:srgbClr val="0C4A60"/>
                </a:solidFill>
                <a:latin typeface="Calibri" pitchFamily="34" charset="0"/>
                <a:ea typeface="Calibri" pitchFamily="34" charset="-122"/>
                <a:cs typeface="Calibri" pitchFamily="34" charset="-120"/>
              </a:rPr>
              <a:t>Booking B002</a:t>
            </a:r>
            <a:endParaRPr lang="en-US" sz="1150" dirty="0"/>
          </a:p>
        </p:txBody>
      </p:sp>
      <p:sp>
        <p:nvSpPr>
          <p:cNvPr id="14" name="Text 12"/>
          <p:cNvSpPr/>
          <p:nvPr/>
        </p:nvSpPr>
        <p:spPr>
          <a:xfrm>
            <a:off x="960120" y="5010912"/>
            <a:ext cx="3840480" cy="274320"/>
          </a:xfrm>
          <a:prstGeom prst="rect">
            <a:avLst/>
          </a:prstGeom>
          <a:noFill/>
          <a:ln/>
        </p:spPr>
        <p:txBody>
          <a:bodyPr wrap="square" lIns="0" tIns="0" rIns="0" bIns="0" rtlCol="0" anchor="ctr"/>
          <a:lstStyle/>
          <a:p>
            <a:pPr marL="0" indent="0">
              <a:buNone/>
            </a:pPr>
            <a:r>
              <a:rPr lang="en-US" sz="1200" dirty="0">
                <a:solidFill>
                  <a:srgbClr val="1E2E36"/>
                </a:solidFill>
              </a:rPr>
              <a:t>RoomNo = </a:t>
            </a:r>
            <a:r>
              <a:rPr lang="en-US" sz="1200" b="1" dirty="0">
                <a:solidFill>
                  <a:srgbClr val="B23A48"/>
                </a:solidFill>
              </a:rPr>
              <a:t>201 ; 202</a:t>
            </a:r>
            <a:endParaRPr lang="en-US" sz="1200" dirty="0"/>
          </a:p>
        </p:txBody>
      </p:sp>
      <p:sp>
        <p:nvSpPr>
          <p:cNvPr id="15" name="Text 13"/>
          <p:cNvSpPr/>
          <p:nvPr/>
        </p:nvSpPr>
        <p:spPr>
          <a:xfrm>
            <a:off x="960120" y="5285232"/>
            <a:ext cx="3840480" cy="274320"/>
          </a:xfrm>
          <a:prstGeom prst="rect">
            <a:avLst/>
          </a:prstGeom>
          <a:noFill/>
          <a:ln/>
        </p:spPr>
        <p:txBody>
          <a:bodyPr wrap="square" lIns="0" tIns="0" rIns="0" bIns="0" rtlCol="0" anchor="ctr"/>
          <a:lstStyle/>
          <a:p>
            <a:pPr marL="0" indent="0">
              <a:buNone/>
            </a:pPr>
            <a:r>
              <a:rPr lang="en-US" sz="1050" i="1" dirty="0">
                <a:solidFill>
                  <a:srgbClr val="B23A48"/>
                </a:solidFill>
                <a:latin typeface="Calibri" pitchFamily="34" charset="0"/>
                <a:ea typeface="Calibri" pitchFamily="34" charset="-122"/>
                <a:cs typeface="Calibri" pitchFamily="34" charset="-120"/>
              </a:rPr>
              <a:t>✕  dua nilai dalam satu sel</a:t>
            </a:r>
            <a:endParaRPr lang="en-US" sz="1050" dirty="0"/>
          </a:p>
        </p:txBody>
      </p:sp>
      <p:sp>
        <p:nvSpPr>
          <p:cNvPr id="16" name="Shape 14"/>
          <p:cNvSpPr/>
          <p:nvPr/>
        </p:nvSpPr>
        <p:spPr>
          <a:xfrm>
            <a:off x="5349240" y="1463040"/>
            <a:ext cx="6263640" cy="4507992"/>
          </a:xfrm>
          <a:prstGeom prst="roundRect">
            <a:avLst>
              <a:gd name="adj" fmla="val 162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7" name="Text 15"/>
          <p:cNvSpPr/>
          <p:nvPr/>
        </p:nvSpPr>
        <p:spPr>
          <a:xfrm>
            <a:off x="5577840" y="1627632"/>
            <a:ext cx="5852160" cy="274320"/>
          </a:xfrm>
          <a:prstGeom prst="rect">
            <a:avLst/>
          </a:prstGeom>
          <a:noFill/>
          <a:ln/>
        </p:spPr>
        <p:txBody>
          <a:bodyPr wrap="square" lIns="0" tIns="0" rIns="0" bIns="0"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SAMPEL — TABEL UN-NORMALIZED (cuplikan)</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577840" y="1975104"/>
          <a:ext cx="5806440" cy="914400"/>
        </p:xfrm>
        <a:graphic>
          <a:graphicData uri="http://schemas.openxmlformats.org/drawingml/2006/table">
            <a:tbl>
              <a:tblPr/>
              <a:tblGrid>
                <a:gridCol w="8686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20624">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Booking</a:t>
                      </a:r>
                      <a:endParaRPr lang="en-US" sz="105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0C4A6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Tamu</a:t>
                      </a:r>
                      <a:endParaRPr lang="en-US" sz="105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0C4A6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Hotel</a:t>
                      </a:r>
                      <a:endParaRPr lang="en-US" sz="105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0C4A6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RoomNo ▸</a:t>
                      </a:r>
                      <a:endParaRPr lang="en-US" sz="105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0C4A6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Layanan ▸</a:t>
                      </a:r>
                      <a:endParaRPr lang="en-US" sz="105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0C4A60"/>
                    </a:solidFill>
                  </a:tcPr>
                </a:tc>
                <a:extLst>
                  <a:ext uri="{0D108BD9-81ED-4DB2-BD59-A6C34878D82A}">
                    <a16:rowId xmlns:a16="http://schemas.microsoft.com/office/drawing/2014/main" val="10000"/>
                  </a:ext>
                </a:extLst>
              </a:tr>
              <a:tr h="420624">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B001</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Andi Wijaya</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Grand Jakarta</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101</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B23A48"/>
                          </a:solidFill>
                          <a:latin typeface="Calibri" pitchFamily="34" charset="0"/>
                          <a:ea typeface="Calibri" pitchFamily="34" charset="-122"/>
                          <a:cs typeface="Calibri" pitchFamily="34" charset="-120"/>
                        </a:rPr>
                        <a:t>Breakfast; Spa</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B002</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Bella Sari</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Bali Beach</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B23A48"/>
                          </a:solidFill>
                          <a:latin typeface="Calibri" pitchFamily="34" charset="0"/>
                          <a:ea typeface="Calibri" pitchFamily="34" charset="-122"/>
                          <a:cs typeface="Calibri" pitchFamily="34" charset="-120"/>
                        </a:rPr>
                        <a:t>201; 202</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B23A48"/>
                          </a:solidFill>
                          <a:latin typeface="Calibri" pitchFamily="34" charset="0"/>
                          <a:ea typeface="Calibri" pitchFamily="34" charset="-122"/>
                          <a:cs typeface="Calibri" pitchFamily="34" charset="-120"/>
                        </a:rPr>
                        <a:t>Breakfast; Transfer</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B003</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Andi Wijaya</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Yogya Heritage</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301</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Breakfast</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B004</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Citra Dewi</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Bali Beach</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203</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B23A48"/>
                          </a:solidFill>
                          <a:latin typeface="Calibri" pitchFamily="34" charset="0"/>
                          <a:ea typeface="Calibri" pitchFamily="34" charset="-122"/>
                          <a:cs typeface="Calibri" pitchFamily="34" charset="-120"/>
                        </a:rPr>
                        <a:t>Spa; Laundry; Late C/O</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B005</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Doni Pratama</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Bandung High.</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B23A48"/>
                          </a:solidFill>
                          <a:latin typeface="Calibri" pitchFamily="34" charset="0"/>
                          <a:ea typeface="Calibri" pitchFamily="34" charset="-122"/>
                          <a:cs typeface="Calibri" pitchFamily="34" charset="-120"/>
                        </a:rPr>
                        <a:t>401; 402</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Breakfast</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Text 16"/>
          <p:cNvSpPr/>
          <p:nvPr/>
        </p:nvSpPr>
        <p:spPr>
          <a:xfrm>
            <a:off x="5577840" y="4983480"/>
            <a:ext cx="5852160" cy="548640"/>
          </a:xfrm>
          <a:prstGeom prst="rect">
            <a:avLst/>
          </a:prstGeom>
          <a:noFill/>
          <a:ln/>
        </p:spPr>
        <p:txBody>
          <a:bodyPr wrap="square" lIns="0" tIns="0" rIns="0" bIns="0" rtlCol="0" anchor="ctr"/>
          <a:lstStyle/>
          <a:p>
            <a:pPr marL="0" indent="0">
              <a:buNone/>
            </a:pPr>
            <a:r>
              <a:rPr lang="en-US" sz="1050" i="1" dirty="0">
                <a:solidFill>
                  <a:srgbClr val="5C7984"/>
                </a:solidFill>
                <a:latin typeface="Calibri" pitchFamily="34" charset="0"/>
                <a:ea typeface="Calibri" pitchFamily="34" charset="-122"/>
                <a:cs typeface="Calibri" pitchFamily="34" charset="-120"/>
              </a:rPr>
              <a:t>▸  menandai kolom dengan repeating group (nilai ganda).  Tabel lengkapnya berisi 7 booking dan 18 atribut.</a:t>
            </a:r>
            <a:endParaRPr lang="en-US" sz="1050" dirty="0"/>
          </a:p>
        </p:txBody>
      </p:sp>
      <p:sp>
        <p:nvSpPr>
          <p:cNvPr id="20" name="Text 17"/>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Database Pemesanan Hotel SejutaStay</a:t>
            </a:r>
            <a:endParaRPr lang="en-US" sz="900" dirty="0"/>
          </a:p>
        </p:txBody>
      </p:sp>
      <p:sp>
        <p:nvSpPr>
          <p:cNvPr id="21" name="Text 18"/>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BAB 3  ·  ANALISIS</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Anomali &amp; Functional Dependency</a:t>
            </a:r>
            <a:endParaRPr lang="en-US" sz="2800" dirty="0"/>
          </a:p>
        </p:txBody>
      </p:sp>
      <p:sp>
        <p:nvSpPr>
          <p:cNvPr id="5" name="Shape 3"/>
          <p:cNvSpPr/>
          <p:nvPr/>
        </p:nvSpPr>
        <p:spPr>
          <a:xfrm>
            <a:off x="566928" y="1481328"/>
            <a:ext cx="3456432" cy="2395728"/>
          </a:xfrm>
          <a:prstGeom prst="roundRect">
            <a:avLst>
              <a:gd name="adj" fmla="val 305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6" name="Shape 4"/>
          <p:cNvSpPr/>
          <p:nvPr/>
        </p:nvSpPr>
        <p:spPr>
          <a:xfrm>
            <a:off x="566928" y="1481328"/>
            <a:ext cx="3456432" cy="457200"/>
          </a:xfrm>
          <a:prstGeom prst="rect">
            <a:avLst/>
          </a:prstGeom>
          <a:solidFill>
            <a:srgbClr val="0C4A60"/>
          </a:solidFill>
          <a:ln/>
        </p:spPr>
        <p:txBody>
          <a:bodyPr/>
          <a:lstStyle/>
          <a:p>
            <a:endParaRPr/>
          </a:p>
        </p:txBody>
      </p:sp>
      <p:sp>
        <p:nvSpPr>
          <p:cNvPr id="7" name="Text 5"/>
          <p:cNvSpPr/>
          <p:nvPr/>
        </p:nvSpPr>
        <p:spPr>
          <a:xfrm>
            <a:off x="566928" y="1481328"/>
            <a:ext cx="34564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ANOMALI INSERT</a:t>
            </a:r>
            <a:endParaRPr lang="en-US" sz="1300" dirty="0"/>
          </a:p>
        </p:txBody>
      </p:sp>
      <p:sp>
        <p:nvSpPr>
          <p:cNvPr id="8" name="Text 6"/>
          <p:cNvSpPr/>
          <p:nvPr/>
        </p:nvSpPr>
        <p:spPr>
          <a:xfrm>
            <a:off x="768096" y="2066544"/>
            <a:ext cx="3054096" cy="960120"/>
          </a:xfrm>
          <a:prstGeom prst="rect">
            <a:avLst/>
          </a:prstGeom>
          <a:noFill/>
          <a:ln/>
        </p:spPr>
        <p:txBody>
          <a:bodyPr wrap="square" lIns="0" tIns="0" rIns="0" bIns="0" rtlCol="0" anchor="ctr"/>
          <a:lstStyle/>
          <a:p>
            <a:pPr marL="0" indent="0">
              <a:buNone/>
            </a:pPr>
            <a:r>
              <a:rPr lang="en-US" sz="1250" dirty="0">
                <a:solidFill>
                  <a:srgbClr val="1E2E36"/>
                </a:solidFill>
                <a:latin typeface="Calibri" pitchFamily="34" charset="0"/>
                <a:ea typeface="Calibri" pitchFamily="34" charset="-122"/>
                <a:cs typeface="Calibri" pitchFamily="34" charset="-120"/>
              </a:rPr>
              <a:t>Tipe kamar atau layanan baru tidak bisa ditambahkan sebelum ada tamu yang memesannya.</a:t>
            </a:r>
            <a:endParaRPr lang="en-US" sz="1250" dirty="0"/>
          </a:p>
        </p:txBody>
      </p:sp>
      <p:sp>
        <p:nvSpPr>
          <p:cNvPr id="9" name="Shape 7"/>
          <p:cNvSpPr/>
          <p:nvPr/>
        </p:nvSpPr>
        <p:spPr>
          <a:xfrm>
            <a:off x="768096" y="3054096"/>
            <a:ext cx="3054096" cy="676656"/>
          </a:xfrm>
          <a:prstGeom prst="roundRect">
            <a:avLst>
              <a:gd name="adj" fmla="val 6757"/>
            </a:avLst>
          </a:prstGeom>
          <a:solidFill>
            <a:srgbClr val="FBEFD5"/>
          </a:solidFill>
          <a:ln w="9525">
            <a:solidFill>
              <a:srgbClr val="E6D2A0"/>
            </a:solidFill>
            <a:prstDash val="solid"/>
          </a:ln>
        </p:spPr>
        <p:txBody>
          <a:bodyPr/>
          <a:lstStyle/>
          <a:p>
            <a:endParaRPr/>
          </a:p>
        </p:txBody>
      </p:sp>
      <p:sp>
        <p:nvSpPr>
          <p:cNvPr id="10" name="Text 8"/>
          <p:cNvSpPr/>
          <p:nvPr/>
        </p:nvSpPr>
        <p:spPr>
          <a:xfrm>
            <a:off x="877824" y="3108960"/>
            <a:ext cx="2852928" cy="566928"/>
          </a:xfrm>
          <a:prstGeom prst="rect">
            <a:avLst/>
          </a:prstGeom>
          <a:noFill/>
          <a:ln/>
        </p:spPr>
        <p:txBody>
          <a:bodyPr wrap="square" lIns="0" tIns="0" rIns="0" bIns="0" rtlCol="0" anchor="ctr"/>
          <a:lstStyle/>
          <a:p>
            <a:pPr marL="0" indent="0">
              <a:buNone/>
            </a:pPr>
            <a:r>
              <a:rPr lang="en-US" sz="1050" b="1" i="1" dirty="0">
                <a:solidFill>
                  <a:srgbClr val="B8860B"/>
                </a:solidFill>
                <a:latin typeface="Calibri" pitchFamily="34" charset="0"/>
                <a:ea typeface="Calibri" pitchFamily="34" charset="-122"/>
                <a:cs typeface="Calibri" pitchFamily="34" charset="-120"/>
              </a:rPr>
              <a:t>Contoh:  </a:t>
            </a:r>
            <a:r>
              <a:rPr lang="en-US" sz="1050" i="1" dirty="0">
                <a:solidFill>
                  <a:srgbClr val="6B5618"/>
                </a:solidFill>
                <a:latin typeface="Calibri" pitchFamily="34" charset="0"/>
                <a:ea typeface="Calibri" pitchFamily="34" charset="-122"/>
                <a:cs typeface="Calibri" pitchFamily="34" charset="-120"/>
              </a:rPr>
              <a:t>Tipe kamar “infinity pool” belum bisa disimpan.</a:t>
            </a:r>
            <a:endParaRPr lang="en-US" sz="1050" dirty="0"/>
          </a:p>
        </p:txBody>
      </p:sp>
      <p:sp>
        <p:nvSpPr>
          <p:cNvPr id="11" name="Shape 9"/>
          <p:cNvSpPr/>
          <p:nvPr/>
        </p:nvSpPr>
        <p:spPr>
          <a:xfrm>
            <a:off x="4279392" y="1481328"/>
            <a:ext cx="3456432" cy="2395728"/>
          </a:xfrm>
          <a:prstGeom prst="roundRect">
            <a:avLst>
              <a:gd name="adj" fmla="val 305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2" name="Shape 10"/>
          <p:cNvSpPr/>
          <p:nvPr/>
        </p:nvSpPr>
        <p:spPr>
          <a:xfrm>
            <a:off x="4279392" y="1481328"/>
            <a:ext cx="3456432" cy="457200"/>
          </a:xfrm>
          <a:prstGeom prst="rect">
            <a:avLst/>
          </a:prstGeom>
          <a:solidFill>
            <a:srgbClr val="0C4A60"/>
          </a:solidFill>
          <a:ln/>
        </p:spPr>
        <p:txBody>
          <a:bodyPr/>
          <a:lstStyle/>
          <a:p>
            <a:endParaRPr/>
          </a:p>
        </p:txBody>
      </p:sp>
      <p:sp>
        <p:nvSpPr>
          <p:cNvPr id="13" name="Text 11"/>
          <p:cNvSpPr/>
          <p:nvPr/>
        </p:nvSpPr>
        <p:spPr>
          <a:xfrm>
            <a:off x="4279392" y="1481328"/>
            <a:ext cx="34564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ANOMALI UPDATE</a:t>
            </a:r>
            <a:endParaRPr lang="en-US" sz="1300" dirty="0"/>
          </a:p>
        </p:txBody>
      </p:sp>
      <p:sp>
        <p:nvSpPr>
          <p:cNvPr id="14" name="Text 12"/>
          <p:cNvSpPr/>
          <p:nvPr/>
        </p:nvSpPr>
        <p:spPr>
          <a:xfrm>
            <a:off x="4480560" y="2066544"/>
            <a:ext cx="3054096" cy="960120"/>
          </a:xfrm>
          <a:prstGeom prst="rect">
            <a:avLst/>
          </a:prstGeom>
          <a:noFill/>
          <a:ln/>
        </p:spPr>
        <p:txBody>
          <a:bodyPr wrap="square" lIns="0" tIns="0" rIns="0" bIns="0" rtlCol="0" anchor="ctr"/>
          <a:lstStyle/>
          <a:p>
            <a:pPr marL="0" indent="0">
              <a:buNone/>
            </a:pPr>
            <a:r>
              <a:rPr lang="en-US" sz="1250" dirty="0">
                <a:solidFill>
                  <a:srgbClr val="1E2E36"/>
                </a:solidFill>
                <a:latin typeface="Calibri" pitchFamily="34" charset="0"/>
                <a:ea typeface="Calibri" pitchFamily="34" charset="-122"/>
                <a:cs typeface="Calibri" pitchFamily="34" charset="-120"/>
              </a:rPr>
              <a:t>Data tamu terduplikasi; mengedit satu baris membuat baris lainnya tidak konsisten.</a:t>
            </a:r>
            <a:endParaRPr lang="en-US" sz="1250" dirty="0"/>
          </a:p>
        </p:txBody>
      </p:sp>
      <p:sp>
        <p:nvSpPr>
          <p:cNvPr id="15" name="Shape 13"/>
          <p:cNvSpPr/>
          <p:nvPr/>
        </p:nvSpPr>
        <p:spPr>
          <a:xfrm>
            <a:off x="4480560" y="3054096"/>
            <a:ext cx="3054096" cy="676656"/>
          </a:xfrm>
          <a:prstGeom prst="roundRect">
            <a:avLst>
              <a:gd name="adj" fmla="val 6757"/>
            </a:avLst>
          </a:prstGeom>
          <a:solidFill>
            <a:srgbClr val="FBEFD5"/>
          </a:solidFill>
          <a:ln w="9525">
            <a:solidFill>
              <a:srgbClr val="E6D2A0"/>
            </a:solidFill>
            <a:prstDash val="solid"/>
          </a:ln>
        </p:spPr>
        <p:txBody>
          <a:bodyPr/>
          <a:lstStyle/>
          <a:p>
            <a:endParaRPr/>
          </a:p>
        </p:txBody>
      </p:sp>
      <p:sp>
        <p:nvSpPr>
          <p:cNvPr id="16" name="Text 14"/>
          <p:cNvSpPr/>
          <p:nvPr/>
        </p:nvSpPr>
        <p:spPr>
          <a:xfrm>
            <a:off x="4590288" y="3108960"/>
            <a:ext cx="2852928" cy="566928"/>
          </a:xfrm>
          <a:prstGeom prst="rect">
            <a:avLst/>
          </a:prstGeom>
          <a:noFill/>
          <a:ln/>
        </p:spPr>
        <p:txBody>
          <a:bodyPr wrap="square" lIns="0" tIns="0" rIns="0" bIns="0" rtlCol="0" anchor="ctr"/>
          <a:lstStyle/>
          <a:p>
            <a:pPr marL="0" indent="0">
              <a:buNone/>
            </a:pPr>
            <a:r>
              <a:rPr lang="en-US" sz="1050" b="1" i="1" dirty="0">
                <a:solidFill>
                  <a:srgbClr val="B8860B"/>
                </a:solidFill>
                <a:latin typeface="Calibri" pitchFamily="34" charset="0"/>
                <a:ea typeface="Calibri" pitchFamily="34" charset="-122"/>
                <a:cs typeface="Calibri" pitchFamily="34" charset="-120"/>
              </a:rPr>
              <a:t>Contoh:  </a:t>
            </a:r>
            <a:r>
              <a:rPr lang="en-US" sz="1050" i="1" dirty="0">
                <a:solidFill>
                  <a:srgbClr val="6B5618"/>
                </a:solidFill>
                <a:latin typeface="Calibri" pitchFamily="34" charset="0"/>
                <a:ea typeface="Calibri" pitchFamily="34" charset="-122"/>
                <a:cs typeface="Calibri" pitchFamily="34" charset="-120"/>
              </a:rPr>
              <a:t>Andi Wijaya muncul di B001 &amp; B003.</a:t>
            </a:r>
            <a:endParaRPr lang="en-US" sz="1050" dirty="0"/>
          </a:p>
        </p:txBody>
      </p:sp>
      <p:sp>
        <p:nvSpPr>
          <p:cNvPr id="17" name="Shape 15"/>
          <p:cNvSpPr/>
          <p:nvPr/>
        </p:nvSpPr>
        <p:spPr>
          <a:xfrm>
            <a:off x="7991856" y="1481328"/>
            <a:ext cx="3456432" cy="2395728"/>
          </a:xfrm>
          <a:prstGeom prst="roundRect">
            <a:avLst>
              <a:gd name="adj" fmla="val 305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8" name="Shape 16"/>
          <p:cNvSpPr/>
          <p:nvPr/>
        </p:nvSpPr>
        <p:spPr>
          <a:xfrm>
            <a:off x="7991856" y="1481328"/>
            <a:ext cx="3456432" cy="457200"/>
          </a:xfrm>
          <a:prstGeom prst="rect">
            <a:avLst/>
          </a:prstGeom>
          <a:solidFill>
            <a:srgbClr val="0C4A60"/>
          </a:solidFill>
          <a:ln/>
        </p:spPr>
        <p:txBody>
          <a:bodyPr/>
          <a:lstStyle/>
          <a:p>
            <a:endParaRPr/>
          </a:p>
        </p:txBody>
      </p:sp>
      <p:sp>
        <p:nvSpPr>
          <p:cNvPr id="19" name="Text 17"/>
          <p:cNvSpPr/>
          <p:nvPr/>
        </p:nvSpPr>
        <p:spPr>
          <a:xfrm>
            <a:off x="7991856" y="1481328"/>
            <a:ext cx="34564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ANOMALI DELETE</a:t>
            </a:r>
            <a:endParaRPr lang="en-US" sz="1300" dirty="0"/>
          </a:p>
        </p:txBody>
      </p:sp>
      <p:sp>
        <p:nvSpPr>
          <p:cNvPr id="20" name="Text 18"/>
          <p:cNvSpPr/>
          <p:nvPr/>
        </p:nvSpPr>
        <p:spPr>
          <a:xfrm>
            <a:off x="8193024" y="2066544"/>
            <a:ext cx="3054096" cy="960120"/>
          </a:xfrm>
          <a:prstGeom prst="rect">
            <a:avLst/>
          </a:prstGeom>
          <a:noFill/>
          <a:ln/>
        </p:spPr>
        <p:txBody>
          <a:bodyPr wrap="square" lIns="0" tIns="0" rIns="0" bIns="0" rtlCol="0" anchor="ctr"/>
          <a:lstStyle/>
          <a:p>
            <a:pPr marL="0" indent="0">
              <a:buNone/>
            </a:pPr>
            <a:r>
              <a:rPr lang="en-US" sz="1250" dirty="0">
                <a:solidFill>
                  <a:srgbClr val="1E2E36"/>
                </a:solidFill>
                <a:latin typeface="Calibri" pitchFamily="34" charset="0"/>
                <a:ea typeface="Calibri" pitchFamily="34" charset="-122"/>
                <a:cs typeface="Calibri" pitchFamily="34" charset="-120"/>
              </a:rPr>
              <a:t>Menghapus satu booking bisa menghapus satu-satunya catatan data lain.</a:t>
            </a:r>
            <a:endParaRPr lang="en-US" sz="1250" dirty="0"/>
          </a:p>
        </p:txBody>
      </p:sp>
      <p:sp>
        <p:nvSpPr>
          <p:cNvPr id="21" name="Shape 19"/>
          <p:cNvSpPr/>
          <p:nvPr/>
        </p:nvSpPr>
        <p:spPr>
          <a:xfrm>
            <a:off x="8193024" y="3054096"/>
            <a:ext cx="3054096" cy="676656"/>
          </a:xfrm>
          <a:prstGeom prst="roundRect">
            <a:avLst>
              <a:gd name="adj" fmla="val 6757"/>
            </a:avLst>
          </a:prstGeom>
          <a:solidFill>
            <a:srgbClr val="FBEFD5"/>
          </a:solidFill>
          <a:ln w="9525">
            <a:solidFill>
              <a:srgbClr val="E6D2A0"/>
            </a:solidFill>
            <a:prstDash val="solid"/>
          </a:ln>
        </p:spPr>
        <p:txBody>
          <a:bodyPr/>
          <a:lstStyle/>
          <a:p>
            <a:endParaRPr/>
          </a:p>
        </p:txBody>
      </p:sp>
      <p:sp>
        <p:nvSpPr>
          <p:cNvPr id="22" name="Text 20"/>
          <p:cNvSpPr/>
          <p:nvPr/>
        </p:nvSpPr>
        <p:spPr>
          <a:xfrm>
            <a:off x="8302752" y="3108960"/>
            <a:ext cx="2852928" cy="566928"/>
          </a:xfrm>
          <a:prstGeom prst="rect">
            <a:avLst/>
          </a:prstGeom>
          <a:noFill/>
          <a:ln/>
        </p:spPr>
        <p:txBody>
          <a:bodyPr wrap="square" lIns="0" tIns="0" rIns="0" bIns="0" rtlCol="0" anchor="ctr"/>
          <a:lstStyle/>
          <a:p>
            <a:pPr marL="0" indent="0">
              <a:buNone/>
            </a:pPr>
            <a:r>
              <a:rPr lang="en-US" sz="1050" b="1" i="1" dirty="0">
                <a:solidFill>
                  <a:srgbClr val="B8860B"/>
                </a:solidFill>
                <a:latin typeface="Calibri" pitchFamily="34" charset="0"/>
                <a:ea typeface="Calibri" pitchFamily="34" charset="-122"/>
                <a:cs typeface="Calibri" pitchFamily="34" charset="-120"/>
              </a:rPr>
              <a:t>Contoh:  </a:t>
            </a:r>
            <a:r>
              <a:rPr lang="en-US" sz="1050" i="1" dirty="0">
                <a:solidFill>
                  <a:srgbClr val="6B5618"/>
                </a:solidFill>
                <a:latin typeface="Calibri" pitchFamily="34" charset="0"/>
                <a:ea typeface="Calibri" pitchFamily="34" charset="-122"/>
                <a:cs typeface="Calibri" pitchFamily="34" charset="-120"/>
              </a:rPr>
              <a:t>Hapus B004 → layanan “Laundry” ikut hilang.</a:t>
            </a:r>
            <a:endParaRPr lang="en-US" sz="1050" dirty="0"/>
          </a:p>
        </p:txBody>
      </p:sp>
      <p:sp>
        <p:nvSpPr>
          <p:cNvPr id="23" name="Shape 21"/>
          <p:cNvSpPr/>
          <p:nvPr/>
        </p:nvSpPr>
        <p:spPr>
          <a:xfrm>
            <a:off x="566928" y="4114800"/>
            <a:ext cx="11064240" cy="1874520"/>
          </a:xfrm>
          <a:prstGeom prst="roundRect">
            <a:avLst>
              <a:gd name="adj" fmla="val 3902"/>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4" name="Text 22"/>
          <p:cNvSpPr/>
          <p:nvPr/>
        </p:nvSpPr>
        <p:spPr>
          <a:xfrm>
            <a:off x="822960" y="4261104"/>
            <a:ext cx="10515600" cy="292608"/>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FUNCTIONAL DEPENDENCY UTAMA   ( A → B  artinya A menentukan B )</a:t>
            </a:r>
            <a:endParaRPr lang="en-US" sz="1250" dirty="0"/>
          </a:p>
        </p:txBody>
      </p:sp>
      <p:sp>
        <p:nvSpPr>
          <p:cNvPr id="25" name="Shape 23"/>
          <p:cNvSpPr/>
          <p:nvPr/>
        </p:nvSpPr>
        <p:spPr>
          <a:xfrm>
            <a:off x="868680" y="4626864"/>
            <a:ext cx="109728" cy="109728"/>
          </a:xfrm>
          <a:prstGeom prst="ellipse">
            <a:avLst/>
          </a:prstGeom>
          <a:solidFill>
            <a:srgbClr val="B8860B"/>
          </a:solidFill>
          <a:ln/>
        </p:spPr>
        <p:txBody>
          <a:bodyPr/>
          <a:lstStyle/>
          <a:p>
            <a:endParaRPr/>
          </a:p>
        </p:txBody>
      </p:sp>
      <p:sp>
        <p:nvSpPr>
          <p:cNvPr id="26" name="Text 24"/>
          <p:cNvSpPr/>
          <p:nvPr/>
        </p:nvSpPr>
        <p:spPr>
          <a:xfrm>
            <a:off x="1078992" y="4526280"/>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BookingID → BookingDate, GuestID, HotelID, CheckIn, CheckOut</a:t>
            </a:r>
            <a:endParaRPr lang="en-US" sz="1150" dirty="0"/>
          </a:p>
        </p:txBody>
      </p:sp>
      <p:sp>
        <p:nvSpPr>
          <p:cNvPr id="27" name="Shape 25"/>
          <p:cNvSpPr/>
          <p:nvPr/>
        </p:nvSpPr>
        <p:spPr>
          <a:xfrm>
            <a:off x="6355080" y="4626864"/>
            <a:ext cx="109728" cy="109728"/>
          </a:xfrm>
          <a:prstGeom prst="ellipse">
            <a:avLst/>
          </a:prstGeom>
          <a:solidFill>
            <a:srgbClr val="B8860B"/>
          </a:solidFill>
          <a:ln/>
        </p:spPr>
        <p:txBody>
          <a:bodyPr/>
          <a:lstStyle/>
          <a:p>
            <a:endParaRPr/>
          </a:p>
        </p:txBody>
      </p:sp>
      <p:sp>
        <p:nvSpPr>
          <p:cNvPr id="28" name="Text 26"/>
          <p:cNvSpPr/>
          <p:nvPr/>
        </p:nvSpPr>
        <p:spPr>
          <a:xfrm>
            <a:off x="6565392" y="4526280"/>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GuestID → GuestName, GuestPhone, GuestEmail</a:t>
            </a:r>
            <a:endParaRPr lang="en-US" sz="1150" dirty="0"/>
          </a:p>
        </p:txBody>
      </p:sp>
      <p:sp>
        <p:nvSpPr>
          <p:cNvPr id="29" name="Shape 27"/>
          <p:cNvSpPr/>
          <p:nvPr/>
        </p:nvSpPr>
        <p:spPr>
          <a:xfrm>
            <a:off x="868680" y="5047488"/>
            <a:ext cx="109728" cy="109728"/>
          </a:xfrm>
          <a:prstGeom prst="ellipse">
            <a:avLst/>
          </a:prstGeom>
          <a:solidFill>
            <a:srgbClr val="B8860B"/>
          </a:solidFill>
          <a:ln/>
        </p:spPr>
        <p:txBody>
          <a:bodyPr/>
          <a:lstStyle/>
          <a:p>
            <a:endParaRPr/>
          </a:p>
        </p:txBody>
      </p:sp>
      <p:sp>
        <p:nvSpPr>
          <p:cNvPr id="30" name="Text 28"/>
          <p:cNvSpPr/>
          <p:nvPr/>
        </p:nvSpPr>
        <p:spPr>
          <a:xfrm>
            <a:off x="1078992" y="4946904"/>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HotelID → HotelName, HotelCity</a:t>
            </a:r>
            <a:endParaRPr lang="en-US" sz="1150" dirty="0"/>
          </a:p>
        </p:txBody>
      </p:sp>
      <p:sp>
        <p:nvSpPr>
          <p:cNvPr id="31" name="Shape 29"/>
          <p:cNvSpPr/>
          <p:nvPr/>
        </p:nvSpPr>
        <p:spPr>
          <a:xfrm>
            <a:off x="6355080" y="5047488"/>
            <a:ext cx="109728" cy="109728"/>
          </a:xfrm>
          <a:prstGeom prst="ellipse">
            <a:avLst/>
          </a:prstGeom>
          <a:solidFill>
            <a:srgbClr val="B8860B"/>
          </a:solidFill>
          <a:ln/>
        </p:spPr>
        <p:txBody>
          <a:bodyPr/>
          <a:lstStyle/>
          <a:p>
            <a:endParaRPr/>
          </a:p>
        </p:txBody>
      </p:sp>
      <p:sp>
        <p:nvSpPr>
          <p:cNvPr id="32" name="Text 30"/>
          <p:cNvSpPr/>
          <p:nvPr/>
        </p:nvSpPr>
        <p:spPr>
          <a:xfrm>
            <a:off x="6565392" y="4946904"/>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RoomNo → HotelID, RoomTypeID</a:t>
            </a:r>
            <a:endParaRPr lang="en-US" sz="1150" dirty="0"/>
          </a:p>
        </p:txBody>
      </p:sp>
      <p:sp>
        <p:nvSpPr>
          <p:cNvPr id="33" name="Shape 31"/>
          <p:cNvSpPr/>
          <p:nvPr/>
        </p:nvSpPr>
        <p:spPr>
          <a:xfrm>
            <a:off x="868680" y="5468112"/>
            <a:ext cx="109728" cy="109728"/>
          </a:xfrm>
          <a:prstGeom prst="ellipse">
            <a:avLst/>
          </a:prstGeom>
          <a:solidFill>
            <a:srgbClr val="B8860B"/>
          </a:solidFill>
          <a:ln/>
        </p:spPr>
        <p:txBody>
          <a:bodyPr/>
          <a:lstStyle/>
          <a:p>
            <a:endParaRPr/>
          </a:p>
        </p:txBody>
      </p:sp>
      <p:sp>
        <p:nvSpPr>
          <p:cNvPr id="34" name="Text 32"/>
          <p:cNvSpPr/>
          <p:nvPr/>
        </p:nvSpPr>
        <p:spPr>
          <a:xfrm>
            <a:off x="1078992" y="5367528"/>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RoomTypeID → RoomTypeName, PricePerNight</a:t>
            </a:r>
            <a:endParaRPr lang="en-US" sz="1150" dirty="0"/>
          </a:p>
        </p:txBody>
      </p:sp>
      <p:sp>
        <p:nvSpPr>
          <p:cNvPr id="35" name="Shape 33"/>
          <p:cNvSpPr/>
          <p:nvPr/>
        </p:nvSpPr>
        <p:spPr>
          <a:xfrm>
            <a:off x="6355080" y="5468112"/>
            <a:ext cx="109728" cy="109728"/>
          </a:xfrm>
          <a:prstGeom prst="ellipse">
            <a:avLst/>
          </a:prstGeom>
          <a:solidFill>
            <a:srgbClr val="B8860B"/>
          </a:solidFill>
          <a:ln/>
        </p:spPr>
        <p:txBody>
          <a:bodyPr/>
          <a:lstStyle/>
          <a:p>
            <a:endParaRPr/>
          </a:p>
        </p:txBody>
      </p:sp>
      <p:sp>
        <p:nvSpPr>
          <p:cNvPr id="36" name="Text 34"/>
          <p:cNvSpPr/>
          <p:nvPr/>
        </p:nvSpPr>
        <p:spPr>
          <a:xfrm>
            <a:off x="6565392" y="5367528"/>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ServiceID → ServiceName, ServicePrice</a:t>
            </a:r>
            <a:endParaRPr lang="en-US" sz="1150" dirty="0"/>
          </a:p>
        </p:txBody>
      </p:sp>
      <p:sp>
        <p:nvSpPr>
          <p:cNvPr id="37" name="Text 35"/>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Database Pemesanan Hotel SejutaStay</a:t>
            </a:r>
            <a:endParaRPr lang="en-US" sz="900" dirty="0"/>
          </a:p>
        </p:txBody>
      </p:sp>
      <p:sp>
        <p:nvSpPr>
          <p:cNvPr id="38" name="Text 36"/>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BAB 4  ·  METODE</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Solusinya: Normalisasi</a:t>
            </a:r>
            <a:endParaRPr lang="en-US" sz="2800" dirty="0"/>
          </a:p>
        </p:txBody>
      </p:sp>
      <p:sp>
        <p:nvSpPr>
          <p:cNvPr id="5" name="Text 3"/>
          <p:cNvSpPr/>
          <p:nvPr/>
        </p:nvSpPr>
        <p:spPr>
          <a:xfrm>
            <a:off x="868680" y="1371600"/>
            <a:ext cx="10607040" cy="502920"/>
          </a:xfrm>
          <a:prstGeom prst="rect">
            <a:avLst/>
          </a:prstGeom>
          <a:noFill/>
          <a:ln/>
        </p:spPr>
        <p:txBody>
          <a:bodyPr wrap="square" lIns="0" tIns="0" rIns="0" bIns="0" rtlCol="0" anchor="ctr"/>
          <a:lstStyle/>
          <a:p>
            <a:pPr marL="0" indent="0">
              <a:buNone/>
            </a:pPr>
            <a:r>
              <a:rPr lang="en-US" sz="1400" dirty="0">
                <a:solidFill>
                  <a:srgbClr val="5C7984"/>
                </a:solidFill>
                <a:latin typeface="Calibri" pitchFamily="34" charset="0"/>
                <a:ea typeface="Calibri" pitchFamily="34" charset="-122"/>
                <a:cs typeface="Calibri" pitchFamily="34" charset="-120"/>
              </a:rPr>
              <a:t>Normalisasi memecah satu tabel besar menjadi tabel-tabel kecil yang terstruktur — tahap demi tahap — sampai semua tabel berada dalam Third Normal Form (3NF).</a:t>
            </a:r>
            <a:endParaRPr lang="en-US" sz="1400" dirty="0"/>
          </a:p>
        </p:txBody>
      </p:sp>
      <p:sp>
        <p:nvSpPr>
          <p:cNvPr id="6" name="Shape 4"/>
          <p:cNvSpPr/>
          <p:nvPr/>
        </p:nvSpPr>
        <p:spPr>
          <a:xfrm>
            <a:off x="566928" y="2148840"/>
            <a:ext cx="2615184" cy="3246120"/>
          </a:xfrm>
          <a:prstGeom prst="roundRect">
            <a:avLst>
              <a:gd name="adj" fmla="val 2797"/>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7" name="Shape 5"/>
          <p:cNvSpPr/>
          <p:nvPr/>
        </p:nvSpPr>
        <p:spPr>
          <a:xfrm>
            <a:off x="566928" y="2148840"/>
            <a:ext cx="2615184" cy="822960"/>
          </a:xfrm>
          <a:prstGeom prst="rect">
            <a:avLst/>
          </a:prstGeom>
          <a:solidFill>
            <a:srgbClr val="8E9BA3"/>
          </a:solidFill>
          <a:ln/>
        </p:spPr>
        <p:txBody>
          <a:bodyPr/>
          <a:lstStyle/>
          <a:p>
            <a:endParaRPr/>
          </a:p>
        </p:txBody>
      </p:sp>
      <p:sp>
        <p:nvSpPr>
          <p:cNvPr id="8" name="Text 6"/>
          <p:cNvSpPr/>
          <p:nvPr/>
        </p:nvSpPr>
        <p:spPr>
          <a:xfrm>
            <a:off x="566928" y="2203704"/>
            <a:ext cx="2615184"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UNF</a:t>
            </a:r>
            <a:endParaRPr lang="en-US" sz="2600" dirty="0"/>
          </a:p>
        </p:txBody>
      </p:sp>
      <p:sp>
        <p:nvSpPr>
          <p:cNvPr id="9" name="Text 7"/>
          <p:cNvSpPr/>
          <p:nvPr/>
        </p:nvSpPr>
        <p:spPr>
          <a:xfrm>
            <a:off x="566928" y="2679192"/>
            <a:ext cx="2615184" cy="274320"/>
          </a:xfrm>
          <a:prstGeom prst="rect">
            <a:avLst/>
          </a:prstGeom>
          <a:noFill/>
          <a:ln/>
        </p:spPr>
        <p:txBody>
          <a:bodyPr wrap="square" lIns="0" tIns="0" rIns="0" bIns="0" rtlCol="0" anchor="ctr"/>
          <a:lstStyle/>
          <a:p>
            <a:pPr marL="0" indent="0" algn="ctr">
              <a:buNone/>
            </a:pPr>
            <a:r>
              <a:rPr lang="en-US" sz="1050" dirty="0">
                <a:solidFill>
                  <a:srgbClr val="EAF2F5"/>
                </a:solidFill>
                <a:latin typeface="Calibri" pitchFamily="34" charset="0"/>
                <a:ea typeface="Calibri" pitchFamily="34" charset="-122"/>
                <a:cs typeface="Calibri" pitchFamily="34" charset="-120"/>
              </a:rPr>
              <a:t>Belum Normal</a:t>
            </a:r>
            <a:endParaRPr lang="en-US" sz="1050" dirty="0"/>
          </a:p>
        </p:txBody>
      </p:sp>
      <p:sp>
        <p:nvSpPr>
          <p:cNvPr id="10" name="Text 8"/>
          <p:cNvSpPr/>
          <p:nvPr/>
        </p:nvSpPr>
        <p:spPr>
          <a:xfrm>
            <a:off x="749808" y="3154680"/>
            <a:ext cx="2249424" cy="1463040"/>
          </a:xfrm>
          <a:prstGeom prst="rect">
            <a:avLst/>
          </a:prstGeom>
          <a:noFill/>
          <a:ln/>
        </p:spPr>
        <p:txBody>
          <a:bodyPr wrap="square" lIns="0" tIns="0" rIns="0" bIns="0" rtlCol="0" anchor="ctr"/>
          <a:lstStyle/>
          <a:p>
            <a:pPr marL="0" indent="0" algn="ctr">
              <a:buNone/>
            </a:pPr>
            <a:r>
              <a:rPr lang="en-US" sz="1250" dirty="0">
                <a:solidFill>
                  <a:srgbClr val="1E2E36"/>
                </a:solidFill>
                <a:latin typeface="Calibri" pitchFamily="34" charset="0"/>
                <a:ea typeface="Calibri" pitchFamily="34" charset="-122"/>
                <a:cs typeface="Calibri" pitchFamily="34" charset="-120"/>
              </a:rPr>
              <a:t>Titik awal: satu tabel dengan repeating group.</a:t>
            </a:r>
            <a:endParaRPr lang="en-US" sz="1250" dirty="0"/>
          </a:p>
        </p:txBody>
      </p:sp>
      <p:sp>
        <p:nvSpPr>
          <p:cNvPr id="11" name="Shape 9"/>
          <p:cNvSpPr/>
          <p:nvPr/>
        </p:nvSpPr>
        <p:spPr>
          <a:xfrm>
            <a:off x="1069848" y="4754880"/>
            <a:ext cx="1609344" cy="457200"/>
          </a:xfrm>
          <a:prstGeom prst="roundRect">
            <a:avLst>
              <a:gd name="adj" fmla="val 50000"/>
            </a:avLst>
          </a:prstGeom>
          <a:solidFill>
            <a:srgbClr val="FBEFD5"/>
          </a:solidFill>
          <a:ln w="9525">
            <a:solidFill>
              <a:srgbClr val="E6D2A0"/>
            </a:solidFill>
            <a:prstDash val="solid"/>
          </a:ln>
        </p:spPr>
        <p:txBody>
          <a:bodyPr/>
          <a:lstStyle/>
          <a:p>
            <a:endParaRPr/>
          </a:p>
        </p:txBody>
      </p:sp>
      <p:sp>
        <p:nvSpPr>
          <p:cNvPr id="12" name="Text 10"/>
          <p:cNvSpPr/>
          <p:nvPr/>
        </p:nvSpPr>
        <p:spPr>
          <a:xfrm>
            <a:off x="1069848" y="4754880"/>
            <a:ext cx="1609344" cy="457200"/>
          </a:xfrm>
          <a:prstGeom prst="rect">
            <a:avLst/>
          </a:prstGeom>
          <a:noFill/>
          <a:ln/>
        </p:spPr>
        <p:txBody>
          <a:bodyPr wrap="square" lIns="0" tIns="0" rIns="0" bIns="0"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1 tabel</a:t>
            </a:r>
            <a:endParaRPr lang="en-US" sz="1300" dirty="0"/>
          </a:p>
        </p:txBody>
      </p:sp>
      <p:sp>
        <p:nvSpPr>
          <p:cNvPr id="13" name="Shape 11"/>
          <p:cNvSpPr/>
          <p:nvPr/>
        </p:nvSpPr>
        <p:spPr>
          <a:xfrm>
            <a:off x="3136392" y="3474720"/>
            <a:ext cx="310896" cy="310896"/>
          </a:xfrm>
          <a:prstGeom prst="ellipse">
            <a:avLst/>
          </a:prstGeom>
          <a:solidFill>
            <a:srgbClr val="B8860B"/>
          </a:solidFill>
          <a:ln/>
        </p:spPr>
        <p:txBody>
          <a:bodyPr/>
          <a:lstStyle/>
          <a:p>
            <a:endParaRPr/>
          </a:p>
        </p:txBody>
      </p:sp>
      <p:sp>
        <p:nvSpPr>
          <p:cNvPr id="14" name="Text 12"/>
          <p:cNvSpPr/>
          <p:nvPr/>
        </p:nvSpPr>
        <p:spPr>
          <a:xfrm>
            <a:off x="3136392" y="3447288"/>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3383280" y="2148840"/>
            <a:ext cx="2615184" cy="3246120"/>
          </a:xfrm>
          <a:prstGeom prst="roundRect">
            <a:avLst>
              <a:gd name="adj" fmla="val 2797"/>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6" name="Shape 14"/>
          <p:cNvSpPr/>
          <p:nvPr/>
        </p:nvSpPr>
        <p:spPr>
          <a:xfrm>
            <a:off x="3383280" y="2148840"/>
            <a:ext cx="2615184" cy="822960"/>
          </a:xfrm>
          <a:prstGeom prst="rect">
            <a:avLst/>
          </a:prstGeom>
          <a:solidFill>
            <a:srgbClr val="1C7293"/>
          </a:solidFill>
          <a:ln/>
        </p:spPr>
        <p:txBody>
          <a:bodyPr/>
          <a:lstStyle/>
          <a:p>
            <a:endParaRPr/>
          </a:p>
        </p:txBody>
      </p:sp>
      <p:sp>
        <p:nvSpPr>
          <p:cNvPr id="17" name="Text 15"/>
          <p:cNvSpPr/>
          <p:nvPr/>
        </p:nvSpPr>
        <p:spPr>
          <a:xfrm>
            <a:off x="3383280" y="2203704"/>
            <a:ext cx="2615184"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1NF</a:t>
            </a:r>
            <a:endParaRPr lang="en-US" sz="2600" dirty="0"/>
          </a:p>
        </p:txBody>
      </p:sp>
      <p:sp>
        <p:nvSpPr>
          <p:cNvPr id="18" name="Text 16"/>
          <p:cNvSpPr/>
          <p:nvPr/>
        </p:nvSpPr>
        <p:spPr>
          <a:xfrm>
            <a:off x="3383280" y="2679192"/>
            <a:ext cx="2615184" cy="274320"/>
          </a:xfrm>
          <a:prstGeom prst="rect">
            <a:avLst/>
          </a:prstGeom>
          <a:noFill/>
          <a:ln/>
        </p:spPr>
        <p:txBody>
          <a:bodyPr wrap="square" lIns="0" tIns="0" rIns="0" bIns="0" rtlCol="0" anchor="ctr"/>
          <a:lstStyle/>
          <a:p>
            <a:pPr marL="0" indent="0" algn="ctr">
              <a:buNone/>
            </a:pPr>
            <a:r>
              <a:rPr lang="en-US" sz="1050" dirty="0">
                <a:solidFill>
                  <a:srgbClr val="EAF2F5"/>
                </a:solidFill>
                <a:latin typeface="Calibri" pitchFamily="34" charset="0"/>
                <a:ea typeface="Calibri" pitchFamily="34" charset="-122"/>
                <a:cs typeface="Calibri" pitchFamily="34" charset="-120"/>
              </a:rPr>
              <a:t>Bentuk Normal Pertama</a:t>
            </a:r>
            <a:endParaRPr lang="en-US" sz="1050" dirty="0"/>
          </a:p>
        </p:txBody>
      </p:sp>
      <p:sp>
        <p:nvSpPr>
          <p:cNvPr id="19" name="Text 17"/>
          <p:cNvSpPr/>
          <p:nvPr/>
        </p:nvSpPr>
        <p:spPr>
          <a:xfrm>
            <a:off x="3566160" y="3154680"/>
            <a:ext cx="2249424" cy="1463040"/>
          </a:xfrm>
          <a:prstGeom prst="rect">
            <a:avLst/>
          </a:prstGeom>
          <a:noFill/>
          <a:ln/>
        </p:spPr>
        <p:txBody>
          <a:bodyPr wrap="square" lIns="0" tIns="0" rIns="0" bIns="0" rtlCol="0" anchor="ctr"/>
          <a:lstStyle/>
          <a:p>
            <a:pPr marL="0" indent="0" algn="ctr">
              <a:buNone/>
            </a:pPr>
            <a:r>
              <a:rPr lang="en-US" sz="1250" dirty="0">
                <a:solidFill>
                  <a:srgbClr val="1E2E36"/>
                </a:solidFill>
                <a:latin typeface="Calibri" pitchFamily="34" charset="0"/>
                <a:ea typeface="Calibri" pitchFamily="34" charset="-122"/>
                <a:cs typeface="Calibri" pitchFamily="34" charset="-120"/>
              </a:rPr>
              <a:t>Hilangkan repeating group — setiap sel hanya berisi satu nilai.</a:t>
            </a:r>
            <a:endParaRPr lang="en-US" sz="1250" dirty="0"/>
          </a:p>
        </p:txBody>
      </p:sp>
      <p:sp>
        <p:nvSpPr>
          <p:cNvPr id="20" name="Shape 18"/>
          <p:cNvSpPr/>
          <p:nvPr/>
        </p:nvSpPr>
        <p:spPr>
          <a:xfrm>
            <a:off x="3886200" y="4754880"/>
            <a:ext cx="1609344" cy="457200"/>
          </a:xfrm>
          <a:prstGeom prst="roundRect">
            <a:avLst>
              <a:gd name="adj" fmla="val 50000"/>
            </a:avLst>
          </a:prstGeom>
          <a:solidFill>
            <a:srgbClr val="FBEFD5"/>
          </a:solidFill>
          <a:ln w="9525">
            <a:solidFill>
              <a:srgbClr val="E6D2A0"/>
            </a:solidFill>
            <a:prstDash val="solid"/>
          </a:ln>
        </p:spPr>
        <p:txBody>
          <a:bodyPr/>
          <a:lstStyle/>
          <a:p>
            <a:endParaRPr/>
          </a:p>
        </p:txBody>
      </p:sp>
      <p:sp>
        <p:nvSpPr>
          <p:cNvPr id="21" name="Text 19"/>
          <p:cNvSpPr/>
          <p:nvPr/>
        </p:nvSpPr>
        <p:spPr>
          <a:xfrm>
            <a:off x="3886200" y="4754880"/>
            <a:ext cx="1609344" cy="457200"/>
          </a:xfrm>
          <a:prstGeom prst="rect">
            <a:avLst/>
          </a:prstGeom>
          <a:noFill/>
          <a:ln/>
        </p:spPr>
        <p:txBody>
          <a:bodyPr wrap="square" lIns="0" tIns="0" rIns="0" bIns="0"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3 tabel</a:t>
            </a:r>
            <a:endParaRPr lang="en-US" sz="1300" dirty="0"/>
          </a:p>
        </p:txBody>
      </p:sp>
      <p:sp>
        <p:nvSpPr>
          <p:cNvPr id="22" name="Shape 20"/>
          <p:cNvSpPr/>
          <p:nvPr/>
        </p:nvSpPr>
        <p:spPr>
          <a:xfrm>
            <a:off x="5952744" y="3474720"/>
            <a:ext cx="310896" cy="310896"/>
          </a:xfrm>
          <a:prstGeom prst="ellipse">
            <a:avLst/>
          </a:prstGeom>
          <a:solidFill>
            <a:srgbClr val="B8860B"/>
          </a:solidFill>
          <a:ln/>
        </p:spPr>
        <p:txBody>
          <a:bodyPr/>
          <a:lstStyle/>
          <a:p>
            <a:endParaRPr/>
          </a:p>
        </p:txBody>
      </p:sp>
      <p:sp>
        <p:nvSpPr>
          <p:cNvPr id="23" name="Text 21"/>
          <p:cNvSpPr/>
          <p:nvPr/>
        </p:nvSpPr>
        <p:spPr>
          <a:xfrm>
            <a:off x="5952744" y="3447288"/>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4" name="Shape 22"/>
          <p:cNvSpPr/>
          <p:nvPr/>
        </p:nvSpPr>
        <p:spPr>
          <a:xfrm>
            <a:off x="6199632" y="2148840"/>
            <a:ext cx="2615184" cy="3246120"/>
          </a:xfrm>
          <a:prstGeom prst="roundRect">
            <a:avLst>
              <a:gd name="adj" fmla="val 2797"/>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5" name="Shape 23"/>
          <p:cNvSpPr/>
          <p:nvPr/>
        </p:nvSpPr>
        <p:spPr>
          <a:xfrm>
            <a:off x="6199632" y="2148840"/>
            <a:ext cx="2615184" cy="822960"/>
          </a:xfrm>
          <a:prstGeom prst="rect">
            <a:avLst/>
          </a:prstGeom>
          <a:solidFill>
            <a:srgbClr val="1C7293"/>
          </a:solidFill>
          <a:ln/>
        </p:spPr>
        <p:txBody>
          <a:bodyPr/>
          <a:lstStyle/>
          <a:p>
            <a:endParaRPr/>
          </a:p>
        </p:txBody>
      </p:sp>
      <p:sp>
        <p:nvSpPr>
          <p:cNvPr id="26" name="Text 24"/>
          <p:cNvSpPr/>
          <p:nvPr/>
        </p:nvSpPr>
        <p:spPr>
          <a:xfrm>
            <a:off x="6199632" y="2203704"/>
            <a:ext cx="2615184"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2NF</a:t>
            </a:r>
            <a:endParaRPr lang="en-US" sz="2600" dirty="0"/>
          </a:p>
        </p:txBody>
      </p:sp>
      <p:sp>
        <p:nvSpPr>
          <p:cNvPr id="27" name="Text 25"/>
          <p:cNvSpPr/>
          <p:nvPr/>
        </p:nvSpPr>
        <p:spPr>
          <a:xfrm>
            <a:off x="6199632" y="2679192"/>
            <a:ext cx="2615184" cy="274320"/>
          </a:xfrm>
          <a:prstGeom prst="rect">
            <a:avLst/>
          </a:prstGeom>
          <a:noFill/>
          <a:ln/>
        </p:spPr>
        <p:txBody>
          <a:bodyPr wrap="square" lIns="0" tIns="0" rIns="0" bIns="0" rtlCol="0" anchor="ctr"/>
          <a:lstStyle/>
          <a:p>
            <a:pPr marL="0" indent="0" algn="ctr">
              <a:buNone/>
            </a:pPr>
            <a:r>
              <a:rPr lang="en-US" sz="1050" dirty="0">
                <a:solidFill>
                  <a:srgbClr val="EAF2F5"/>
                </a:solidFill>
                <a:latin typeface="Calibri" pitchFamily="34" charset="0"/>
                <a:ea typeface="Calibri" pitchFamily="34" charset="-122"/>
                <a:cs typeface="Calibri" pitchFamily="34" charset="-120"/>
              </a:rPr>
              <a:t>Bentuk Normal Kedua</a:t>
            </a:r>
            <a:endParaRPr lang="en-US" sz="1050" dirty="0"/>
          </a:p>
        </p:txBody>
      </p:sp>
      <p:sp>
        <p:nvSpPr>
          <p:cNvPr id="28" name="Text 26"/>
          <p:cNvSpPr/>
          <p:nvPr/>
        </p:nvSpPr>
        <p:spPr>
          <a:xfrm>
            <a:off x="6382512" y="3154680"/>
            <a:ext cx="2249424" cy="1463040"/>
          </a:xfrm>
          <a:prstGeom prst="rect">
            <a:avLst/>
          </a:prstGeom>
          <a:noFill/>
          <a:ln/>
        </p:spPr>
        <p:txBody>
          <a:bodyPr wrap="square" lIns="0" tIns="0" rIns="0" bIns="0" rtlCol="0" anchor="ctr"/>
          <a:lstStyle/>
          <a:p>
            <a:pPr marL="0" indent="0" algn="ctr">
              <a:buNone/>
            </a:pPr>
            <a:r>
              <a:rPr lang="en-US" sz="1250" dirty="0">
                <a:solidFill>
                  <a:srgbClr val="1E2E36"/>
                </a:solidFill>
                <a:latin typeface="Calibri" pitchFamily="34" charset="0"/>
                <a:ea typeface="Calibri" pitchFamily="34" charset="-122"/>
                <a:cs typeface="Calibri" pitchFamily="34" charset="-120"/>
              </a:rPr>
              <a:t>Hilangkan partial dependency pada kunci gabungan.</a:t>
            </a:r>
            <a:endParaRPr lang="en-US" sz="1250" dirty="0"/>
          </a:p>
        </p:txBody>
      </p:sp>
      <p:sp>
        <p:nvSpPr>
          <p:cNvPr id="29" name="Shape 27"/>
          <p:cNvSpPr/>
          <p:nvPr/>
        </p:nvSpPr>
        <p:spPr>
          <a:xfrm>
            <a:off x="6702552" y="4754880"/>
            <a:ext cx="1609344" cy="457200"/>
          </a:xfrm>
          <a:prstGeom prst="roundRect">
            <a:avLst>
              <a:gd name="adj" fmla="val 50000"/>
            </a:avLst>
          </a:prstGeom>
          <a:solidFill>
            <a:srgbClr val="FBEFD5"/>
          </a:solidFill>
          <a:ln w="9525">
            <a:solidFill>
              <a:srgbClr val="E6D2A0"/>
            </a:solidFill>
            <a:prstDash val="solid"/>
          </a:ln>
        </p:spPr>
        <p:txBody>
          <a:bodyPr/>
          <a:lstStyle/>
          <a:p>
            <a:endParaRPr/>
          </a:p>
        </p:txBody>
      </p:sp>
      <p:sp>
        <p:nvSpPr>
          <p:cNvPr id="30" name="Text 28"/>
          <p:cNvSpPr/>
          <p:nvPr/>
        </p:nvSpPr>
        <p:spPr>
          <a:xfrm>
            <a:off x="6702552" y="4754880"/>
            <a:ext cx="1609344" cy="457200"/>
          </a:xfrm>
          <a:prstGeom prst="rect">
            <a:avLst/>
          </a:prstGeom>
          <a:noFill/>
          <a:ln/>
        </p:spPr>
        <p:txBody>
          <a:bodyPr wrap="square" lIns="0" tIns="0" rIns="0" bIns="0"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5 tabel</a:t>
            </a:r>
            <a:endParaRPr lang="en-US" sz="1300" dirty="0"/>
          </a:p>
        </p:txBody>
      </p:sp>
      <p:sp>
        <p:nvSpPr>
          <p:cNvPr id="31" name="Shape 29"/>
          <p:cNvSpPr/>
          <p:nvPr/>
        </p:nvSpPr>
        <p:spPr>
          <a:xfrm>
            <a:off x="8769096" y="3474720"/>
            <a:ext cx="310896" cy="310896"/>
          </a:xfrm>
          <a:prstGeom prst="ellipse">
            <a:avLst/>
          </a:prstGeom>
          <a:solidFill>
            <a:srgbClr val="B8860B"/>
          </a:solidFill>
          <a:ln/>
        </p:spPr>
        <p:txBody>
          <a:bodyPr/>
          <a:lstStyle/>
          <a:p>
            <a:endParaRPr/>
          </a:p>
        </p:txBody>
      </p:sp>
      <p:sp>
        <p:nvSpPr>
          <p:cNvPr id="32" name="Text 30"/>
          <p:cNvSpPr/>
          <p:nvPr/>
        </p:nvSpPr>
        <p:spPr>
          <a:xfrm>
            <a:off x="8769096" y="3447288"/>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3" name="Shape 31"/>
          <p:cNvSpPr/>
          <p:nvPr/>
        </p:nvSpPr>
        <p:spPr>
          <a:xfrm>
            <a:off x="9015984" y="2148840"/>
            <a:ext cx="2615184" cy="3246120"/>
          </a:xfrm>
          <a:prstGeom prst="roundRect">
            <a:avLst>
              <a:gd name="adj" fmla="val 2797"/>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4" name="Shape 32"/>
          <p:cNvSpPr/>
          <p:nvPr/>
        </p:nvSpPr>
        <p:spPr>
          <a:xfrm>
            <a:off x="9015984" y="2148840"/>
            <a:ext cx="2615184" cy="822960"/>
          </a:xfrm>
          <a:prstGeom prst="rect">
            <a:avLst/>
          </a:prstGeom>
          <a:solidFill>
            <a:srgbClr val="0C4A60"/>
          </a:solidFill>
          <a:ln/>
        </p:spPr>
        <p:txBody>
          <a:bodyPr/>
          <a:lstStyle/>
          <a:p>
            <a:endParaRPr/>
          </a:p>
        </p:txBody>
      </p:sp>
      <p:sp>
        <p:nvSpPr>
          <p:cNvPr id="35" name="Text 33"/>
          <p:cNvSpPr/>
          <p:nvPr/>
        </p:nvSpPr>
        <p:spPr>
          <a:xfrm>
            <a:off x="9015984" y="2203704"/>
            <a:ext cx="2615184"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3NF</a:t>
            </a:r>
            <a:endParaRPr lang="en-US" sz="2600" dirty="0"/>
          </a:p>
        </p:txBody>
      </p:sp>
      <p:sp>
        <p:nvSpPr>
          <p:cNvPr id="36" name="Text 34"/>
          <p:cNvSpPr/>
          <p:nvPr/>
        </p:nvSpPr>
        <p:spPr>
          <a:xfrm>
            <a:off x="9015984" y="2679192"/>
            <a:ext cx="2615184" cy="274320"/>
          </a:xfrm>
          <a:prstGeom prst="rect">
            <a:avLst/>
          </a:prstGeom>
          <a:noFill/>
          <a:ln/>
        </p:spPr>
        <p:txBody>
          <a:bodyPr wrap="square" lIns="0" tIns="0" rIns="0" bIns="0" rtlCol="0" anchor="ctr"/>
          <a:lstStyle/>
          <a:p>
            <a:pPr marL="0" indent="0" algn="ctr">
              <a:buNone/>
            </a:pPr>
            <a:r>
              <a:rPr lang="en-US" sz="1050" dirty="0">
                <a:solidFill>
                  <a:srgbClr val="EAF2F5"/>
                </a:solidFill>
                <a:latin typeface="Calibri" pitchFamily="34" charset="0"/>
                <a:ea typeface="Calibri" pitchFamily="34" charset="-122"/>
                <a:cs typeface="Calibri" pitchFamily="34" charset="-120"/>
              </a:rPr>
              <a:t>Bentuk Normal Ketiga</a:t>
            </a:r>
            <a:endParaRPr lang="en-US" sz="1050" dirty="0"/>
          </a:p>
        </p:txBody>
      </p:sp>
      <p:sp>
        <p:nvSpPr>
          <p:cNvPr id="37" name="Text 35"/>
          <p:cNvSpPr/>
          <p:nvPr/>
        </p:nvSpPr>
        <p:spPr>
          <a:xfrm>
            <a:off x="9198864" y="3154680"/>
            <a:ext cx="2249424" cy="1463040"/>
          </a:xfrm>
          <a:prstGeom prst="rect">
            <a:avLst/>
          </a:prstGeom>
          <a:noFill/>
          <a:ln/>
        </p:spPr>
        <p:txBody>
          <a:bodyPr wrap="square" lIns="0" tIns="0" rIns="0" bIns="0" rtlCol="0" anchor="ctr"/>
          <a:lstStyle/>
          <a:p>
            <a:pPr marL="0" indent="0" algn="ctr">
              <a:buNone/>
            </a:pPr>
            <a:r>
              <a:rPr lang="en-US" sz="1250" dirty="0">
                <a:solidFill>
                  <a:srgbClr val="1E2E36"/>
                </a:solidFill>
                <a:latin typeface="Calibri" pitchFamily="34" charset="0"/>
                <a:ea typeface="Calibri" pitchFamily="34" charset="-122"/>
                <a:cs typeface="Calibri" pitchFamily="34" charset="-120"/>
              </a:rPr>
              <a:t>Hilangkan transitive dependency antar kolom non-kunci.</a:t>
            </a:r>
            <a:endParaRPr lang="en-US" sz="1250" dirty="0"/>
          </a:p>
        </p:txBody>
      </p:sp>
      <p:sp>
        <p:nvSpPr>
          <p:cNvPr id="38" name="Shape 36"/>
          <p:cNvSpPr/>
          <p:nvPr/>
        </p:nvSpPr>
        <p:spPr>
          <a:xfrm>
            <a:off x="9518904" y="4754880"/>
            <a:ext cx="1609344" cy="457200"/>
          </a:xfrm>
          <a:prstGeom prst="roundRect">
            <a:avLst>
              <a:gd name="adj" fmla="val 50000"/>
            </a:avLst>
          </a:prstGeom>
          <a:solidFill>
            <a:srgbClr val="FBEFD5"/>
          </a:solidFill>
          <a:ln w="9525">
            <a:solidFill>
              <a:srgbClr val="E6D2A0"/>
            </a:solidFill>
            <a:prstDash val="solid"/>
          </a:ln>
        </p:spPr>
        <p:txBody>
          <a:bodyPr/>
          <a:lstStyle/>
          <a:p>
            <a:endParaRPr/>
          </a:p>
        </p:txBody>
      </p:sp>
      <p:sp>
        <p:nvSpPr>
          <p:cNvPr id="39" name="Text 37"/>
          <p:cNvSpPr/>
          <p:nvPr/>
        </p:nvSpPr>
        <p:spPr>
          <a:xfrm>
            <a:off x="9518904" y="4754880"/>
            <a:ext cx="1609344" cy="457200"/>
          </a:xfrm>
          <a:prstGeom prst="rect">
            <a:avLst/>
          </a:prstGeom>
          <a:noFill/>
          <a:ln/>
        </p:spPr>
        <p:txBody>
          <a:bodyPr wrap="square" lIns="0" tIns="0" rIns="0" bIns="0"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8 tabel</a:t>
            </a:r>
            <a:endParaRPr lang="en-US" sz="1300" dirty="0"/>
          </a:p>
        </p:txBody>
      </p:sp>
      <p:sp>
        <p:nvSpPr>
          <p:cNvPr id="40" name="Text 38"/>
          <p:cNvSpPr/>
          <p:nvPr/>
        </p:nvSpPr>
        <p:spPr>
          <a:xfrm>
            <a:off x="566928" y="5623560"/>
            <a:ext cx="11064240" cy="365760"/>
          </a:xfrm>
          <a:prstGeom prst="rect">
            <a:avLst/>
          </a:prstGeom>
          <a:noFill/>
          <a:ln/>
        </p:spPr>
        <p:txBody>
          <a:bodyPr wrap="square" lIns="0" tIns="0" rIns="0" bIns="0" rtlCol="0" anchor="ctr"/>
          <a:lstStyle/>
          <a:p>
            <a:pPr marL="0" indent="0" algn="ctr">
              <a:buNone/>
            </a:pPr>
            <a:r>
              <a:rPr lang="en-US" sz="1250" i="1" dirty="0">
                <a:solidFill>
                  <a:srgbClr val="5C7984"/>
                </a:solidFill>
                <a:latin typeface="Calibri" pitchFamily="34" charset="0"/>
                <a:ea typeface="Calibri" pitchFamily="34" charset="-122"/>
                <a:cs typeface="Calibri" pitchFamily="34" charset="-120"/>
              </a:rPr>
              <a:t>Setiap tahap tidak mengubah isi data — hanya menyusun ulang strukturnya agar lebih rapi dan aman.</a:t>
            </a:r>
            <a:endParaRPr lang="en-US" sz="1250" dirty="0"/>
          </a:p>
        </p:txBody>
      </p:sp>
      <p:sp>
        <p:nvSpPr>
          <p:cNvPr id="41" name="Text 39"/>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Database Pemesanan Hotel SejutaStay</a:t>
            </a:r>
            <a:endParaRPr lang="en-US" sz="900" dirty="0"/>
          </a:p>
        </p:txBody>
      </p:sp>
      <p:sp>
        <p:nvSpPr>
          <p:cNvPr id="42" name="Text 40"/>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NORMALISASI</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Langkah 1 — First Normal Form (1NF)</a:t>
            </a:r>
            <a:endParaRPr lang="en-US" sz="2800" dirty="0"/>
          </a:p>
        </p:txBody>
      </p:sp>
      <p:sp>
        <p:nvSpPr>
          <p:cNvPr id="5" name="Shape 3"/>
          <p:cNvSpPr/>
          <p:nvPr/>
        </p:nvSpPr>
        <p:spPr>
          <a:xfrm>
            <a:off x="10927080" y="457200"/>
            <a:ext cx="713232" cy="713232"/>
          </a:xfrm>
          <a:prstGeom prst="ellipse">
            <a:avLst/>
          </a:prstGeom>
          <a:solidFill>
            <a:srgbClr val="1C7293"/>
          </a:solidFill>
          <a:ln/>
        </p:spPr>
        <p:txBody>
          <a:bodyPr/>
          <a:lstStyle/>
          <a:p>
            <a:endParaRPr/>
          </a:p>
        </p:txBody>
      </p:sp>
      <p:sp>
        <p:nvSpPr>
          <p:cNvPr id="6" name="Text 4"/>
          <p:cNvSpPr/>
          <p:nvPr/>
        </p:nvSpPr>
        <p:spPr>
          <a:xfrm>
            <a:off x="10927080" y="457200"/>
            <a:ext cx="713232" cy="713232"/>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1NF</a:t>
            </a:r>
            <a:endParaRPr lang="en-US" sz="1900" dirty="0"/>
          </a:p>
        </p:txBody>
      </p:sp>
      <p:sp>
        <p:nvSpPr>
          <p:cNvPr id="7" name="Shape 5"/>
          <p:cNvSpPr/>
          <p:nvPr/>
        </p:nvSpPr>
        <p:spPr>
          <a:xfrm>
            <a:off x="566928" y="1417320"/>
            <a:ext cx="11064240" cy="640080"/>
          </a:xfrm>
          <a:prstGeom prst="roundRect">
            <a:avLst>
              <a:gd name="adj" fmla="val 8571"/>
            </a:avLst>
          </a:prstGeom>
          <a:solidFill>
            <a:srgbClr val="E7F1F4"/>
          </a:solidFill>
          <a:ln w="12700">
            <a:solidFill>
              <a:srgbClr val="C9DDE3"/>
            </a:solidFill>
            <a:prstDash val="solid"/>
          </a:ln>
        </p:spPr>
        <p:txBody>
          <a:bodyPr/>
          <a:lstStyle/>
          <a:p>
            <a:endParaRPr/>
          </a:p>
        </p:txBody>
      </p:sp>
      <p:sp>
        <p:nvSpPr>
          <p:cNvPr id="8" name="Text 6"/>
          <p:cNvSpPr/>
          <p:nvPr/>
        </p:nvSpPr>
        <p:spPr>
          <a:xfrm>
            <a:off x="868680" y="1417320"/>
            <a:ext cx="10515600" cy="64008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ATURAN:   </a:t>
            </a:r>
            <a:r>
              <a:rPr lang="en-US" sz="1400" dirty="0">
                <a:solidFill>
                  <a:srgbClr val="1E2E36"/>
                </a:solidFill>
                <a:latin typeface="Calibri" pitchFamily="34" charset="0"/>
                <a:ea typeface="Calibri" pitchFamily="34" charset="-122"/>
                <a:cs typeface="Calibri" pitchFamily="34" charset="-120"/>
              </a:rPr>
              <a:t>setiap sel hanya boleh berisi SATU nilai — hilangkan semua repeating group.</a:t>
            </a:r>
            <a:endParaRPr lang="en-US" sz="1400" dirty="0"/>
          </a:p>
        </p:txBody>
      </p:sp>
      <p:sp>
        <p:nvSpPr>
          <p:cNvPr id="9" name="Shape 7"/>
          <p:cNvSpPr/>
          <p:nvPr/>
        </p:nvSpPr>
        <p:spPr>
          <a:xfrm>
            <a:off x="566928" y="2286000"/>
            <a:ext cx="5349240" cy="2194560"/>
          </a:xfrm>
          <a:prstGeom prst="roundRect">
            <a:avLst>
              <a:gd name="adj" fmla="val 333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0" name="Text 8"/>
          <p:cNvSpPr/>
          <p:nvPr/>
        </p:nvSpPr>
        <p:spPr>
          <a:xfrm>
            <a:off x="777240" y="2395728"/>
            <a:ext cx="4937760" cy="274320"/>
          </a:xfrm>
          <a:prstGeom prst="rect">
            <a:avLst/>
          </a:prstGeom>
          <a:noFill/>
          <a:ln/>
        </p:spPr>
        <p:txBody>
          <a:bodyPr wrap="square" lIns="0" tIns="0" rIns="0" bIns="0" rtlCol="0" anchor="ctr"/>
          <a:lstStyle/>
          <a:p>
            <a:pPr marL="0" indent="0">
              <a:buNone/>
            </a:pPr>
            <a:r>
              <a:rPr lang="en-US" sz="1150" b="1" dirty="0">
                <a:solidFill>
                  <a:srgbClr val="B23A48"/>
                </a:solidFill>
                <a:latin typeface="Calibri" pitchFamily="34" charset="0"/>
                <a:ea typeface="Calibri" pitchFamily="34" charset="-122"/>
                <a:cs typeface="Calibri" pitchFamily="34" charset="-120"/>
              </a:rPr>
              <a:t>SEBELUM  —  repeating group</a:t>
            </a:r>
            <a:endParaRPr lang="en-US" sz="1150" dirty="0"/>
          </a:p>
        </p:txBody>
      </p:sp>
      <p:sp>
        <p:nvSpPr>
          <p:cNvPr id="11" name="Shape 9"/>
          <p:cNvSpPr/>
          <p:nvPr/>
        </p:nvSpPr>
        <p:spPr>
          <a:xfrm>
            <a:off x="868680" y="2697480"/>
            <a:ext cx="2103120" cy="457200"/>
          </a:xfrm>
          <a:prstGeom prst="rect">
            <a:avLst/>
          </a:prstGeom>
          <a:solidFill>
            <a:srgbClr val="F7E9EA"/>
          </a:solidFill>
          <a:ln w="12700">
            <a:solidFill>
              <a:srgbClr val="B23A48"/>
            </a:solidFill>
            <a:prstDash val="solid"/>
          </a:ln>
        </p:spPr>
        <p:txBody>
          <a:bodyPr/>
          <a:lstStyle/>
          <a:p>
            <a:endParaRPr/>
          </a:p>
        </p:txBody>
      </p:sp>
      <p:sp>
        <p:nvSpPr>
          <p:cNvPr id="12" name="Text 10"/>
          <p:cNvSpPr/>
          <p:nvPr/>
        </p:nvSpPr>
        <p:spPr>
          <a:xfrm>
            <a:off x="868680" y="2697480"/>
            <a:ext cx="2103120" cy="457200"/>
          </a:xfrm>
          <a:prstGeom prst="rect">
            <a:avLst/>
          </a:prstGeom>
          <a:noFill/>
          <a:ln/>
        </p:spPr>
        <p:txBody>
          <a:bodyPr wrap="square" lIns="0" tIns="0" rIns="0" bIns="0" rtlCol="0" anchor="ctr"/>
          <a:lstStyle/>
          <a:p>
            <a:pPr marL="0" indent="0" algn="ctr">
              <a:buNone/>
            </a:pPr>
            <a:r>
              <a:rPr lang="en-US" sz="1200" dirty="0">
                <a:solidFill>
                  <a:srgbClr val="1E2E36"/>
                </a:solidFill>
                <a:latin typeface="Calibri" pitchFamily="34" charset="0"/>
                <a:ea typeface="Calibri" pitchFamily="34" charset="-122"/>
                <a:cs typeface="Calibri" pitchFamily="34" charset="-120"/>
              </a:rPr>
              <a:t>B002</a:t>
            </a:r>
            <a:endParaRPr lang="en-US" sz="1200" dirty="0"/>
          </a:p>
        </p:txBody>
      </p:sp>
      <p:sp>
        <p:nvSpPr>
          <p:cNvPr id="13" name="Shape 11"/>
          <p:cNvSpPr/>
          <p:nvPr/>
        </p:nvSpPr>
        <p:spPr>
          <a:xfrm>
            <a:off x="2971800" y="2697480"/>
            <a:ext cx="2697480" cy="457200"/>
          </a:xfrm>
          <a:prstGeom prst="rect">
            <a:avLst/>
          </a:prstGeom>
          <a:solidFill>
            <a:srgbClr val="F7E9EA"/>
          </a:solidFill>
          <a:ln w="12700">
            <a:solidFill>
              <a:srgbClr val="B23A48"/>
            </a:solidFill>
            <a:prstDash val="solid"/>
          </a:ln>
        </p:spPr>
        <p:txBody>
          <a:bodyPr/>
          <a:lstStyle/>
          <a:p>
            <a:endParaRPr/>
          </a:p>
        </p:txBody>
      </p:sp>
      <p:sp>
        <p:nvSpPr>
          <p:cNvPr id="14" name="Text 12"/>
          <p:cNvSpPr/>
          <p:nvPr/>
        </p:nvSpPr>
        <p:spPr>
          <a:xfrm>
            <a:off x="2971800" y="2697480"/>
            <a:ext cx="2697480" cy="457200"/>
          </a:xfrm>
          <a:prstGeom prst="rect">
            <a:avLst/>
          </a:prstGeom>
          <a:noFill/>
          <a:ln/>
        </p:spPr>
        <p:txBody>
          <a:bodyPr wrap="square" lIns="0" tIns="0" rIns="0" bIns="0" rtlCol="0" anchor="ctr"/>
          <a:lstStyle/>
          <a:p>
            <a:pPr marL="0" indent="0" algn="ctr">
              <a:buNone/>
            </a:pPr>
            <a:r>
              <a:rPr lang="en-US" sz="1200" b="1" dirty="0">
                <a:solidFill>
                  <a:srgbClr val="B23A48"/>
                </a:solidFill>
                <a:latin typeface="Calibri" pitchFamily="34" charset="0"/>
                <a:ea typeface="Calibri" pitchFamily="34" charset="-122"/>
                <a:cs typeface="Calibri" pitchFamily="34" charset="-120"/>
              </a:rPr>
              <a:t>201 ; 202</a:t>
            </a:r>
            <a:endParaRPr lang="en-US" sz="1200" dirty="0"/>
          </a:p>
        </p:txBody>
      </p:sp>
      <p:sp>
        <p:nvSpPr>
          <p:cNvPr id="15" name="Text 13"/>
          <p:cNvSpPr/>
          <p:nvPr/>
        </p:nvSpPr>
        <p:spPr>
          <a:xfrm>
            <a:off x="868680" y="3291840"/>
            <a:ext cx="4800600" cy="868680"/>
          </a:xfrm>
          <a:prstGeom prst="rect">
            <a:avLst/>
          </a:prstGeom>
          <a:noFill/>
          <a:ln/>
        </p:spPr>
        <p:txBody>
          <a:bodyPr wrap="square" lIns="0" tIns="0" rIns="0" bIns="0" rtlCol="0" anchor="ctr"/>
          <a:lstStyle/>
          <a:p>
            <a:pPr marL="0" indent="0">
              <a:buNone/>
            </a:pPr>
            <a:r>
              <a:rPr lang="en-US" sz="1200" dirty="0">
                <a:solidFill>
                  <a:srgbClr val="5C7984"/>
                </a:solidFill>
                <a:latin typeface="Calibri" pitchFamily="34" charset="0"/>
                <a:ea typeface="Calibri" pitchFamily="34" charset="-122"/>
                <a:cs typeface="Calibri" pitchFamily="34" charset="-120"/>
              </a:rPr>
              <a:t>Satu baris booking menyimpan dua kamar dalam satu sel — tidak boleh.</a:t>
            </a:r>
            <a:endParaRPr lang="en-US" sz="1200" dirty="0"/>
          </a:p>
        </p:txBody>
      </p:sp>
      <p:sp>
        <p:nvSpPr>
          <p:cNvPr id="16" name="Shape 14"/>
          <p:cNvSpPr/>
          <p:nvPr/>
        </p:nvSpPr>
        <p:spPr>
          <a:xfrm>
            <a:off x="6281928" y="2286000"/>
            <a:ext cx="5349240" cy="2194560"/>
          </a:xfrm>
          <a:prstGeom prst="roundRect">
            <a:avLst>
              <a:gd name="adj" fmla="val 333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7" name="Text 15"/>
          <p:cNvSpPr/>
          <p:nvPr/>
        </p:nvSpPr>
        <p:spPr>
          <a:xfrm>
            <a:off x="6492240" y="2395728"/>
            <a:ext cx="4937760" cy="274320"/>
          </a:xfrm>
          <a:prstGeom prst="rect">
            <a:avLst/>
          </a:prstGeom>
          <a:noFill/>
          <a:ln/>
        </p:spPr>
        <p:txBody>
          <a:bodyPr wrap="square" lIns="0" tIns="0" rIns="0" bIns="0" rtlCol="0" anchor="ctr"/>
          <a:lstStyle/>
          <a:p>
            <a:pPr marL="0" indent="0">
              <a:buNone/>
            </a:pPr>
            <a:r>
              <a:rPr lang="en-US" sz="1150" b="1" dirty="0">
                <a:solidFill>
                  <a:srgbClr val="2E7D54"/>
                </a:solidFill>
                <a:latin typeface="Calibri" pitchFamily="34" charset="0"/>
                <a:ea typeface="Calibri" pitchFamily="34" charset="-122"/>
                <a:cs typeface="Calibri" pitchFamily="34" charset="-120"/>
              </a:rPr>
              <a:t>SESUDAH  —  nilai atomik</a:t>
            </a:r>
            <a:endParaRPr lang="en-US" sz="1150" dirty="0"/>
          </a:p>
        </p:txBody>
      </p:sp>
      <p:sp>
        <p:nvSpPr>
          <p:cNvPr id="18" name="Shape 16"/>
          <p:cNvSpPr/>
          <p:nvPr/>
        </p:nvSpPr>
        <p:spPr>
          <a:xfrm>
            <a:off x="6583680" y="2697480"/>
            <a:ext cx="2103120" cy="420624"/>
          </a:xfrm>
          <a:prstGeom prst="rect">
            <a:avLst/>
          </a:prstGeom>
          <a:solidFill>
            <a:srgbClr val="E8F3EC"/>
          </a:solidFill>
          <a:ln w="12700">
            <a:solidFill>
              <a:srgbClr val="2E7D54"/>
            </a:solidFill>
            <a:prstDash val="solid"/>
          </a:ln>
        </p:spPr>
        <p:txBody>
          <a:bodyPr/>
          <a:lstStyle/>
          <a:p>
            <a:endParaRPr/>
          </a:p>
        </p:txBody>
      </p:sp>
      <p:sp>
        <p:nvSpPr>
          <p:cNvPr id="19" name="Text 17"/>
          <p:cNvSpPr/>
          <p:nvPr/>
        </p:nvSpPr>
        <p:spPr>
          <a:xfrm>
            <a:off x="6583680" y="2697480"/>
            <a:ext cx="2103120" cy="420624"/>
          </a:xfrm>
          <a:prstGeom prst="rect">
            <a:avLst/>
          </a:prstGeom>
          <a:noFill/>
          <a:ln/>
        </p:spPr>
        <p:txBody>
          <a:bodyPr wrap="square" lIns="0" tIns="0" rIns="0" bIns="0" rtlCol="0" anchor="ctr"/>
          <a:lstStyle/>
          <a:p>
            <a:pPr marL="0" indent="0" algn="ctr">
              <a:buNone/>
            </a:pPr>
            <a:r>
              <a:rPr lang="en-US" sz="1200" dirty="0">
                <a:solidFill>
                  <a:srgbClr val="1E2E36"/>
                </a:solidFill>
                <a:latin typeface="Calibri" pitchFamily="34" charset="0"/>
                <a:ea typeface="Calibri" pitchFamily="34" charset="-122"/>
                <a:cs typeface="Calibri" pitchFamily="34" charset="-120"/>
              </a:rPr>
              <a:t>B002</a:t>
            </a:r>
            <a:endParaRPr lang="en-US" sz="1200" dirty="0"/>
          </a:p>
        </p:txBody>
      </p:sp>
      <p:sp>
        <p:nvSpPr>
          <p:cNvPr id="20" name="Shape 18"/>
          <p:cNvSpPr/>
          <p:nvPr/>
        </p:nvSpPr>
        <p:spPr>
          <a:xfrm>
            <a:off x="8686800" y="2697480"/>
            <a:ext cx="2697480" cy="420624"/>
          </a:xfrm>
          <a:prstGeom prst="rect">
            <a:avLst/>
          </a:prstGeom>
          <a:solidFill>
            <a:srgbClr val="E8F3EC"/>
          </a:solidFill>
          <a:ln w="12700">
            <a:solidFill>
              <a:srgbClr val="2E7D54"/>
            </a:solidFill>
            <a:prstDash val="solid"/>
          </a:ln>
        </p:spPr>
        <p:txBody>
          <a:bodyPr/>
          <a:lstStyle/>
          <a:p>
            <a:endParaRPr/>
          </a:p>
        </p:txBody>
      </p:sp>
      <p:sp>
        <p:nvSpPr>
          <p:cNvPr id="21" name="Text 19"/>
          <p:cNvSpPr/>
          <p:nvPr/>
        </p:nvSpPr>
        <p:spPr>
          <a:xfrm>
            <a:off x="8686800" y="2697480"/>
            <a:ext cx="2697480" cy="420624"/>
          </a:xfrm>
          <a:prstGeom prst="rect">
            <a:avLst/>
          </a:prstGeom>
          <a:noFill/>
          <a:ln/>
        </p:spPr>
        <p:txBody>
          <a:bodyPr wrap="square" lIns="0" tIns="0" rIns="0" bIns="0" rtlCol="0" anchor="ctr"/>
          <a:lstStyle/>
          <a:p>
            <a:pPr marL="0" indent="0" algn="r">
              <a:buNone/>
              <a:defRPr sz="900">
                <a:solidFill>
                  <a:srgbClr val="66747D"/>
                </a:solidFill>
                <a:latin typeface="Aptos"/>
              </a:defRPr>
            </a:pPr>
            <a:r>
              <a:rPr sz="1200" b="1">
                <a:solidFill>
                  <a:srgbClr val="1E7B43"/>
                </a:solidFill>
              </a:rPr>
              <a:t>201</a:t>
            </a:r>
            <a:endParaRPr lang="en-US" sz="1200" dirty="0"/>
          </a:p>
        </p:txBody>
      </p:sp>
      <p:sp>
        <p:nvSpPr>
          <p:cNvPr id="22" name="Shape 20"/>
          <p:cNvSpPr/>
          <p:nvPr/>
        </p:nvSpPr>
        <p:spPr>
          <a:xfrm>
            <a:off x="6583680" y="3209544"/>
            <a:ext cx="2103120" cy="420624"/>
          </a:xfrm>
          <a:prstGeom prst="rect">
            <a:avLst/>
          </a:prstGeom>
          <a:solidFill>
            <a:srgbClr val="E8F3EC"/>
          </a:solidFill>
          <a:ln w="12700">
            <a:solidFill>
              <a:srgbClr val="2E7D54"/>
            </a:solidFill>
            <a:prstDash val="solid"/>
          </a:ln>
        </p:spPr>
        <p:txBody>
          <a:bodyPr/>
          <a:lstStyle/>
          <a:p>
            <a:endParaRPr/>
          </a:p>
        </p:txBody>
      </p:sp>
      <p:sp>
        <p:nvSpPr>
          <p:cNvPr id="23" name="Text 21"/>
          <p:cNvSpPr/>
          <p:nvPr/>
        </p:nvSpPr>
        <p:spPr>
          <a:xfrm>
            <a:off x="6583680" y="3209544"/>
            <a:ext cx="2103120" cy="420624"/>
          </a:xfrm>
          <a:prstGeom prst="rect">
            <a:avLst/>
          </a:prstGeom>
          <a:noFill/>
          <a:ln/>
        </p:spPr>
        <p:txBody>
          <a:bodyPr wrap="square" lIns="0" tIns="0" rIns="0" bIns="0" rtlCol="0" anchor="ctr"/>
          <a:lstStyle/>
          <a:p>
            <a:pPr marL="0" indent="0" algn="ctr">
              <a:buNone/>
            </a:pPr>
            <a:r>
              <a:rPr lang="en-US" sz="1200" dirty="0">
                <a:solidFill>
                  <a:srgbClr val="1E2E36"/>
                </a:solidFill>
                <a:latin typeface="Calibri" pitchFamily="34" charset="0"/>
                <a:ea typeface="Calibri" pitchFamily="34" charset="-122"/>
                <a:cs typeface="Calibri" pitchFamily="34" charset="-120"/>
              </a:rPr>
              <a:t>B002</a:t>
            </a:r>
            <a:endParaRPr lang="en-US" sz="1200" dirty="0"/>
          </a:p>
        </p:txBody>
      </p:sp>
      <p:sp>
        <p:nvSpPr>
          <p:cNvPr id="24" name="Shape 22"/>
          <p:cNvSpPr/>
          <p:nvPr/>
        </p:nvSpPr>
        <p:spPr>
          <a:xfrm>
            <a:off x="8686800" y="3209544"/>
            <a:ext cx="2697480" cy="420624"/>
          </a:xfrm>
          <a:prstGeom prst="rect">
            <a:avLst/>
          </a:prstGeom>
          <a:solidFill>
            <a:srgbClr val="E8F3EC"/>
          </a:solidFill>
          <a:ln w="12700">
            <a:solidFill>
              <a:srgbClr val="2E7D54"/>
            </a:solidFill>
            <a:prstDash val="solid"/>
          </a:ln>
        </p:spPr>
        <p:txBody>
          <a:bodyPr/>
          <a:lstStyle/>
          <a:p>
            <a:endParaRPr/>
          </a:p>
        </p:txBody>
      </p:sp>
      <p:sp>
        <p:nvSpPr>
          <p:cNvPr id="25" name="Text 23"/>
          <p:cNvSpPr/>
          <p:nvPr/>
        </p:nvSpPr>
        <p:spPr>
          <a:xfrm>
            <a:off x="8686800" y="3209544"/>
            <a:ext cx="2697480" cy="420624"/>
          </a:xfrm>
          <a:prstGeom prst="rect">
            <a:avLst/>
          </a:prstGeom>
          <a:noFill/>
          <a:ln/>
        </p:spPr>
        <p:txBody>
          <a:bodyPr wrap="square" lIns="0" tIns="0" rIns="0" bIns="0" rtlCol="0" anchor="ctr"/>
          <a:lstStyle/>
          <a:p>
            <a:pPr marL="0" indent="0" algn="r">
              <a:buNone/>
              <a:defRPr sz="900">
                <a:solidFill>
                  <a:srgbClr val="66747D"/>
                </a:solidFill>
                <a:latin typeface="Aptos"/>
              </a:defRPr>
            </a:pPr>
            <a:r>
              <a:rPr sz="1200" b="1">
                <a:solidFill>
                  <a:srgbClr val="1E7B43"/>
                </a:solidFill>
              </a:rPr>
              <a:t>202</a:t>
            </a:r>
            <a:endParaRPr lang="en-US" sz="1200" dirty="0"/>
          </a:p>
        </p:txBody>
      </p:sp>
      <p:sp>
        <p:nvSpPr>
          <p:cNvPr id="26" name="Text 24"/>
          <p:cNvSpPr/>
          <p:nvPr/>
        </p:nvSpPr>
        <p:spPr>
          <a:xfrm>
            <a:off x="6583680" y="3822192"/>
            <a:ext cx="4800600" cy="548640"/>
          </a:xfrm>
          <a:prstGeom prst="rect">
            <a:avLst/>
          </a:prstGeom>
          <a:noFill/>
          <a:ln/>
        </p:spPr>
        <p:txBody>
          <a:bodyPr wrap="square" lIns="0" tIns="0" rIns="0" bIns="0" rtlCol="0" anchor="ctr"/>
          <a:lstStyle/>
          <a:p>
            <a:pPr marL="0" indent="0">
              <a:buNone/>
            </a:pPr>
            <a:r>
              <a:rPr lang="en-US" sz="1200" dirty="0">
                <a:solidFill>
                  <a:srgbClr val="5C7984"/>
                </a:solidFill>
                <a:latin typeface="Calibri" pitchFamily="34" charset="0"/>
                <a:ea typeface="Calibri" pitchFamily="34" charset="-122"/>
                <a:cs typeface="Calibri" pitchFamily="34" charset="-120"/>
              </a:rPr>
              <a:t>Setiap nilai mendapat barisnya sendiri — sekarang semua sel atomik.</a:t>
            </a:r>
            <a:endParaRPr lang="en-US" sz="1200" dirty="0"/>
          </a:p>
        </p:txBody>
      </p:sp>
      <p:sp>
        <p:nvSpPr>
          <p:cNvPr id="27" name="Text 25"/>
          <p:cNvSpPr/>
          <p:nvPr/>
        </p:nvSpPr>
        <p:spPr>
          <a:xfrm>
            <a:off x="640080" y="4663440"/>
            <a:ext cx="10058400" cy="320040"/>
          </a:xfrm>
          <a:prstGeom prst="rect">
            <a:avLst/>
          </a:prstGeom>
          <a:noFill/>
          <a:ln/>
        </p:spPr>
        <p:txBody>
          <a:bodyPr wrap="square" lIns="0" tIns="0" rIns="0" bIns="0" rtlCol="0" anchor="ctr"/>
          <a:lstStyle/>
          <a:p>
            <a:pPr marL="0" indent="0">
              <a:buNone/>
            </a:pPr>
            <a:r>
              <a:rPr lang="en-US" sz="1300" b="1" dirty="0">
                <a:solidFill>
                  <a:srgbClr val="0C4A60"/>
                </a:solidFill>
                <a:latin typeface="Calibri" pitchFamily="34" charset="0"/>
                <a:ea typeface="Calibri" pitchFamily="34" charset="-122"/>
                <a:cs typeface="Calibri" pitchFamily="34" charset="-120"/>
              </a:rPr>
              <a:t>HASIL  —  tabel dipecah menjadi 3 relasi:</a:t>
            </a:r>
            <a:endParaRPr lang="en-US" sz="1300" dirty="0"/>
          </a:p>
        </p:txBody>
      </p:sp>
      <p:sp>
        <p:nvSpPr>
          <p:cNvPr id="28" name="Shape 26"/>
          <p:cNvSpPr/>
          <p:nvPr/>
        </p:nvSpPr>
        <p:spPr>
          <a:xfrm>
            <a:off x="566928" y="5029200"/>
            <a:ext cx="3456432" cy="914400"/>
          </a:xfrm>
          <a:prstGeom prst="roundRect">
            <a:avLst>
              <a:gd name="adj" fmla="val 8000"/>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9" name="Text 27"/>
          <p:cNvSpPr/>
          <p:nvPr/>
        </p:nvSpPr>
        <p:spPr>
          <a:xfrm>
            <a:off x="749808" y="5102352"/>
            <a:ext cx="3108960" cy="310896"/>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Booking_1NF</a:t>
            </a:r>
            <a:endParaRPr lang="en-US" sz="1250" dirty="0"/>
          </a:p>
        </p:txBody>
      </p:sp>
      <p:sp>
        <p:nvSpPr>
          <p:cNvPr id="30" name="Text 28"/>
          <p:cNvSpPr/>
          <p:nvPr/>
        </p:nvSpPr>
        <p:spPr>
          <a:xfrm>
            <a:off x="749808" y="5394960"/>
            <a:ext cx="3127248" cy="502920"/>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BookingID, BookingDate, GuestID… CheckIn, CheckOut</a:t>
            </a:r>
            <a:endParaRPr lang="en-US" sz="980" dirty="0"/>
          </a:p>
        </p:txBody>
      </p:sp>
      <p:sp>
        <p:nvSpPr>
          <p:cNvPr id="31" name="Shape 29"/>
          <p:cNvSpPr/>
          <p:nvPr/>
        </p:nvSpPr>
        <p:spPr>
          <a:xfrm>
            <a:off x="4279392" y="5029200"/>
            <a:ext cx="3456432" cy="914400"/>
          </a:xfrm>
          <a:prstGeom prst="roundRect">
            <a:avLst>
              <a:gd name="adj" fmla="val 8000"/>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2" name="Text 30"/>
          <p:cNvSpPr/>
          <p:nvPr/>
        </p:nvSpPr>
        <p:spPr>
          <a:xfrm>
            <a:off x="4462272" y="5102352"/>
            <a:ext cx="3108960" cy="310896"/>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BookingRoom_1NF</a:t>
            </a:r>
            <a:endParaRPr lang="en-US" sz="1250" dirty="0"/>
          </a:p>
        </p:txBody>
      </p:sp>
      <p:sp>
        <p:nvSpPr>
          <p:cNvPr id="33" name="Text 31"/>
          <p:cNvSpPr/>
          <p:nvPr/>
        </p:nvSpPr>
        <p:spPr>
          <a:xfrm>
            <a:off x="4462272" y="5394960"/>
            <a:ext cx="3127248" cy="502920"/>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BookingID, RoomNo, RoomTypeID, RoomTypeName, Price</a:t>
            </a:r>
            <a:endParaRPr lang="en-US" sz="980" dirty="0"/>
          </a:p>
        </p:txBody>
      </p:sp>
      <p:sp>
        <p:nvSpPr>
          <p:cNvPr id="34" name="Shape 32"/>
          <p:cNvSpPr/>
          <p:nvPr/>
        </p:nvSpPr>
        <p:spPr>
          <a:xfrm>
            <a:off x="7991856" y="5029200"/>
            <a:ext cx="3456432" cy="914400"/>
          </a:xfrm>
          <a:prstGeom prst="roundRect">
            <a:avLst>
              <a:gd name="adj" fmla="val 8000"/>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5" name="Text 33"/>
          <p:cNvSpPr/>
          <p:nvPr/>
        </p:nvSpPr>
        <p:spPr>
          <a:xfrm>
            <a:off x="8174736" y="5102352"/>
            <a:ext cx="3108960" cy="310896"/>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BookingService_1NF</a:t>
            </a:r>
            <a:endParaRPr lang="en-US" sz="1250" dirty="0"/>
          </a:p>
        </p:txBody>
      </p:sp>
      <p:sp>
        <p:nvSpPr>
          <p:cNvPr id="36" name="Text 34"/>
          <p:cNvSpPr/>
          <p:nvPr/>
        </p:nvSpPr>
        <p:spPr>
          <a:xfrm>
            <a:off x="8174736" y="5394960"/>
            <a:ext cx="3127248" cy="502920"/>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BookingID, ServiceID, ServiceName, ServicePrice</a:t>
            </a:r>
            <a:endParaRPr lang="en-US" sz="980" dirty="0"/>
          </a:p>
        </p:txBody>
      </p:sp>
      <p:sp>
        <p:nvSpPr>
          <p:cNvPr id="37" name="Text 35"/>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Database Pemesanan Hotel SejutaStay</a:t>
            </a:r>
            <a:endParaRPr lang="en-US" sz="900" dirty="0"/>
          </a:p>
        </p:txBody>
      </p:sp>
      <p:sp>
        <p:nvSpPr>
          <p:cNvPr id="38" name="Text 36"/>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NORMALISASI</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Langkah 2 — Second Normal Form (2NF)</a:t>
            </a:r>
            <a:endParaRPr lang="en-US" sz="2800" dirty="0"/>
          </a:p>
        </p:txBody>
      </p:sp>
      <p:sp>
        <p:nvSpPr>
          <p:cNvPr id="5" name="Shape 3"/>
          <p:cNvSpPr/>
          <p:nvPr/>
        </p:nvSpPr>
        <p:spPr>
          <a:xfrm>
            <a:off x="10927080" y="457200"/>
            <a:ext cx="713232" cy="713232"/>
          </a:xfrm>
          <a:prstGeom prst="ellipse">
            <a:avLst/>
          </a:prstGeom>
          <a:solidFill>
            <a:srgbClr val="1C7293"/>
          </a:solidFill>
          <a:ln/>
        </p:spPr>
        <p:txBody>
          <a:bodyPr/>
          <a:lstStyle/>
          <a:p>
            <a:endParaRPr/>
          </a:p>
        </p:txBody>
      </p:sp>
      <p:sp>
        <p:nvSpPr>
          <p:cNvPr id="6" name="Text 4"/>
          <p:cNvSpPr/>
          <p:nvPr/>
        </p:nvSpPr>
        <p:spPr>
          <a:xfrm>
            <a:off x="10927080" y="457200"/>
            <a:ext cx="713232" cy="713232"/>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2NF</a:t>
            </a:r>
            <a:endParaRPr lang="en-US" sz="1900" dirty="0"/>
          </a:p>
        </p:txBody>
      </p:sp>
      <p:sp>
        <p:nvSpPr>
          <p:cNvPr id="7" name="Shape 5"/>
          <p:cNvSpPr/>
          <p:nvPr/>
        </p:nvSpPr>
        <p:spPr>
          <a:xfrm>
            <a:off x="566928" y="1417320"/>
            <a:ext cx="11064240" cy="640080"/>
          </a:xfrm>
          <a:prstGeom prst="roundRect">
            <a:avLst>
              <a:gd name="adj" fmla="val 8571"/>
            </a:avLst>
          </a:prstGeom>
          <a:solidFill>
            <a:srgbClr val="E7F1F4"/>
          </a:solidFill>
          <a:ln w="12700">
            <a:solidFill>
              <a:srgbClr val="C9DDE3"/>
            </a:solidFill>
            <a:prstDash val="solid"/>
          </a:ln>
        </p:spPr>
        <p:txBody>
          <a:bodyPr/>
          <a:lstStyle/>
          <a:p>
            <a:endParaRPr/>
          </a:p>
        </p:txBody>
      </p:sp>
      <p:sp>
        <p:nvSpPr>
          <p:cNvPr id="8" name="Text 6"/>
          <p:cNvSpPr/>
          <p:nvPr/>
        </p:nvSpPr>
        <p:spPr>
          <a:xfrm>
            <a:off x="868680" y="1417320"/>
            <a:ext cx="10515600" cy="64008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ATURAN:   </a:t>
            </a:r>
            <a:r>
              <a:rPr lang="en-US" sz="1400" dirty="0">
                <a:solidFill>
                  <a:srgbClr val="1E2E36"/>
                </a:solidFill>
                <a:latin typeface="Calibri" pitchFamily="34" charset="0"/>
                <a:ea typeface="Calibri" pitchFamily="34" charset="-122"/>
                <a:cs typeface="Calibri" pitchFamily="34" charset="-120"/>
              </a:rPr>
              <a:t>sudah 1NF, dan setiap atribut non-kunci bergantung pada SELURUH primary key — bukan hanya sebagian.</a:t>
            </a:r>
            <a:endParaRPr lang="en-US" sz="1400" dirty="0"/>
          </a:p>
        </p:txBody>
      </p:sp>
      <p:sp>
        <p:nvSpPr>
          <p:cNvPr id="9" name="Text 7"/>
          <p:cNvSpPr/>
          <p:nvPr/>
        </p:nvSpPr>
        <p:spPr>
          <a:xfrm>
            <a:off x="640080" y="2240280"/>
            <a:ext cx="10058400" cy="292608"/>
          </a:xfrm>
          <a:prstGeom prst="rect">
            <a:avLst/>
          </a:prstGeom>
          <a:noFill/>
          <a:ln/>
        </p:spPr>
        <p:txBody>
          <a:bodyPr wrap="square" lIns="0" tIns="0" rIns="0" bIns="0" rtlCol="0" anchor="ctr"/>
          <a:lstStyle/>
          <a:p>
            <a:pPr marL="0" indent="0">
              <a:buNone/>
            </a:pPr>
            <a:r>
              <a:rPr lang="en-US" sz="1250" b="1" dirty="0">
                <a:solidFill>
                  <a:srgbClr val="B8860B"/>
                </a:solidFill>
                <a:latin typeface="Calibri" pitchFamily="34" charset="0"/>
                <a:ea typeface="Calibri" pitchFamily="34" charset="-122"/>
                <a:cs typeface="Calibri" pitchFamily="34" charset="-120"/>
              </a:rPr>
              <a:t>MASALAHNYA — PARTIAL DEPENDENCY</a:t>
            </a:r>
            <a:endParaRPr lang="en-US" sz="1250" dirty="0"/>
          </a:p>
        </p:txBody>
      </p:sp>
      <p:sp>
        <p:nvSpPr>
          <p:cNvPr id="10" name="Shape 8"/>
          <p:cNvSpPr/>
          <p:nvPr/>
        </p:nvSpPr>
        <p:spPr>
          <a:xfrm>
            <a:off x="566928" y="2560320"/>
            <a:ext cx="11064240" cy="1234440"/>
          </a:xfrm>
          <a:prstGeom prst="roundRect">
            <a:avLst>
              <a:gd name="adj" fmla="val 592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1" name="Text 9"/>
          <p:cNvSpPr/>
          <p:nvPr/>
        </p:nvSpPr>
        <p:spPr>
          <a:xfrm>
            <a:off x="868680" y="2651760"/>
            <a:ext cx="10515600" cy="1051560"/>
          </a:xfrm>
          <a:prstGeom prst="rect">
            <a:avLst/>
          </a:prstGeom>
          <a:noFill/>
          <a:ln/>
        </p:spPr>
        <p:txBody>
          <a:bodyPr wrap="square" lIns="0" tIns="0" rIns="0" bIns="0" rtlCol="0" anchor="ctr"/>
          <a:lstStyle/>
          <a:p>
            <a:pPr marL="0" indent="0">
              <a:lnSpc>
                <a:spcPct val="110000"/>
              </a:lnSpc>
              <a:buNone/>
            </a:pPr>
            <a:r>
              <a:rPr lang="en-US" sz="1300" dirty="0">
                <a:solidFill>
                  <a:srgbClr val="1E2E36"/>
                </a:solidFill>
                <a:latin typeface="Calibri" pitchFamily="34" charset="0"/>
                <a:ea typeface="Calibri" pitchFamily="34" charset="-122"/>
                <a:cs typeface="Calibri" pitchFamily="34" charset="-120"/>
              </a:rPr>
              <a:t>Di  BookingRoom_1NF  kuncinya adalah  </a:t>
            </a:r>
            <a:r>
              <a:rPr lang="en-US" sz="1300" b="1" dirty="0">
                <a:solidFill>
                  <a:srgbClr val="0C4A60"/>
                </a:solidFill>
                <a:latin typeface="Calibri" pitchFamily="34" charset="0"/>
                <a:ea typeface="Calibri" pitchFamily="34" charset="-122"/>
                <a:cs typeface="Calibri" pitchFamily="34" charset="-120"/>
              </a:rPr>
              <a:t>{BookingID, RoomNo}</a:t>
            </a:r>
            <a:r>
              <a:rPr lang="en-US" sz="1300" dirty="0">
                <a:solidFill>
                  <a:srgbClr val="1E2E36"/>
                </a:solidFill>
                <a:latin typeface="Calibri" pitchFamily="34" charset="0"/>
                <a:ea typeface="Calibri" pitchFamily="34" charset="-122"/>
                <a:cs typeface="Calibri" pitchFamily="34" charset="-120"/>
              </a:rPr>
              <a:t>.  Tetapi  RoomTypeID, RoomTypeName, dan Price  hanya bergantung pada  </a:t>
            </a:r>
            <a:r>
              <a:rPr lang="en-US" sz="1300" b="1" dirty="0">
                <a:solidFill>
                  <a:srgbClr val="B23A48"/>
                </a:solidFill>
                <a:latin typeface="Calibri" pitchFamily="34" charset="0"/>
                <a:ea typeface="Calibri" pitchFamily="34" charset="-122"/>
                <a:cs typeface="Calibri" pitchFamily="34" charset="-120"/>
              </a:rPr>
              <a:t>RoomNo</a:t>
            </a:r>
            <a:r>
              <a:rPr lang="en-US" sz="1300" dirty="0">
                <a:solidFill>
                  <a:srgbClr val="1E2E36"/>
                </a:solidFill>
                <a:latin typeface="Calibri" pitchFamily="34" charset="0"/>
                <a:ea typeface="Calibri" pitchFamily="34" charset="-122"/>
                <a:cs typeface="Calibri" pitchFamily="34" charset="-120"/>
              </a:rPr>
              <a:t>  — hanya sebagian dari kunci. Hal yang sama terjadi pada layanan yang hanya bergantung pada ServiceID.</a:t>
            </a:r>
            <a:endParaRPr lang="en-US" sz="1300" dirty="0"/>
          </a:p>
        </p:txBody>
      </p:sp>
      <p:sp>
        <p:nvSpPr>
          <p:cNvPr id="12" name="Text 10"/>
          <p:cNvSpPr/>
          <p:nvPr/>
        </p:nvSpPr>
        <p:spPr>
          <a:xfrm>
            <a:off x="640080" y="4023360"/>
            <a:ext cx="10789920" cy="310896"/>
          </a:xfrm>
          <a:prstGeom prst="rect">
            <a:avLst/>
          </a:prstGeom>
          <a:noFill/>
          <a:ln/>
        </p:spPr>
        <p:txBody>
          <a:bodyPr wrap="square" lIns="0" tIns="0" rIns="0" bIns="0" rtlCol="0" anchor="ctr"/>
          <a:lstStyle/>
          <a:p>
            <a:pPr marL="0" indent="0">
              <a:buNone/>
            </a:pPr>
            <a:r>
              <a:rPr lang="en-US" sz="1300" b="1" dirty="0">
                <a:solidFill>
                  <a:srgbClr val="0C4A60"/>
                </a:solidFill>
                <a:latin typeface="Calibri" pitchFamily="34" charset="0"/>
                <a:ea typeface="Calibri" pitchFamily="34" charset="-122"/>
                <a:cs typeface="Calibri" pitchFamily="34" charset="-120"/>
              </a:rPr>
              <a:t>SOLUSINYA — pindahkan kolom yang bergantung sebagian ke tabelnya sendiri  →  5 relasi</a:t>
            </a:r>
            <a:endParaRPr lang="en-US" sz="1300" dirty="0"/>
          </a:p>
        </p:txBody>
      </p:sp>
      <p:sp>
        <p:nvSpPr>
          <p:cNvPr id="13" name="Shape 11"/>
          <p:cNvSpPr/>
          <p:nvPr/>
        </p:nvSpPr>
        <p:spPr>
          <a:xfrm>
            <a:off x="566928" y="4389120"/>
            <a:ext cx="3456432"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4" name="Shape 12"/>
          <p:cNvSpPr/>
          <p:nvPr/>
        </p:nvSpPr>
        <p:spPr>
          <a:xfrm>
            <a:off x="566928" y="4389120"/>
            <a:ext cx="109728" cy="713232"/>
          </a:xfrm>
          <a:prstGeom prst="rect">
            <a:avLst/>
          </a:prstGeom>
          <a:solidFill>
            <a:srgbClr val="8E9BA3"/>
          </a:solidFill>
          <a:ln/>
        </p:spPr>
        <p:txBody>
          <a:bodyPr/>
          <a:lstStyle/>
          <a:p>
            <a:endParaRPr/>
          </a:p>
        </p:txBody>
      </p:sp>
      <p:sp>
        <p:nvSpPr>
          <p:cNvPr id="15" name="Text 13"/>
          <p:cNvSpPr/>
          <p:nvPr/>
        </p:nvSpPr>
        <p:spPr>
          <a:xfrm>
            <a:off x="822960" y="4453128"/>
            <a:ext cx="3108960" cy="292608"/>
          </a:xfrm>
          <a:prstGeom prst="rect">
            <a:avLst/>
          </a:prstGeom>
          <a:noFill/>
          <a:ln/>
        </p:spPr>
        <p:txBody>
          <a:bodyPr wrap="square" lIns="0" tIns="0" rIns="0" bIns="0" rtlCol="0" anchor="ctr"/>
          <a:lstStyle/>
          <a:p>
            <a:pPr marL="0" indent="0">
              <a:buNone/>
            </a:pPr>
            <a:r>
              <a:rPr lang="en-US" sz="1250" b="1" dirty="0">
                <a:solidFill>
                  <a:srgbClr val="0C4A60"/>
                </a:solidFill>
                <a:latin typeface="Calibri" pitchFamily="34" charset="0"/>
                <a:ea typeface="Calibri" pitchFamily="34" charset="-122"/>
                <a:cs typeface="Calibri" pitchFamily="34" charset="-120"/>
              </a:rPr>
              <a:t>Booking_2NF</a:t>
            </a:r>
            <a:endParaRPr lang="en-US" sz="1250" dirty="0"/>
          </a:p>
        </p:txBody>
      </p:sp>
      <p:sp>
        <p:nvSpPr>
          <p:cNvPr id="16" name="Text 14"/>
          <p:cNvSpPr/>
          <p:nvPr/>
        </p:nvSpPr>
        <p:spPr>
          <a:xfrm>
            <a:off x="822960" y="4736592"/>
            <a:ext cx="3127248" cy="310896"/>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tidak berubah — kuncinya satu kolom</a:t>
            </a:r>
            <a:endParaRPr lang="en-US" sz="980" dirty="0"/>
          </a:p>
        </p:txBody>
      </p:sp>
      <p:sp>
        <p:nvSpPr>
          <p:cNvPr id="17" name="Shape 15"/>
          <p:cNvSpPr/>
          <p:nvPr/>
        </p:nvSpPr>
        <p:spPr>
          <a:xfrm>
            <a:off x="4279392" y="4389120"/>
            <a:ext cx="3456432"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8" name="Shape 16"/>
          <p:cNvSpPr/>
          <p:nvPr/>
        </p:nvSpPr>
        <p:spPr>
          <a:xfrm>
            <a:off x="4279392" y="4389120"/>
            <a:ext cx="109728" cy="713232"/>
          </a:xfrm>
          <a:prstGeom prst="rect">
            <a:avLst/>
          </a:prstGeom>
          <a:solidFill>
            <a:srgbClr val="1C7293"/>
          </a:solidFill>
          <a:ln/>
        </p:spPr>
        <p:txBody>
          <a:bodyPr/>
          <a:lstStyle/>
          <a:p>
            <a:endParaRPr/>
          </a:p>
        </p:txBody>
      </p:sp>
      <p:sp>
        <p:nvSpPr>
          <p:cNvPr id="19" name="Text 17"/>
          <p:cNvSpPr/>
          <p:nvPr/>
        </p:nvSpPr>
        <p:spPr>
          <a:xfrm>
            <a:off x="4535424" y="4453128"/>
            <a:ext cx="3108960" cy="292608"/>
          </a:xfrm>
          <a:prstGeom prst="rect">
            <a:avLst/>
          </a:prstGeom>
          <a:noFill/>
          <a:ln/>
        </p:spPr>
        <p:txBody>
          <a:bodyPr wrap="square" lIns="0" tIns="0" rIns="0" bIns="0" rtlCol="0" anchor="ctr"/>
          <a:lstStyle/>
          <a:p>
            <a:pPr marL="0" indent="0">
              <a:buNone/>
            </a:pPr>
            <a:r>
              <a:rPr lang="en-US" sz="1250" b="1" dirty="0">
                <a:solidFill>
                  <a:srgbClr val="0C4A60"/>
                </a:solidFill>
                <a:latin typeface="Calibri" pitchFamily="34" charset="0"/>
                <a:ea typeface="Calibri" pitchFamily="34" charset="-122"/>
                <a:cs typeface="Calibri" pitchFamily="34" charset="-120"/>
              </a:rPr>
              <a:t>BookingRoom_2NF</a:t>
            </a:r>
            <a:endParaRPr lang="en-US" sz="1250" dirty="0"/>
          </a:p>
        </p:txBody>
      </p:sp>
      <p:sp>
        <p:nvSpPr>
          <p:cNvPr id="20" name="Text 18"/>
          <p:cNvSpPr/>
          <p:nvPr/>
        </p:nvSpPr>
        <p:spPr>
          <a:xfrm>
            <a:off x="4535424" y="4736592"/>
            <a:ext cx="3127248" cy="310896"/>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BookingID, RoomNo  (hanya penghubung)</a:t>
            </a:r>
            <a:endParaRPr lang="en-US" sz="980" dirty="0"/>
          </a:p>
        </p:txBody>
      </p:sp>
      <p:sp>
        <p:nvSpPr>
          <p:cNvPr id="21" name="Shape 19"/>
          <p:cNvSpPr/>
          <p:nvPr/>
        </p:nvSpPr>
        <p:spPr>
          <a:xfrm>
            <a:off x="7991856" y="4389120"/>
            <a:ext cx="3456432"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2" name="Shape 20"/>
          <p:cNvSpPr/>
          <p:nvPr/>
        </p:nvSpPr>
        <p:spPr>
          <a:xfrm>
            <a:off x="7991856" y="4389120"/>
            <a:ext cx="109728" cy="713232"/>
          </a:xfrm>
          <a:prstGeom prst="rect">
            <a:avLst/>
          </a:prstGeom>
          <a:solidFill>
            <a:srgbClr val="B8860B"/>
          </a:solidFill>
          <a:ln/>
        </p:spPr>
        <p:txBody>
          <a:bodyPr/>
          <a:lstStyle/>
          <a:p>
            <a:endParaRPr/>
          </a:p>
        </p:txBody>
      </p:sp>
      <p:sp>
        <p:nvSpPr>
          <p:cNvPr id="23" name="Text 21"/>
          <p:cNvSpPr/>
          <p:nvPr/>
        </p:nvSpPr>
        <p:spPr>
          <a:xfrm>
            <a:off x="8247888" y="4453128"/>
            <a:ext cx="3108960" cy="292608"/>
          </a:xfrm>
          <a:prstGeom prst="rect">
            <a:avLst/>
          </a:prstGeom>
          <a:noFill/>
          <a:ln/>
        </p:spPr>
        <p:txBody>
          <a:bodyPr wrap="square" lIns="0" tIns="0" rIns="0" bIns="0" rtlCol="0" anchor="ctr"/>
          <a:lstStyle/>
          <a:p>
            <a:pPr marL="0" indent="0">
              <a:buNone/>
            </a:pPr>
            <a:r>
              <a:rPr lang="en-US" sz="1250" b="1" dirty="0">
                <a:solidFill>
                  <a:srgbClr val="0C4A60"/>
                </a:solidFill>
                <a:latin typeface="Calibri" pitchFamily="34" charset="0"/>
                <a:ea typeface="Calibri" pitchFamily="34" charset="-122"/>
                <a:cs typeface="Calibri" pitchFamily="34" charset="-120"/>
              </a:rPr>
              <a:t>Room_2NF</a:t>
            </a:r>
            <a:endParaRPr lang="en-US" sz="1250" dirty="0"/>
          </a:p>
        </p:txBody>
      </p:sp>
      <p:sp>
        <p:nvSpPr>
          <p:cNvPr id="24" name="Text 22"/>
          <p:cNvSpPr/>
          <p:nvPr/>
        </p:nvSpPr>
        <p:spPr>
          <a:xfrm>
            <a:off x="8247888" y="4736592"/>
            <a:ext cx="3127248" cy="310896"/>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RoomNo, HotelID, RoomTypeID, RoomTypeName, Price</a:t>
            </a:r>
            <a:endParaRPr lang="en-US" sz="980" dirty="0"/>
          </a:p>
        </p:txBody>
      </p:sp>
      <p:sp>
        <p:nvSpPr>
          <p:cNvPr id="25" name="Shape 23"/>
          <p:cNvSpPr/>
          <p:nvPr/>
        </p:nvSpPr>
        <p:spPr>
          <a:xfrm>
            <a:off x="566928" y="5230368"/>
            <a:ext cx="3456432"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6" name="Shape 24"/>
          <p:cNvSpPr/>
          <p:nvPr/>
        </p:nvSpPr>
        <p:spPr>
          <a:xfrm>
            <a:off x="566928" y="5230368"/>
            <a:ext cx="109728" cy="713232"/>
          </a:xfrm>
          <a:prstGeom prst="rect">
            <a:avLst/>
          </a:prstGeom>
          <a:solidFill>
            <a:srgbClr val="1C7293"/>
          </a:solidFill>
          <a:ln/>
        </p:spPr>
        <p:txBody>
          <a:bodyPr/>
          <a:lstStyle/>
          <a:p>
            <a:endParaRPr/>
          </a:p>
        </p:txBody>
      </p:sp>
      <p:sp>
        <p:nvSpPr>
          <p:cNvPr id="27" name="Text 25"/>
          <p:cNvSpPr/>
          <p:nvPr/>
        </p:nvSpPr>
        <p:spPr>
          <a:xfrm>
            <a:off x="822960" y="5294376"/>
            <a:ext cx="3108960" cy="292608"/>
          </a:xfrm>
          <a:prstGeom prst="rect">
            <a:avLst/>
          </a:prstGeom>
          <a:noFill/>
          <a:ln/>
        </p:spPr>
        <p:txBody>
          <a:bodyPr wrap="square" lIns="0" tIns="0" rIns="0" bIns="0" rtlCol="0" anchor="ctr"/>
          <a:lstStyle/>
          <a:p>
            <a:pPr marL="0" indent="0">
              <a:buNone/>
            </a:pPr>
            <a:r>
              <a:rPr lang="en-US" sz="1250" b="1" dirty="0">
                <a:solidFill>
                  <a:srgbClr val="0C4A60"/>
                </a:solidFill>
                <a:latin typeface="Calibri" pitchFamily="34" charset="0"/>
                <a:ea typeface="Calibri" pitchFamily="34" charset="-122"/>
                <a:cs typeface="Calibri" pitchFamily="34" charset="-120"/>
              </a:rPr>
              <a:t>BookingService_2NF</a:t>
            </a:r>
            <a:endParaRPr lang="en-US" sz="1250" dirty="0"/>
          </a:p>
        </p:txBody>
      </p:sp>
      <p:sp>
        <p:nvSpPr>
          <p:cNvPr id="28" name="Text 26"/>
          <p:cNvSpPr/>
          <p:nvPr/>
        </p:nvSpPr>
        <p:spPr>
          <a:xfrm>
            <a:off x="822960" y="5577840"/>
            <a:ext cx="3127248" cy="310896"/>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BookingID, ServiceID  (hanya penghubung)</a:t>
            </a:r>
            <a:endParaRPr lang="en-US" sz="980" dirty="0"/>
          </a:p>
        </p:txBody>
      </p:sp>
      <p:sp>
        <p:nvSpPr>
          <p:cNvPr id="29" name="Shape 27"/>
          <p:cNvSpPr/>
          <p:nvPr/>
        </p:nvSpPr>
        <p:spPr>
          <a:xfrm>
            <a:off x="4279392" y="5230368"/>
            <a:ext cx="3456432"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0" name="Shape 28"/>
          <p:cNvSpPr/>
          <p:nvPr/>
        </p:nvSpPr>
        <p:spPr>
          <a:xfrm>
            <a:off x="4279392" y="5230368"/>
            <a:ext cx="109728" cy="713232"/>
          </a:xfrm>
          <a:prstGeom prst="rect">
            <a:avLst/>
          </a:prstGeom>
          <a:solidFill>
            <a:srgbClr val="B8860B"/>
          </a:solidFill>
          <a:ln/>
        </p:spPr>
        <p:txBody>
          <a:bodyPr/>
          <a:lstStyle/>
          <a:p>
            <a:endParaRPr/>
          </a:p>
        </p:txBody>
      </p:sp>
      <p:sp>
        <p:nvSpPr>
          <p:cNvPr id="31" name="Text 29"/>
          <p:cNvSpPr/>
          <p:nvPr/>
        </p:nvSpPr>
        <p:spPr>
          <a:xfrm>
            <a:off x="4535424" y="5294376"/>
            <a:ext cx="3108960" cy="292608"/>
          </a:xfrm>
          <a:prstGeom prst="rect">
            <a:avLst/>
          </a:prstGeom>
          <a:noFill/>
          <a:ln/>
        </p:spPr>
        <p:txBody>
          <a:bodyPr wrap="square" lIns="0" tIns="0" rIns="0" bIns="0" rtlCol="0" anchor="ctr"/>
          <a:lstStyle/>
          <a:p>
            <a:pPr marL="0" indent="0">
              <a:buNone/>
            </a:pPr>
            <a:r>
              <a:rPr lang="en-US" sz="1250" b="1" dirty="0">
                <a:solidFill>
                  <a:srgbClr val="0C4A60"/>
                </a:solidFill>
                <a:latin typeface="Calibri" pitchFamily="34" charset="0"/>
                <a:ea typeface="Calibri" pitchFamily="34" charset="-122"/>
                <a:cs typeface="Calibri" pitchFamily="34" charset="-120"/>
              </a:rPr>
              <a:t>Service_2NF</a:t>
            </a:r>
            <a:endParaRPr lang="en-US" sz="1250" dirty="0"/>
          </a:p>
        </p:txBody>
      </p:sp>
      <p:sp>
        <p:nvSpPr>
          <p:cNvPr id="32" name="Text 30"/>
          <p:cNvSpPr/>
          <p:nvPr/>
        </p:nvSpPr>
        <p:spPr>
          <a:xfrm>
            <a:off x="4535424" y="5577840"/>
            <a:ext cx="3127248" cy="310896"/>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ServiceID, ServiceName, ServicePrice</a:t>
            </a:r>
            <a:endParaRPr lang="en-US" sz="980" dirty="0"/>
          </a:p>
        </p:txBody>
      </p:sp>
      <p:sp>
        <p:nvSpPr>
          <p:cNvPr id="33" name="Text 31"/>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Database Pemesanan Hotel SejutaStay</a:t>
            </a:r>
            <a:endParaRPr lang="en-US" sz="900" dirty="0"/>
          </a:p>
        </p:txBody>
      </p:sp>
      <p:sp>
        <p:nvSpPr>
          <p:cNvPr id="34" name="Text 32"/>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NORMALISASI</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Langkah 3 — Third Normal Form (3NF)</a:t>
            </a:r>
            <a:endParaRPr lang="en-US" sz="2800" dirty="0"/>
          </a:p>
        </p:txBody>
      </p:sp>
      <p:sp>
        <p:nvSpPr>
          <p:cNvPr id="5" name="Shape 3"/>
          <p:cNvSpPr/>
          <p:nvPr/>
        </p:nvSpPr>
        <p:spPr>
          <a:xfrm>
            <a:off x="10927080" y="457200"/>
            <a:ext cx="713232" cy="713232"/>
          </a:xfrm>
          <a:prstGeom prst="ellipse">
            <a:avLst/>
          </a:prstGeom>
          <a:solidFill>
            <a:srgbClr val="0C4A60"/>
          </a:solidFill>
          <a:ln/>
        </p:spPr>
        <p:txBody>
          <a:bodyPr/>
          <a:lstStyle/>
          <a:p>
            <a:endParaRPr/>
          </a:p>
        </p:txBody>
      </p:sp>
      <p:sp>
        <p:nvSpPr>
          <p:cNvPr id="6" name="Text 4"/>
          <p:cNvSpPr/>
          <p:nvPr/>
        </p:nvSpPr>
        <p:spPr>
          <a:xfrm>
            <a:off x="10927080" y="457200"/>
            <a:ext cx="713232" cy="713232"/>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3NF</a:t>
            </a:r>
            <a:endParaRPr lang="en-US" sz="1900" dirty="0"/>
          </a:p>
        </p:txBody>
      </p:sp>
      <p:sp>
        <p:nvSpPr>
          <p:cNvPr id="7" name="Shape 5"/>
          <p:cNvSpPr/>
          <p:nvPr/>
        </p:nvSpPr>
        <p:spPr>
          <a:xfrm>
            <a:off x="566928" y="1417320"/>
            <a:ext cx="11064240" cy="640080"/>
          </a:xfrm>
          <a:prstGeom prst="roundRect">
            <a:avLst>
              <a:gd name="adj" fmla="val 8571"/>
            </a:avLst>
          </a:prstGeom>
          <a:solidFill>
            <a:srgbClr val="E7F1F4"/>
          </a:solidFill>
          <a:ln w="12700">
            <a:solidFill>
              <a:srgbClr val="C9DDE3"/>
            </a:solidFill>
            <a:prstDash val="solid"/>
          </a:ln>
        </p:spPr>
        <p:txBody>
          <a:bodyPr/>
          <a:lstStyle/>
          <a:p>
            <a:endParaRPr/>
          </a:p>
        </p:txBody>
      </p:sp>
      <p:sp>
        <p:nvSpPr>
          <p:cNvPr id="8" name="Text 6"/>
          <p:cNvSpPr/>
          <p:nvPr/>
        </p:nvSpPr>
        <p:spPr>
          <a:xfrm>
            <a:off x="868680" y="1417320"/>
            <a:ext cx="10515600" cy="64008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ATURAN:   </a:t>
            </a:r>
            <a:r>
              <a:rPr lang="en-US" sz="1400" dirty="0">
                <a:solidFill>
                  <a:srgbClr val="1E2E36"/>
                </a:solidFill>
                <a:latin typeface="Calibri" pitchFamily="34" charset="0"/>
                <a:ea typeface="Calibri" pitchFamily="34" charset="-122"/>
                <a:cs typeface="Calibri" pitchFamily="34" charset="-120"/>
              </a:rPr>
              <a:t>sudah 2NF, dan tidak ada atribut non-kunci yang bergantung pada atribut non-kunci LAIN (transitive dependency).</a:t>
            </a:r>
            <a:endParaRPr lang="en-US" sz="1400" dirty="0"/>
          </a:p>
        </p:txBody>
      </p:sp>
      <p:sp>
        <p:nvSpPr>
          <p:cNvPr id="9" name="Text 7"/>
          <p:cNvSpPr/>
          <p:nvPr/>
        </p:nvSpPr>
        <p:spPr>
          <a:xfrm>
            <a:off x="640080" y="2240280"/>
            <a:ext cx="10058400" cy="292608"/>
          </a:xfrm>
          <a:prstGeom prst="rect">
            <a:avLst/>
          </a:prstGeom>
          <a:noFill/>
          <a:ln/>
        </p:spPr>
        <p:txBody>
          <a:bodyPr wrap="square" lIns="0" tIns="0" rIns="0" bIns="0" rtlCol="0" anchor="ctr"/>
          <a:lstStyle/>
          <a:p>
            <a:pPr marL="0" indent="0">
              <a:buNone/>
            </a:pPr>
            <a:r>
              <a:rPr lang="en-US" sz="1250" b="1" dirty="0">
                <a:solidFill>
                  <a:srgbClr val="B8860B"/>
                </a:solidFill>
                <a:latin typeface="Calibri" pitchFamily="34" charset="0"/>
                <a:ea typeface="Calibri" pitchFamily="34" charset="-122"/>
                <a:cs typeface="Calibri" pitchFamily="34" charset="-120"/>
              </a:rPr>
              <a:t>MASALAHNYA — TRANSITIVE DEPENDENCY</a:t>
            </a:r>
            <a:endParaRPr lang="en-US" sz="1250" dirty="0"/>
          </a:p>
        </p:txBody>
      </p:sp>
      <p:sp>
        <p:nvSpPr>
          <p:cNvPr id="10" name="Shape 8"/>
          <p:cNvSpPr/>
          <p:nvPr/>
        </p:nvSpPr>
        <p:spPr>
          <a:xfrm>
            <a:off x="566928" y="2560320"/>
            <a:ext cx="11064240" cy="914400"/>
          </a:xfrm>
          <a:prstGeom prst="roundRect">
            <a:avLst>
              <a:gd name="adj" fmla="val 8000"/>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1" name="Text 9"/>
          <p:cNvSpPr/>
          <p:nvPr/>
        </p:nvSpPr>
        <p:spPr>
          <a:xfrm>
            <a:off x="868680" y="2560320"/>
            <a:ext cx="10515600" cy="914400"/>
          </a:xfrm>
          <a:prstGeom prst="rect">
            <a:avLst/>
          </a:prstGeom>
          <a:noFill/>
          <a:ln/>
        </p:spPr>
        <p:txBody>
          <a:bodyPr wrap="square" lIns="0" tIns="0" rIns="0" bIns="0" rtlCol="0" anchor="ctr"/>
          <a:lstStyle/>
          <a:p>
            <a:r>
              <a:t>BookingID → GuestID → GuestName, GuestPhone, GuestEmail          RoomNo → HotelID &amp; RoomTypeID → Price</a:t>
            </a:r>
          </a:p>
        </p:txBody>
      </p:sp>
      <p:sp>
        <p:nvSpPr>
          <p:cNvPr id="12" name="Text 10"/>
          <p:cNvSpPr/>
          <p:nvPr/>
        </p:nvSpPr>
        <p:spPr>
          <a:xfrm>
            <a:off x="640080" y="3657600"/>
            <a:ext cx="10789920" cy="310896"/>
          </a:xfrm>
          <a:prstGeom prst="rect">
            <a:avLst/>
          </a:prstGeom>
          <a:noFill/>
          <a:ln/>
        </p:spPr>
        <p:txBody>
          <a:bodyPr wrap="square" lIns="0" tIns="0" rIns="0" bIns="0" rtlCol="0" anchor="ctr"/>
          <a:lstStyle/>
          <a:p>
            <a:pPr marL="0" indent="0">
              <a:buNone/>
            </a:pPr>
            <a:r>
              <a:rPr lang="en-US" sz="1300" b="1" dirty="0">
                <a:solidFill>
                  <a:srgbClr val="0C4A60"/>
                </a:solidFill>
                <a:latin typeface="Calibri" pitchFamily="34" charset="0"/>
                <a:ea typeface="Calibri" pitchFamily="34" charset="-122"/>
                <a:cs typeface="Calibri" pitchFamily="34" charset="-120"/>
              </a:rPr>
              <a:t>SOLUSINYA — pisahkan setiap entitas ke tabelnya sendiri  →  8 tabel final dalam 3NF</a:t>
            </a:r>
            <a:endParaRPr lang="en-US" sz="1300" dirty="0"/>
          </a:p>
        </p:txBody>
      </p:sp>
      <p:sp>
        <p:nvSpPr>
          <p:cNvPr id="13" name="Shape 11"/>
          <p:cNvSpPr/>
          <p:nvPr/>
        </p:nvSpPr>
        <p:spPr>
          <a:xfrm>
            <a:off x="566928" y="40690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4" name="Shape 12"/>
          <p:cNvSpPr/>
          <p:nvPr/>
        </p:nvSpPr>
        <p:spPr>
          <a:xfrm>
            <a:off x="713232" y="4261104"/>
            <a:ext cx="365760" cy="365760"/>
          </a:xfrm>
          <a:prstGeom prst="ellipse">
            <a:avLst/>
          </a:prstGeom>
          <a:solidFill>
            <a:srgbClr val="1C7293"/>
          </a:solidFill>
          <a:ln/>
        </p:spPr>
        <p:txBody>
          <a:bodyPr/>
          <a:lstStyle/>
          <a:p>
            <a:endParaRPr/>
          </a:p>
        </p:txBody>
      </p:sp>
      <p:sp>
        <p:nvSpPr>
          <p:cNvPr id="15" name="Text 13"/>
          <p:cNvSpPr/>
          <p:nvPr/>
        </p:nvSpPr>
        <p:spPr>
          <a:xfrm>
            <a:off x="713232" y="42611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rPr sz="1100" b="1">
                <a:solidFill>
                  <a:srgbClr val="FFFFFF"/>
                </a:solidFill>
              </a:rPr>
              <a:t>1</a:t>
            </a:r>
            <a:endParaRPr lang="en-US" sz="1300" dirty="0"/>
          </a:p>
        </p:txBody>
      </p:sp>
      <p:sp>
        <p:nvSpPr>
          <p:cNvPr id="16" name="Text 14"/>
          <p:cNvSpPr/>
          <p:nvPr/>
        </p:nvSpPr>
        <p:spPr>
          <a:xfrm>
            <a:off x="1170432" y="40690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Tamu</a:t>
            </a:r>
            <a:endParaRPr lang="en-US" sz="1350" dirty="0"/>
          </a:p>
        </p:txBody>
      </p:sp>
      <p:sp>
        <p:nvSpPr>
          <p:cNvPr id="17" name="Shape 15"/>
          <p:cNvSpPr/>
          <p:nvPr/>
        </p:nvSpPr>
        <p:spPr>
          <a:xfrm>
            <a:off x="3364992" y="40690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8" name="Shape 16"/>
          <p:cNvSpPr/>
          <p:nvPr/>
        </p:nvSpPr>
        <p:spPr>
          <a:xfrm>
            <a:off x="3511296" y="4261104"/>
            <a:ext cx="365760" cy="365760"/>
          </a:xfrm>
          <a:prstGeom prst="ellipse">
            <a:avLst/>
          </a:prstGeom>
          <a:solidFill>
            <a:srgbClr val="1C7293"/>
          </a:solidFill>
          <a:ln/>
        </p:spPr>
        <p:txBody>
          <a:bodyPr/>
          <a:lstStyle/>
          <a:p>
            <a:endParaRPr/>
          </a:p>
        </p:txBody>
      </p:sp>
      <p:sp>
        <p:nvSpPr>
          <p:cNvPr id="19" name="Text 17"/>
          <p:cNvSpPr/>
          <p:nvPr/>
        </p:nvSpPr>
        <p:spPr>
          <a:xfrm>
            <a:off x="3511296" y="42611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rPr sz="1100" b="1">
                <a:solidFill>
                  <a:srgbClr val="FFFFFF"/>
                </a:solidFill>
              </a:rPr>
              <a:t>2</a:t>
            </a:r>
            <a:endParaRPr lang="en-US" sz="1300" dirty="0"/>
          </a:p>
        </p:txBody>
      </p:sp>
      <p:sp>
        <p:nvSpPr>
          <p:cNvPr id="20" name="Text 18"/>
          <p:cNvSpPr/>
          <p:nvPr/>
        </p:nvSpPr>
        <p:spPr>
          <a:xfrm>
            <a:off x="3968496" y="40690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Hotel</a:t>
            </a:r>
            <a:endParaRPr lang="en-US" sz="1350" dirty="0"/>
          </a:p>
        </p:txBody>
      </p:sp>
      <p:sp>
        <p:nvSpPr>
          <p:cNvPr id="21" name="Shape 19"/>
          <p:cNvSpPr/>
          <p:nvPr/>
        </p:nvSpPr>
        <p:spPr>
          <a:xfrm>
            <a:off x="6163056" y="40690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2" name="Shape 20"/>
          <p:cNvSpPr/>
          <p:nvPr/>
        </p:nvSpPr>
        <p:spPr>
          <a:xfrm>
            <a:off x="6309360" y="4261104"/>
            <a:ext cx="365760" cy="365760"/>
          </a:xfrm>
          <a:prstGeom prst="ellipse">
            <a:avLst/>
          </a:prstGeom>
          <a:solidFill>
            <a:srgbClr val="1C7293"/>
          </a:solidFill>
          <a:ln/>
        </p:spPr>
        <p:txBody>
          <a:bodyPr/>
          <a:lstStyle/>
          <a:p>
            <a:endParaRPr/>
          </a:p>
        </p:txBody>
      </p:sp>
      <p:sp>
        <p:nvSpPr>
          <p:cNvPr id="23" name="Text 21"/>
          <p:cNvSpPr/>
          <p:nvPr/>
        </p:nvSpPr>
        <p:spPr>
          <a:xfrm>
            <a:off x="6309360" y="42611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rPr sz="1100" b="1">
                <a:solidFill>
                  <a:srgbClr val="FFFFFF"/>
                </a:solidFill>
              </a:rPr>
              <a:t>3</a:t>
            </a:r>
            <a:endParaRPr lang="en-US" sz="1300" dirty="0"/>
          </a:p>
        </p:txBody>
      </p:sp>
      <p:sp>
        <p:nvSpPr>
          <p:cNvPr id="24" name="Text 22"/>
          <p:cNvSpPr/>
          <p:nvPr/>
        </p:nvSpPr>
        <p:spPr>
          <a:xfrm>
            <a:off x="6766560" y="40690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RoomType</a:t>
            </a:r>
            <a:endParaRPr lang="en-US" sz="1350" dirty="0"/>
          </a:p>
        </p:txBody>
      </p:sp>
      <p:sp>
        <p:nvSpPr>
          <p:cNvPr id="25" name="Shape 23"/>
          <p:cNvSpPr/>
          <p:nvPr/>
        </p:nvSpPr>
        <p:spPr>
          <a:xfrm>
            <a:off x="8961120" y="40690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6" name="Shape 24"/>
          <p:cNvSpPr/>
          <p:nvPr/>
        </p:nvSpPr>
        <p:spPr>
          <a:xfrm>
            <a:off x="9107424" y="4261104"/>
            <a:ext cx="365760" cy="365760"/>
          </a:xfrm>
          <a:prstGeom prst="ellipse">
            <a:avLst/>
          </a:prstGeom>
          <a:solidFill>
            <a:srgbClr val="1C7293"/>
          </a:solidFill>
          <a:ln/>
        </p:spPr>
        <p:txBody>
          <a:bodyPr/>
          <a:lstStyle/>
          <a:p>
            <a:endParaRPr/>
          </a:p>
        </p:txBody>
      </p:sp>
      <p:sp>
        <p:nvSpPr>
          <p:cNvPr id="27" name="Text 25"/>
          <p:cNvSpPr/>
          <p:nvPr/>
        </p:nvSpPr>
        <p:spPr>
          <a:xfrm>
            <a:off x="9107424" y="42611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rPr sz="1100" b="1">
                <a:solidFill>
                  <a:srgbClr val="FFFFFF"/>
                </a:solidFill>
              </a:rPr>
              <a:t>4</a:t>
            </a:r>
            <a:endParaRPr lang="en-US" sz="1300" dirty="0"/>
          </a:p>
        </p:txBody>
      </p:sp>
      <p:sp>
        <p:nvSpPr>
          <p:cNvPr id="28" name="Text 26"/>
          <p:cNvSpPr/>
          <p:nvPr/>
        </p:nvSpPr>
        <p:spPr>
          <a:xfrm>
            <a:off x="9564624" y="40690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Room</a:t>
            </a:r>
            <a:endParaRPr lang="en-US" sz="1350" dirty="0"/>
          </a:p>
        </p:txBody>
      </p:sp>
      <p:sp>
        <p:nvSpPr>
          <p:cNvPr id="29" name="Shape 27"/>
          <p:cNvSpPr/>
          <p:nvPr/>
        </p:nvSpPr>
        <p:spPr>
          <a:xfrm>
            <a:off x="566928" y="49834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0" name="Shape 28"/>
          <p:cNvSpPr/>
          <p:nvPr/>
        </p:nvSpPr>
        <p:spPr>
          <a:xfrm>
            <a:off x="713232" y="5175504"/>
            <a:ext cx="365760" cy="365760"/>
          </a:xfrm>
          <a:prstGeom prst="ellipse">
            <a:avLst/>
          </a:prstGeom>
          <a:solidFill>
            <a:srgbClr val="1C7293"/>
          </a:solidFill>
          <a:ln/>
        </p:spPr>
        <p:txBody>
          <a:bodyPr/>
          <a:lstStyle/>
          <a:p>
            <a:endParaRPr/>
          </a:p>
        </p:txBody>
      </p:sp>
      <p:sp>
        <p:nvSpPr>
          <p:cNvPr id="31" name="Text 29"/>
          <p:cNvSpPr/>
          <p:nvPr/>
        </p:nvSpPr>
        <p:spPr>
          <a:xfrm>
            <a:off x="713232" y="51755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rPr sz="1100" b="1">
                <a:solidFill>
                  <a:srgbClr val="FFFFFF"/>
                </a:solidFill>
              </a:rPr>
              <a:t>5</a:t>
            </a:r>
            <a:endParaRPr lang="en-US" sz="1300" dirty="0"/>
          </a:p>
        </p:txBody>
      </p:sp>
      <p:sp>
        <p:nvSpPr>
          <p:cNvPr id="32" name="Text 30"/>
          <p:cNvSpPr/>
          <p:nvPr/>
        </p:nvSpPr>
        <p:spPr>
          <a:xfrm>
            <a:off x="1170432" y="49834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Service</a:t>
            </a:r>
            <a:endParaRPr lang="en-US" sz="1350" dirty="0"/>
          </a:p>
        </p:txBody>
      </p:sp>
      <p:sp>
        <p:nvSpPr>
          <p:cNvPr id="33" name="Shape 31"/>
          <p:cNvSpPr/>
          <p:nvPr/>
        </p:nvSpPr>
        <p:spPr>
          <a:xfrm>
            <a:off x="3364992" y="49834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4" name="Shape 32"/>
          <p:cNvSpPr/>
          <p:nvPr/>
        </p:nvSpPr>
        <p:spPr>
          <a:xfrm>
            <a:off x="3511296" y="5175504"/>
            <a:ext cx="365760" cy="365760"/>
          </a:xfrm>
          <a:prstGeom prst="ellipse">
            <a:avLst/>
          </a:prstGeom>
          <a:solidFill>
            <a:srgbClr val="1C7293"/>
          </a:solidFill>
          <a:ln/>
        </p:spPr>
        <p:txBody>
          <a:bodyPr/>
          <a:lstStyle/>
          <a:p>
            <a:endParaRPr/>
          </a:p>
        </p:txBody>
      </p:sp>
      <p:sp>
        <p:nvSpPr>
          <p:cNvPr id="35" name="Text 33"/>
          <p:cNvSpPr/>
          <p:nvPr/>
        </p:nvSpPr>
        <p:spPr>
          <a:xfrm>
            <a:off x="3511296" y="51755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rPr sz="1100" b="1">
                <a:solidFill>
                  <a:srgbClr val="FFFFFF"/>
                </a:solidFill>
              </a:rPr>
              <a:t>6</a:t>
            </a:r>
            <a:endParaRPr lang="en-US" sz="1300" dirty="0"/>
          </a:p>
        </p:txBody>
      </p:sp>
      <p:sp>
        <p:nvSpPr>
          <p:cNvPr id="36" name="Text 34"/>
          <p:cNvSpPr/>
          <p:nvPr/>
        </p:nvSpPr>
        <p:spPr>
          <a:xfrm>
            <a:off x="3968496" y="49834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Booking</a:t>
            </a:r>
            <a:endParaRPr lang="en-US" sz="1350" dirty="0"/>
          </a:p>
        </p:txBody>
      </p:sp>
      <p:sp>
        <p:nvSpPr>
          <p:cNvPr id="37" name="Shape 35"/>
          <p:cNvSpPr/>
          <p:nvPr/>
        </p:nvSpPr>
        <p:spPr>
          <a:xfrm>
            <a:off x="6163056" y="4983480"/>
            <a:ext cx="2596896" cy="749808"/>
          </a:xfrm>
          <a:prstGeom prst="roundRect">
            <a:avLst>
              <a:gd name="adj" fmla="val 9756"/>
            </a:avLst>
          </a:prstGeom>
          <a:solidFill>
            <a:srgbClr val="FBEFD5"/>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8" name="Shape 36"/>
          <p:cNvSpPr/>
          <p:nvPr/>
        </p:nvSpPr>
        <p:spPr>
          <a:xfrm>
            <a:off x="6309360" y="5175504"/>
            <a:ext cx="365760" cy="365760"/>
          </a:xfrm>
          <a:prstGeom prst="ellipse">
            <a:avLst/>
          </a:prstGeom>
          <a:solidFill>
            <a:srgbClr val="B8860B"/>
          </a:solidFill>
          <a:ln/>
        </p:spPr>
        <p:txBody>
          <a:bodyPr/>
          <a:lstStyle/>
          <a:p>
            <a:endParaRPr/>
          </a:p>
        </p:txBody>
      </p:sp>
      <p:sp>
        <p:nvSpPr>
          <p:cNvPr id="39" name="Text 37"/>
          <p:cNvSpPr/>
          <p:nvPr/>
        </p:nvSpPr>
        <p:spPr>
          <a:xfrm>
            <a:off x="6309360" y="51755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rPr sz="1100" b="1">
                <a:solidFill>
                  <a:srgbClr val="FFFFFF"/>
                </a:solidFill>
              </a:rPr>
              <a:t>7</a:t>
            </a:r>
            <a:endParaRPr lang="en-US" sz="1300" dirty="0"/>
          </a:p>
        </p:txBody>
      </p:sp>
      <p:sp>
        <p:nvSpPr>
          <p:cNvPr id="40" name="Text 38"/>
          <p:cNvSpPr/>
          <p:nvPr/>
        </p:nvSpPr>
        <p:spPr>
          <a:xfrm>
            <a:off x="6766560" y="49834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BookingRoom</a:t>
            </a:r>
            <a:endParaRPr lang="en-US" sz="1350" dirty="0"/>
          </a:p>
        </p:txBody>
      </p:sp>
      <p:sp>
        <p:nvSpPr>
          <p:cNvPr id="41" name="Shape 39"/>
          <p:cNvSpPr/>
          <p:nvPr/>
        </p:nvSpPr>
        <p:spPr>
          <a:xfrm>
            <a:off x="8961120" y="4983480"/>
            <a:ext cx="2596896" cy="749808"/>
          </a:xfrm>
          <a:prstGeom prst="roundRect">
            <a:avLst>
              <a:gd name="adj" fmla="val 9756"/>
            </a:avLst>
          </a:prstGeom>
          <a:solidFill>
            <a:srgbClr val="FBEFD5"/>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42" name="Shape 40"/>
          <p:cNvSpPr/>
          <p:nvPr/>
        </p:nvSpPr>
        <p:spPr>
          <a:xfrm>
            <a:off x="9107424" y="5175504"/>
            <a:ext cx="365760" cy="365760"/>
          </a:xfrm>
          <a:prstGeom prst="ellipse">
            <a:avLst/>
          </a:prstGeom>
          <a:solidFill>
            <a:srgbClr val="B8860B"/>
          </a:solidFill>
          <a:ln/>
        </p:spPr>
        <p:txBody>
          <a:bodyPr/>
          <a:lstStyle/>
          <a:p>
            <a:endParaRPr/>
          </a:p>
        </p:txBody>
      </p:sp>
      <p:sp>
        <p:nvSpPr>
          <p:cNvPr id="43" name="Text 41"/>
          <p:cNvSpPr/>
          <p:nvPr/>
        </p:nvSpPr>
        <p:spPr>
          <a:xfrm>
            <a:off x="9107424" y="51755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rPr sz="1100" b="1">
                <a:solidFill>
                  <a:srgbClr val="FFFFFF"/>
                </a:solidFill>
              </a:rPr>
              <a:t>8</a:t>
            </a:r>
            <a:endParaRPr lang="en-US" sz="1300" dirty="0"/>
          </a:p>
        </p:txBody>
      </p:sp>
      <p:sp>
        <p:nvSpPr>
          <p:cNvPr id="44" name="Text 42"/>
          <p:cNvSpPr/>
          <p:nvPr/>
        </p:nvSpPr>
        <p:spPr>
          <a:xfrm>
            <a:off x="9564624" y="49834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BookingService</a:t>
            </a:r>
            <a:endParaRPr lang="en-US" sz="1350" dirty="0"/>
          </a:p>
        </p:txBody>
      </p:sp>
      <p:sp>
        <p:nvSpPr>
          <p:cNvPr id="45" name="Text 43"/>
          <p:cNvSpPr/>
          <p:nvPr/>
        </p:nvSpPr>
        <p:spPr>
          <a:xfrm>
            <a:off x="566928" y="5943600"/>
            <a:ext cx="11064240" cy="320040"/>
          </a:xfrm>
          <a:prstGeom prst="rect">
            <a:avLst/>
          </a:prstGeom>
          <a:noFill/>
          <a:ln/>
        </p:spPr>
        <p:txBody>
          <a:bodyPr wrap="square" lIns="0" tIns="0" rIns="0" bIns="0" rtlCol="0" anchor="ctr"/>
          <a:lstStyle/>
          <a:p>
            <a:pPr marL="0" indent="0" algn="ctr">
              <a:buNone/>
            </a:pPr>
            <a:r>
              <a:rPr lang="en-US" sz="1050" i="1" dirty="0">
                <a:solidFill>
                  <a:srgbClr val="5C7984"/>
                </a:solidFill>
                <a:latin typeface="Calibri" pitchFamily="34" charset="0"/>
                <a:ea typeface="Calibri" pitchFamily="34" charset="-122"/>
                <a:cs typeface="Calibri" pitchFamily="34" charset="-120"/>
              </a:rPr>
              <a:t>Biru = tabel entitas utama    ·    Emas = tabel junction penyelesai relasi many-to-many</a:t>
            </a:r>
            <a:endParaRPr lang="en-US" sz="1050" dirty="0"/>
          </a:p>
        </p:txBody>
      </p:sp>
      <p:sp>
        <p:nvSpPr>
          <p:cNvPr id="46" name="Text 44"/>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Database Pemesanan Hotel SejutaStay</a:t>
            </a:r>
            <a:endParaRPr lang="en-US" sz="900" dirty="0"/>
          </a:p>
        </p:txBody>
      </p:sp>
      <p:sp>
        <p:nvSpPr>
          <p:cNvPr id="47" name="Text 45"/>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Database Pemesanan Hotel SejutaStay</a:t>
            </a:r>
          </a:p>
        </p:txBody>
      </p:sp>
      <p:sp>
        <p:nvSpPr>
          <p:cNvPr id="4" name="TextBox 3"/>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10</a:t>
            </a:r>
          </a:p>
        </p:txBody>
      </p:sp>
      <p:pic>
        <p:nvPicPr>
          <p:cNvPr id="8" name="Picture 7">
            <a:extLst>
              <a:ext uri="{FF2B5EF4-FFF2-40B4-BE49-F238E27FC236}">
                <a16:creationId xmlns:a16="http://schemas.microsoft.com/office/drawing/2014/main" id="{5601BC40-0C29-CECA-28C4-5885C7F3CBEE}"/>
              </a:ext>
            </a:extLst>
          </p:cNvPr>
          <p:cNvPicPr>
            <a:picLocks noChangeAspect="1"/>
          </p:cNvPicPr>
          <p:nvPr/>
        </p:nvPicPr>
        <p:blipFill>
          <a:blip r:embed="rId3"/>
          <a:stretch>
            <a:fillRect/>
          </a:stretch>
        </p:blipFill>
        <p:spPr>
          <a:xfrm>
            <a:off x="1001971" y="0"/>
            <a:ext cx="9430068" cy="6629624"/>
          </a:xfrm>
          <a:prstGeom prst="rect">
            <a:avLst/>
          </a:prstGeom>
        </p:spPr>
      </p:pic>
      <p:sp>
        <p:nvSpPr>
          <p:cNvPr id="10" name="TextBox 9">
            <a:extLst>
              <a:ext uri="{FF2B5EF4-FFF2-40B4-BE49-F238E27FC236}">
                <a16:creationId xmlns:a16="http://schemas.microsoft.com/office/drawing/2014/main" id="{1DFB765B-4C8E-8595-261A-29A153B11565}"/>
              </a:ext>
            </a:extLst>
          </p:cNvPr>
          <p:cNvSpPr txBox="1"/>
          <p:nvPr/>
        </p:nvSpPr>
        <p:spPr>
          <a:xfrm>
            <a:off x="309252" y="316222"/>
            <a:ext cx="6097002" cy="369332"/>
          </a:xfrm>
          <a:prstGeom prst="rect">
            <a:avLst/>
          </a:prstGeom>
          <a:noFill/>
        </p:spPr>
        <p:txBody>
          <a:bodyPr wrap="square">
            <a:spAutoFit/>
          </a:bodyPr>
          <a:lstStyle/>
          <a:p>
            <a:r>
              <a:rPr lang="en-US" sz="1800" b="1" dirty="0">
                <a:solidFill>
                  <a:srgbClr val="0C4A60"/>
                </a:solidFill>
                <a:latin typeface="Calibri" pitchFamily="34" charset="0"/>
                <a:ea typeface="Calibri" pitchFamily="34" charset="-122"/>
                <a:cs typeface="Calibri" pitchFamily="34" charset="-120"/>
              </a:rPr>
              <a:t>8 Tabel dalam 3NF</a:t>
            </a:r>
            <a:endParaRPr lang="id-ID"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75488"/>
            <a:ext cx="146304" cy="438912"/>
          </a:xfrm>
          <a:prstGeom prst="rect">
            <a:avLst/>
          </a:prstGeom>
          <a:solidFill>
            <a:srgbClr val="005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384048"/>
            <a:ext cx="10698480" cy="685800"/>
          </a:xfrm>
          <a:prstGeom prst="rect">
            <a:avLst/>
          </a:prstGeom>
          <a:noFill/>
        </p:spPr>
        <p:txBody>
          <a:bodyPr wrap="none" lIns="0" tIns="0" rIns="0" bIns="0">
            <a:spAutoFit/>
          </a:bodyPr>
          <a:lstStyle/>
          <a:p>
            <a:pPr>
              <a:defRPr sz="1200" b="1">
                <a:solidFill>
                  <a:srgbClr val="00536D"/>
                </a:solidFill>
                <a:latin typeface="Aptos"/>
              </a:defRPr>
            </a:pPr>
            <a:r>
              <a:t>DAMPAK BISNIS</a:t>
            </a:r>
          </a:p>
          <a:p>
            <a:pPr>
              <a:defRPr sz="2800" b="1">
                <a:solidFill>
                  <a:srgbClr val="162D38"/>
                </a:solidFill>
                <a:latin typeface="Aptos"/>
              </a:defRPr>
            </a:pPr>
            <a:r>
              <a:t>Siapa yang Diuntungkan oleh Database Ini?</a:t>
            </a:r>
          </a:p>
        </p:txBody>
      </p:sp>
      <p:sp>
        <p:nvSpPr>
          <p:cNvPr id="4" name="Rounded Rectangle 3"/>
          <p:cNvSpPr/>
          <p:nvPr/>
        </p:nvSpPr>
        <p:spPr>
          <a:xfrm>
            <a:off x="731520" y="1600200"/>
            <a:ext cx="3337560" cy="3383280"/>
          </a:xfrm>
          <a:prstGeom prst="roundRect">
            <a:avLst/>
          </a:prstGeom>
          <a:solidFill>
            <a:srgbClr val="DDEDF2"/>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64792"/>
            <a:ext cx="2971800" cy="411480"/>
          </a:xfrm>
          <a:prstGeom prst="rect">
            <a:avLst/>
          </a:prstGeom>
          <a:noFill/>
        </p:spPr>
        <p:txBody>
          <a:bodyPr wrap="none">
            <a:spAutoFit/>
          </a:bodyPr>
          <a:lstStyle/>
          <a:p>
            <a:pPr>
              <a:defRPr sz="1800" b="1">
                <a:solidFill>
                  <a:srgbClr val="00536D"/>
                </a:solidFill>
                <a:latin typeface="Aptos"/>
              </a:defRPr>
            </a:pPr>
            <a:r>
              <a:t>Staf Front-desk</a:t>
            </a:r>
          </a:p>
        </p:txBody>
      </p:sp>
      <p:sp>
        <p:nvSpPr>
          <p:cNvPr id="6" name="TextBox 5"/>
          <p:cNvSpPr txBox="1"/>
          <p:nvPr/>
        </p:nvSpPr>
        <p:spPr>
          <a:xfrm>
            <a:off x="914400" y="2286000"/>
            <a:ext cx="2971800" cy="2606040"/>
          </a:xfrm>
          <a:prstGeom prst="rect">
            <a:avLst/>
          </a:prstGeom>
          <a:noFill/>
        </p:spPr>
        <p:txBody>
          <a:bodyPr wrap="square">
            <a:spAutoFit/>
          </a:bodyPr>
          <a:lstStyle/>
          <a:p>
            <a:pPr>
              <a:defRPr sz="1500">
                <a:solidFill>
                  <a:srgbClr val="162D38"/>
                </a:solidFill>
                <a:latin typeface="Aptos"/>
              </a:defRPr>
            </a:pPr>
            <a:r>
              <a:t>• Pencarian booking lebih cepat</a:t>
            </a:r>
          </a:p>
          <a:p>
            <a:pPr>
              <a:defRPr sz="1500">
                <a:solidFill>
                  <a:srgbClr val="162D38"/>
                </a:solidFill>
                <a:latin typeface="Aptos"/>
              </a:defRPr>
            </a:pPr>
            <a:r>
              <a:t>• Lebih sedikit pengetikan ulang</a:t>
            </a:r>
          </a:p>
          <a:p>
            <a:pPr>
              <a:defRPr sz="1500">
                <a:solidFill>
                  <a:srgbClr val="162D38"/>
                </a:solidFill>
                <a:latin typeface="Aptos"/>
              </a:defRPr>
            </a:pPr>
            <a:r>
              <a:t>• Lebih sedikit salah catat kamar/layanan</a:t>
            </a:r>
          </a:p>
        </p:txBody>
      </p:sp>
      <p:sp>
        <p:nvSpPr>
          <p:cNvPr id="7" name="Rounded Rectangle 6"/>
          <p:cNvSpPr/>
          <p:nvPr/>
        </p:nvSpPr>
        <p:spPr>
          <a:xfrm>
            <a:off x="4434840" y="1600200"/>
            <a:ext cx="3337560" cy="3383280"/>
          </a:xfrm>
          <a:prstGeom prst="roundRect">
            <a:avLst/>
          </a:prstGeom>
          <a:solidFill>
            <a:srgbClr val="F9EED3"/>
          </a:solidFill>
          <a:ln w="15240">
            <a:solidFill>
              <a:srgbClr val="CA8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764792"/>
            <a:ext cx="2971800" cy="411480"/>
          </a:xfrm>
          <a:prstGeom prst="rect">
            <a:avLst/>
          </a:prstGeom>
          <a:noFill/>
        </p:spPr>
        <p:txBody>
          <a:bodyPr wrap="none">
            <a:spAutoFit/>
          </a:bodyPr>
          <a:lstStyle/>
          <a:p>
            <a:pPr>
              <a:defRPr sz="1800" b="1">
                <a:solidFill>
                  <a:srgbClr val="00536D"/>
                </a:solidFill>
                <a:latin typeface="Aptos"/>
              </a:defRPr>
            </a:pPr>
            <a:r>
              <a:t>Manajemen Hotel</a:t>
            </a:r>
          </a:p>
        </p:txBody>
      </p:sp>
      <p:sp>
        <p:nvSpPr>
          <p:cNvPr id="9" name="TextBox 8"/>
          <p:cNvSpPr txBox="1"/>
          <p:nvPr/>
        </p:nvSpPr>
        <p:spPr>
          <a:xfrm>
            <a:off x="4617720" y="2286000"/>
            <a:ext cx="2971800" cy="2606040"/>
          </a:xfrm>
          <a:prstGeom prst="rect">
            <a:avLst/>
          </a:prstGeom>
          <a:noFill/>
        </p:spPr>
        <p:txBody>
          <a:bodyPr wrap="square">
            <a:spAutoFit/>
          </a:bodyPr>
          <a:lstStyle/>
          <a:p>
            <a:pPr>
              <a:defRPr sz="1500">
                <a:solidFill>
                  <a:srgbClr val="162D38"/>
                </a:solidFill>
                <a:latin typeface="Aptos"/>
              </a:defRPr>
            </a:pPr>
            <a:r>
              <a:t>• Laporan okupansi lebih rapi</a:t>
            </a:r>
          </a:p>
          <a:p>
            <a:pPr>
              <a:defRPr sz="1500">
                <a:solidFill>
                  <a:srgbClr val="162D38"/>
                </a:solidFill>
                <a:latin typeface="Aptos"/>
              </a:defRPr>
            </a:pPr>
            <a:r>
              <a:t>• Data pendapatan lebih akurat</a:t>
            </a:r>
          </a:p>
          <a:p>
            <a:pPr>
              <a:defRPr sz="1500">
                <a:solidFill>
                  <a:srgbClr val="162D38"/>
                </a:solidFill>
                <a:latin typeface="Aptos"/>
              </a:defRPr>
            </a:pPr>
            <a:r>
              <a:t>• Analisis per cabang lebih mudah</a:t>
            </a:r>
          </a:p>
        </p:txBody>
      </p:sp>
      <p:sp>
        <p:nvSpPr>
          <p:cNvPr id="10" name="Rounded Rectangle 9"/>
          <p:cNvSpPr/>
          <p:nvPr/>
        </p:nvSpPr>
        <p:spPr>
          <a:xfrm>
            <a:off x="8138160" y="1600200"/>
            <a:ext cx="3337560" cy="3383280"/>
          </a:xfrm>
          <a:prstGeom prst="roundRect">
            <a:avLst/>
          </a:prstGeom>
          <a:solidFill>
            <a:srgbClr val="DDEDF2"/>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764792"/>
            <a:ext cx="2971800" cy="411480"/>
          </a:xfrm>
          <a:prstGeom prst="rect">
            <a:avLst/>
          </a:prstGeom>
          <a:noFill/>
        </p:spPr>
        <p:txBody>
          <a:bodyPr wrap="none">
            <a:spAutoFit/>
          </a:bodyPr>
          <a:lstStyle/>
          <a:p>
            <a:pPr>
              <a:defRPr sz="1800" b="1">
                <a:solidFill>
                  <a:srgbClr val="00536D"/>
                </a:solidFill>
                <a:latin typeface="Aptos"/>
              </a:defRPr>
            </a:pPr>
            <a:r>
              <a:t>Tamu Hotel</a:t>
            </a:r>
          </a:p>
        </p:txBody>
      </p:sp>
      <p:sp>
        <p:nvSpPr>
          <p:cNvPr id="12" name="TextBox 11"/>
          <p:cNvSpPr txBox="1"/>
          <p:nvPr/>
        </p:nvSpPr>
        <p:spPr>
          <a:xfrm>
            <a:off x="8321040" y="2286000"/>
            <a:ext cx="2971800" cy="2606040"/>
          </a:xfrm>
          <a:prstGeom prst="rect">
            <a:avLst/>
          </a:prstGeom>
          <a:noFill/>
        </p:spPr>
        <p:txBody>
          <a:bodyPr wrap="square">
            <a:spAutoFit/>
          </a:bodyPr>
          <a:lstStyle/>
          <a:p>
            <a:pPr>
              <a:defRPr sz="1500">
                <a:solidFill>
                  <a:srgbClr val="162D38"/>
                </a:solidFill>
                <a:latin typeface="Aptos"/>
              </a:defRPr>
            </a:pPr>
            <a:r>
              <a:t>• Pelayanan lebih cepat</a:t>
            </a:r>
          </a:p>
          <a:p>
            <a:pPr>
              <a:defRPr sz="1500">
                <a:solidFill>
                  <a:srgbClr val="162D38"/>
                </a:solidFill>
                <a:latin typeface="Aptos"/>
              </a:defRPr>
            </a:pPr>
            <a:r>
              <a:t>• Detail pemesanan akurat</a:t>
            </a:r>
          </a:p>
          <a:p>
            <a:pPr>
              <a:defRPr sz="1500">
                <a:solidFill>
                  <a:srgbClr val="162D38"/>
                </a:solidFill>
                <a:latin typeface="Aptos"/>
              </a:defRPr>
            </a:pPr>
            <a:r>
              <a:t>• Pengalaman check-in lebih baik</a:t>
            </a:r>
          </a:p>
        </p:txBody>
      </p:sp>
      <p:sp>
        <p:nvSpPr>
          <p:cNvPr id="13" name="TextBox 12"/>
          <p:cNvSpPr txBox="1"/>
          <p:nvPr/>
        </p:nvSpPr>
        <p:spPr>
          <a:xfrm>
            <a:off x="1097280" y="5486400"/>
            <a:ext cx="10058400" cy="457200"/>
          </a:xfrm>
          <a:prstGeom prst="rect">
            <a:avLst/>
          </a:prstGeom>
          <a:noFill/>
        </p:spPr>
        <p:txBody>
          <a:bodyPr wrap="square">
            <a:normAutofit fontScale="92500"/>
          </a:bodyPr>
          <a:lstStyle/>
          <a:p>
            <a:pPr algn="ctr">
              <a:defRPr sz="1700" b="1">
                <a:solidFill>
                  <a:srgbClr val="00536D"/>
                </a:solidFill>
                <a:latin typeface="Aptos"/>
              </a:defRPr>
            </a:pPr>
            <a:r>
              <a:t>Database yang dinormalisasi bukan hanya rapi secara teknis — tapi juga memperlancar operasional harian jaringan hotel.</a:t>
            </a:r>
          </a:p>
        </p:txBody>
      </p:sp>
      <p:sp>
        <p:nvSpPr>
          <p:cNvPr id="14" name="TextBox 13"/>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Database Pemesanan Hotel SejutaStay</a:t>
            </a:r>
          </a:p>
        </p:txBody>
      </p:sp>
      <p:sp>
        <p:nvSpPr>
          <p:cNvPr id="15" name="TextBox 14"/>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75488"/>
            <a:ext cx="146304" cy="438912"/>
          </a:xfrm>
          <a:prstGeom prst="rect">
            <a:avLst/>
          </a:prstGeom>
          <a:solidFill>
            <a:srgbClr val="005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384048"/>
            <a:ext cx="10698480" cy="685800"/>
          </a:xfrm>
          <a:prstGeom prst="rect">
            <a:avLst/>
          </a:prstGeom>
          <a:noFill/>
        </p:spPr>
        <p:txBody>
          <a:bodyPr wrap="none" lIns="0" tIns="0" rIns="0" bIns="0">
            <a:spAutoFit/>
          </a:bodyPr>
          <a:lstStyle/>
          <a:p>
            <a:pPr>
              <a:defRPr sz="1200" b="1">
                <a:solidFill>
                  <a:srgbClr val="00536D"/>
                </a:solidFill>
                <a:latin typeface="Aptos"/>
              </a:defRPr>
            </a:pPr>
            <a:r>
              <a:t>SEBELUM vs SESUDAH</a:t>
            </a:r>
          </a:p>
          <a:p>
            <a:pPr>
              <a:defRPr sz="2800" b="1">
                <a:solidFill>
                  <a:srgbClr val="162D38"/>
                </a:solidFill>
                <a:latin typeface="Aptos"/>
              </a:defRPr>
            </a:pPr>
            <a:r>
              <a:t>Dari Satu Tabel Besar Menjadi 8 Tabel 3NF yang Rapi</a:t>
            </a:r>
          </a:p>
        </p:txBody>
      </p:sp>
      <p:sp>
        <p:nvSpPr>
          <p:cNvPr id="4" name="Rounded Rectangle 3"/>
          <p:cNvSpPr/>
          <p:nvPr/>
        </p:nvSpPr>
        <p:spPr>
          <a:xfrm>
            <a:off x="777240" y="1371600"/>
            <a:ext cx="5166360" cy="4206240"/>
          </a:xfrm>
          <a:prstGeom prst="roundRect">
            <a:avLst/>
          </a:prstGeom>
          <a:solidFill>
            <a:srgbClr val="FFF0F0"/>
          </a:solidFill>
          <a:ln>
            <a:solidFill>
              <a:srgbClr val="AE3A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63640" y="1371600"/>
            <a:ext cx="5166360" cy="4206240"/>
          </a:xfrm>
          <a:prstGeom prst="roundRect">
            <a:avLst/>
          </a:prstGeom>
          <a:solidFill>
            <a:srgbClr val="EBF9F1"/>
          </a:solidFill>
          <a:ln>
            <a:solidFill>
              <a:srgbClr val="378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645920"/>
            <a:ext cx="4663440" cy="411480"/>
          </a:xfrm>
          <a:prstGeom prst="rect">
            <a:avLst/>
          </a:prstGeom>
          <a:noFill/>
        </p:spPr>
        <p:txBody>
          <a:bodyPr wrap="square">
            <a:normAutofit lnSpcReduction="10000"/>
          </a:bodyPr>
          <a:lstStyle/>
          <a:p>
            <a:pPr algn="ctr">
              <a:defRPr sz="2200" b="1">
                <a:solidFill>
                  <a:srgbClr val="AE3A37"/>
                </a:solidFill>
                <a:latin typeface="Aptos"/>
              </a:defRPr>
            </a:pPr>
            <a:r>
              <a:t>SEBELUM</a:t>
            </a:r>
          </a:p>
        </p:txBody>
      </p:sp>
      <p:sp>
        <p:nvSpPr>
          <p:cNvPr id="7" name="TextBox 6"/>
          <p:cNvSpPr txBox="1"/>
          <p:nvPr/>
        </p:nvSpPr>
        <p:spPr>
          <a:xfrm>
            <a:off x="1143000" y="2240280"/>
            <a:ext cx="4389120" cy="2468880"/>
          </a:xfrm>
          <a:prstGeom prst="rect">
            <a:avLst/>
          </a:prstGeom>
          <a:noFill/>
        </p:spPr>
        <p:txBody>
          <a:bodyPr wrap="square">
            <a:normAutofit/>
          </a:bodyPr>
          <a:lstStyle/>
          <a:p>
            <a:pPr algn="l">
              <a:defRPr sz="1600" b="0">
                <a:solidFill>
                  <a:srgbClr val="162D38"/>
                </a:solidFill>
                <a:latin typeface="Aptos"/>
              </a:defRPr>
            </a:pPr>
            <a:r>
              <a:t>Satu tabel BookingRecord</a:t>
            </a:r>
            <a:br/>
            <a:br/>
            <a:r>
              <a:t>• Data tamu, hotel, kamar, dan layanan tercampur</a:t>
            </a:r>
            <a:br/>
            <a:r>
              <a:t>• Banyak nilai berulang</a:t>
            </a:r>
            <a:br/>
            <a:r>
              <a:t>• Anomali insert, update, dan delete</a:t>
            </a:r>
            <a:br/>
            <a:r>
              <a:t>• Sulit di-query dengan andal</a:t>
            </a:r>
          </a:p>
        </p:txBody>
      </p:sp>
      <p:sp>
        <p:nvSpPr>
          <p:cNvPr id="8" name="TextBox 7"/>
          <p:cNvSpPr txBox="1"/>
          <p:nvPr/>
        </p:nvSpPr>
        <p:spPr>
          <a:xfrm>
            <a:off x="6492240" y="1645920"/>
            <a:ext cx="4663440" cy="411480"/>
          </a:xfrm>
          <a:prstGeom prst="rect">
            <a:avLst/>
          </a:prstGeom>
          <a:noFill/>
        </p:spPr>
        <p:txBody>
          <a:bodyPr wrap="square">
            <a:normAutofit lnSpcReduction="10000"/>
          </a:bodyPr>
          <a:lstStyle/>
          <a:p>
            <a:pPr algn="ctr">
              <a:defRPr sz="2200" b="1">
                <a:solidFill>
                  <a:srgbClr val="378755"/>
                </a:solidFill>
                <a:latin typeface="Aptos"/>
              </a:defRPr>
            </a:pPr>
            <a:r>
              <a:t>SESUDAH</a:t>
            </a:r>
          </a:p>
        </p:txBody>
      </p:sp>
      <p:sp>
        <p:nvSpPr>
          <p:cNvPr id="9" name="TextBox 8"/>
          <p:cNvSpPr txBox="1"/>
          <p:nvPr/>
        </p:nvSpPr>
        <p:spPr>
          <a:xfrm>
            <a:off x="6629400" y="2240280"/>
            <a:ext cx="4389120" cy="2468880"/>
          </a:xfrm>
          <a:prstGeom prst="rect">
            <a:avLst/>
          </a:prstGeom>
          <a:noFill/>
        </p:spPr>
        <p:txBody>
          <a:bodyPr wrap="square">
            <a:normAutofit/>
          </a:bodyPr>
          <a:lstStyle/>
          <a:p>
            <a:pPr algn="l">
              <a:defRPr sz="1600" b="0">
                <a:solidFill>
                  <a:srgbClr val="162D38"/>
                </a:solidFill>
                <a:latin typeface="Aptos"/>
              </a:defRPr>
            </a:pPr>
            <a:r>
              <a:t>8 tabel dalam 3NF</a:t>
            </a:r>
            <a:br/>
            <a:br/>
            <a:r>
              <a:t>• Tabel Guest, Hotel, Room, RoomType, Service, Booking terpisah</a:t>
            </a:r>
            <a:br/>
            <a:r>
              <a:t>• Relasi PK/FK</a:t>
            </a:r>
            <a:br/>
            <a:r>
              <a:t>• Redundansi berkurang</a:t>
            </a:r>
            <a:br/>
            <a:r>
              <a:t>• Query JOIN dan validasi lebih mudah</a:t>
            </a:r>
          </a:p>
        </p:txBody>
      </p:sp>
      <p:sp>
        <p:nvSpPr>
          <p:cNvPr id="10" name="TextBox 9"/>
          <p:cNvSpPr txBox="1"/>
          <p:nvPr/>
        </p:nvSpPr>
        <p:spPr>
          <a:xfrm>
            <a:off x="1188720" y="5806440"/>
            <a:ext cx="9784080" cy="411480"/>
          </a:xfrm>
          <a:prstGeom prst="rect">
            <a:avLst/>
          </a:prstGeom>
          <a:noFill/>
        </p:spPr>
        <p:txBody>
          <a:bodyPr wrap="square">
            <a:normAutofit/>
          </a:bodyPr>
          <a:lstStyle/>
          <a:p>
            <a:pPr algn="ctr">
              <a:defRPr sz="1700" b="1">
                <a:solidFill>
                  <a:srgbClr val="00536D"/>
                </a:solidFill>
                <a:latin typeface="Aptos"/>
              </a:defRPr>
            </a:pPr>
            <a:r>
              <a:t>Normalisasi tidak mengubah isi data, hanya menyusun ulang menjadi struktur yang lebih aman dan scalable.</a:t>
            </a:r>
          </a:p>
        </p:txBody>
      </p:sp>
      <p:sp>
        <p:nvSpPr>
          <p:cNvPr id="11" name="TextBox 10"/>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Database Pemesanan Hotel SejutaStay</a:t>
            </a:r>
          </a:p>
        </p:txBody>
      </p:sp>
      <p:sp>
        <p:nvSpPr>
          <p:cNvPr id="12" name="TextBox 11"/>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475488"/>
            <a:ext cx="146304" cy="438912"/>
          </a:xfrm>
          <a:prstGeom prst="rect">
            <a:avLst/>
          </a:prstGeom>
          <a:solidFill>
            <a:srgbClr val="005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384048"/>
            <a:ext cx="10698480" cy="685800"/>
          </a:xfrm>
          <a:prstGeom prst="rect">
            <a:avLst/>
          </a:prstGeom>
          <a:noFill/>
        </p:spPr>
        <p:txBody>
          <a:bodyPr wrap="none" lIns="0" tIns="0" rIns="0" bIns="0">
            <a:spAutoFit/>
          </a:bodyPr>
          <a:lstStyle/>
          <a:p>
            <a:pPr>
              <a:defRPr sz="1200" b="1">
                <a:solidFill>
                  <a:srgbClr val="00536D"/>
                </a:solidFill>
                <a:latin typeface="Aptos"/>
              </a:defRPr>
            </a:pPr>
            <a:r>
              <a:t>HASIL MYSQL</a:t>
            </a:r>
          </a:p>
          <a:p>
            <a:pPr>
              <a:defRPr sz="2800" b="1">
                <a:solidFill>
                  <a:srgbClr val="162D38"/>
                </a:solidFill>
                <a:latin typeface="Aptos"/>
              </a:defRPr>
            </a:pPr>
            <a:r>
              <a:t>Bukti Implementasi &amp; Hasil Akhir</a:t>
            </a:r>
          </a:p>
        </p:txBody>
      </p:sp>
      <p:sp>
        <p:nvSpPr>
          <p:cNvPr id="4" name="TextBox 3"/>
          <p:cNvSpPr txBox="1"/>
          <p:nvPr/>
        </p:nvSpPr>
        <p:spPr>
          <a:xfrm>
            <a:off x="7772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CREATE TABLE + FK</a:t>
            </a:r>
          </a:p>
        </p:txBody>
      </p:sp>
      <p:sp>
        <p:nvSpPr>
          <p:cNvPr id="5" name="Rounded Rectangle 4"/>
          <p:cNvSpPr/>
          <p:nvPr/>
        </p:nvSpPr>
        <p:spPr>
          <a:xfrm>
            <a:off x="6858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73351"/>
            <a:ext cx="3108960" cy="1645920"/>
          </a:xfrm>
          <a:prstGeom prst="rect">
            <a:avLst/>
          </a:prstGeom>
          <a:noFill/>
        </p:spPr>
        <p:txBody>
          <a:bodyPr wrap="square">
            <a:spAutoFit/>
          </a:bodyPr>
          <a:lstStyle/>
          <a:p>
            <a:pPr>
              <a:defRPr sz="1100">
                <a:solidFill>
                  <a:srgbClr val="162D38"/>
                </a:solidFill>
                <a:latin typeface="Aptos"/>
              </a:defRPr>
            </a:pPr>
            <a:r>
              <a:t>CREATE TABLE Room (</a:t>
            </a:r>
          </a:p>
          <a:p>
            <a:pPr>
              <a:defRPr sz="1100">
                <a:solidFill>
                  <a:srgbClr val="162D38"/>
                </a:solidFill>
                <a:latin typeface="Aptos"/>
              </a:defRPr>
            </a:pPr>
            <a:r>
              <a:t>  RoomNo INT PRIMARY KEY,</a:t>
            </a:r>
          </a:p>
          <a:p>
            <a:pPr>
              <a:defRPr sz="1100">
                <a:solidFill>
                  <a:srgbClr val="162D38"/>
                </a:solidFill>
                <a:latin typeface="Aptos"/>
              </a:defRPr>
            </a:pPr>
            <a:r>
              <a:t>  HotelID VARCHAR(5),</a:t>
            </a:r>
          </a:p>
          <a:p>
            <a:pPr>
              <a:defRPr sz="1100">
                <a:solidFill>
                  <a:srgbClr val="162D38"/>
                </a:solidFill>
                <a:latin typeface="Aptos"/>
              </a:defRPr>
            </a:pPr>
            <a:r>
              <a:t>  RoomTypeID VARCHAR(5),</a:t>
            </a:r>
          </a:p>
          <a:p>
            <a:pPr>
              <a:defRPr sz="1100">
                <a:solidFill>
                  <a:srgbClr val="162D38"/>
                </a:solidFill>
                <a:latin typeface="Aptos"/>
              </a:defRPr>
            </a:pPr>
            <a:r>
              <a:t>  FOREIGN KEY (HotelID)</a:t>
            </a:r>
          </a:p>
          <a:p>
            <a:pPr>
              <a:defRPr sz="1100">
                <a:solidFill>
                  <a:srgbClr val="162D38"/>
                </a:solidFill>
                <a:latin typeface="Aptos"/>
              </a:defRPr>
            </a:pPr>
            <a:r>
              <a:t>    REFERENCES Hotel(HotelID)</a:t>
            </a:r>
          </a:p>
          <a:p>
            <a:pPr>
              <a:defRPr sz="1100">
                <a:solidFill>
                  <a:srgbClr val="162D38"/>
                </a:solidFill>
                <a:latin typeface="Aptos"/>
              </a:defRPr>
            </a:pPr>
            <a:r>
              <a:t>);</a:t>
            </a:r>
          </a:p>
        </p:txBody>
      </p:sp>
      <p:sp>
        <p:nvSpPr>
          <p:cNvPr id="7" name="TextBox 6"/>
          <p:cNvSpPr txBox="1"/>
          <p:nvPr/>
        </p:nvSpPr>
        <p:spPr>
          <a:xfrm>
            <a:off x="44348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Verifikasi JOIN</a:t>
            </a:r>
          </a:p>
        </p:txBody>
      </p:sp>
      <p:sp>
        <p:nvSpPr>
          <p:cNvPr id="8" name="Rounded Rectangle 7"/>
          <p:cNvSpPr/>
          <p:nvPr/>
        </p:nvSpPr>
        <p:spPr>
          <a:xfrm>
            <a:off x="43434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80" y="1673351"/>
            <a:ext cx="3108960" cy="1645920"/>
          </a:xfrm>
          <a:prstGeom prst="rect">
            <a:avLst/>
          </a:prstGeom>
          <a:noFill/>
        </p:spPr>
        <p:txBody>
          <a:bodyPr wrap="square">
            <a:spAutoFit/>
          </a:bodyPr>
          <a:lstStyle/>
          <a:p>
            <a:pPr>
              <a:defRPr sz="1100">
                <a:solidFill>
                  <a:srgbClr val="162D38"/>
                </a:solidFill>
                <a:latin typeface="Aptos"/>
              </a:defRPr>
            </a:pPr>
            <a:r>
              <a:t>SELECT b.BookingID,</a:t>
            </a:r>
          </a:p>
          <a:p>
            <a:pPr>
              <a:defRPr sz="1100">
                <a:solidFill>
                  <a:srgbClr val="162D38"/>
                </a:solidFill>
                <a:latin typeface="Aptos"/>
              </a:defRPr>
            </a:pPr>
            <a:r>
              <a:t>       g.GuestName,</a:t>
            </a:r>
          </a:p>
          <a:p>
            <a:pPr>
              <a:defRPr sz="1100">
                <a:solidFill>
                  <a:srgbClr val="162D38"/>
                </a:solidFill>
                <a:latin typeface="Aptos"/>
              </a:defRPr>
            </a:pPr>
            <a:r>
              <a:t>       h.HotelName,</a:t>
            </a:r>
          </a:p>
          <a:p>
            <a:pPr>
              <a:defRPr sz="1100">
                <a:solidFill>
                  <a:srgbClr val="162D38"/>
                </a:solidFill>
                <a:latin typeface="Aptos"/>
              </a:defRPr>
            </a:pPr>
            <a:r>
              <a:t>       r.RoomNo</a:t>
            </a:r>
          </a:p>
          <a:p>
            <a:pPr>
              <a:defRPr sz="1100">
                <a:solidFill>
                  <a:srgbClr val="162D38"/>
                </a:solidFill>
                <a:latin typeface="Aptos"/>
              </a:defRPr>
            </a:pPr>
            <a:r>
              <a:t>FROM Booking b</a:t>
            </a:r>
          </a:p>
          <a:p>
            <a:pPr>
              <a:defRPr sz="1100">
                <a:solidFill>
                  <a:srgbClr val="162D38"/>
                </a:solidFill>
                <a:latin typeface="Aptos"/>
              </a:defRPr>
            </a:pPr>
            <a:r>
              <a:t>JOIN Guest g ...</a:t>
            </a:r>
          </a:p>
          <a:p>
            <a:pPr>
              <a:defRPr sz="1100">
                <a:solidFill>
                  <a:srgbClr val="162D38"/>
                </a:solidFill>
                <a:latin typeface="Aptos"/>
              </a:defRPr>
            </a:pPr>
            <a:r>
              <a:t>JOIN Room r ...;</a:t>
            </a:r>
          </a:p>
        </p:txBody>
      </p:sp>
      <p:sp>
        <p:nvSpPr>
          <p:cNvPr id="10" name="TextBox 9"/>
          <p:cNvSpPr txBox="1"/>
          <p:nvPr/>
        </p:nvSpPr>
        <p:spPr>
          <a:xfrm>
            <a:off x="80924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Cek Jumlah Baris</a:t>
            </a:r>
          </a:p>
        </p:txBody>
      </p:sp>
      <p:sp>
        <p:nvSpPr>
          <p:cNvPr id="11" name="Rounded Rectangle 10"/>
          <p:cNvSpPr/>
          <p:nvPr/>
        </p:nvSpPr>
        <p:spPr>
          <a:xfrm>
            <a:off x="80010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83879" y="1673351"/>
            <a:ext cx="3108960" cy="1645920"/>
          </a:xfrm>
          <a:prstGeom prst="rect">
            <a:avLst/>
          </a:prstGeom>
          <a:noFill/>
        </p:spPr>
        <p:txBody>
          <a:bodyPr wrap="square">
            <a:spAutoFit/>
          </a:bodyPr>
          <a:lstStyle/>
          <a:p>
            <a:pPr>
              <a:defRPr sz="1100">
                <a:solidFill>
                  <a:srgbClr val="162D38"/>
                </a:solidFill>
                <a:latin typeface="Aptos"/>
              </a:defRPr>
            </a:pPr>
            <a:r>
              <a:t>Guest = 6</a:t>
            </a:r>
          </a:p>
          <a:p>
            <a:pPr>
              <a:defRPr sz="1100">
                <a:solidFill>
                  <a:srgbClr val="162D38"/>
                </a:solidFill>
                <a:latin typeface="Aptos"/>
              </a:defRPr>
            </a:pPr>
            <a:r>
              <a:t>Hotel = 5</a:t>
            </a:r>
          </a:p>
          <a:p>
            <a:pPr>
              <a:defRPr sz="1100">
                <a:solidFill>
                  <a:srgbClr val="162D38"/>
                </a:solidFill>
                <a:latin typeface="Aptos"/>
              </a:defRPr>
            </a:pPr>
            <a:r>
              <a:t>RoomType = 5</a:t>
            </a:r>
          </a:p>
          <a:p>
            <a:pPr>
              <a:defRPr sz="1100">
                <a:solidFill>
                  <a:srgbClr val="162D38"/>
                </a:solidFill>
                <a:latin typeface="Aptos"/>
              </a:defRPr>
            </a:pPr>
            <a:r>
              <a:t>Service = 5</a:t>
            </a:r>
          </a:p>
          <a:p>
            <a:pPr>
              <a:defRPr sz="1100">
                <a:solidFill>
                  <a:srgbClr val="162D38"/>
                </a:solidFill>
                <a:latin typeface="Aptos"/>
              </a:defRPr>
            </a:pPr>
            <a:r>
              <a:t>Room = 9</a:t>
            </a:r>
          </a:p>
          <a:p>
            <a:pPr>
              <a:defRPr sz="1100">
                <a:solidFill>
                  <a:srgbClr val="162D38"/>
                </a:solidFill>
                <a:latin typeface="Aptos"/>
              </a:defRPr>
            </a:pPr>
            <a:r>
              <a:t>Booking = 7</a:t>
            </a:r>
          </a:p>
          <a:p>
            <a:pPr>
              <a:defRPr sz="1100">
                <a:solidFill>
                  <a:srgbClr val="162D38"/>
                </a:solidFill>
                <a:latin typeface="Aptos"/>
              </a:defRPr>
            </a:pPr>
            <a:r>
              <a:t>BookingRoom = 9</a:t>
            </a:r>
          </a:p>
          <a:p>
            <a:pPr>
              <a:defRPr sz="1100">
                <a:solidFill>
                  <a:srgbClr val="162D38"/>
                </a:solidFill>
                <a:latin typeface="Aptos"/>
              </a:defRPr>
            </a:pPr>
            <a:r>
              <a:t>BookingService = 12</a:t>
            </a:r>
          </a:p>
        </p:txBody>
      </p:sp>
      <p:sp>
        <p:nvSpPr>
          <p:cNvPr id="14" name="TextBox 13"/>
          <p:cNvSpPr txBox="1"/>
          <p:nvPr/>
        </p:nvSpPr>
        <p:spPr>
          <a:xfrm>
            <a:off x="1058731" y="3524724"/>
            <a:ext cx="2910293" cy="535212"/>
          </a:xfrm>
          <a:prstGeom prst="rect">
            <a:avLst/>
          </a:prstGeom>
          <a:noFill/>
        </p:spPr>
        <p:txBody>
          <a:bodyPr wrap="square">
            <a:normAutofit fontScale="92500" lnSpcReduction="10000"/>
          </a:bodyPr>
          <a:lstStyle/>
          <a:p>
            <a:pPr>
              <a:defRPr sz="1700" b="1">
                <a:solidFill>
                  <a:srgbClr val="00536D"/>
                </a:solidFill>
                <a:latin typeface="Aptos"/>
              </a:defRPr>
            </a:pPr>
            <a:r>
              <a:rPr lang="en-US" sz="1700" b="1" dirty="0"/>
              <a:t>Screenshot phpMyAdmin menjalankan query (cek jumlah baris)</a:t>
            </a:r>
            <a:endParaRPr dirty="0"/>
          </a:p>
        </p:txBody>
      </p:sp>
      <p:sp>
        <p:nvSpPr>
          <p:cNvPr id="15" name="TextBox 14"/>
          <p:cNvSpPr txBox="1"/>
          <p:nvPr/>
        </p:nvSpPr>
        <p:spPr>
          <a:xfrm>
            <a:off x="1097280" y="4617720"/>
            <a:ext cx="9966960" cy="365760"/>
          </a:xfrm>
          <a:prstGeom prst="rect">
            <a:avLst/>
          </a:prstGeom>
          <a:noFill/>
        </p:spPr>
        <p:txBody>
          <a:bodyPr wrap="square">
            <a:normAutofit/>
          </a:bodyPr>
          <a:lstStyle/>
          <a:p>
            <a:pPr algn="l">
              <a:defRPr sz="1500" b="1">
                <a:solidFill>
                  <a:srgbClr val="162D38"/>
                </a:solidFill>
                <a:latin typeface="Aptos"/>
              </a:defRPr>
            </a:pPr>
            <a:endParaRPr dirty="0"/>
          </a:p>
        </p:txBody>
      </p:sp>
      <p:sp>
        <p:nvSpPr>
          <p:cNvPr id="17" name="TextBox 16"/>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Database Pemesanan Hotel SejutaStay</a:t>
            </a:r>
          </a:p>
        </p:txBody>
      </p:sp>
      <p:sp>
        <p:nvSpPr>
          <p:cNvPr id="18" name="TextBox 17"/>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13</a:t>
            </a:r>
          </a:p>
        </p:txBody>
      </p:sp>
      <p:pic>
        <p:nvPicPr>
          <p:cNvPr id="20" name="Picture 19">
            <a:extLst>
              <a:ext uri="{FF2B5EF4-FFF2-40B4-BE49-F238E27FC236}">
                <a16:creationId xmlns:a16="http://schemas.microsoft.com/office/drawing/2014/main" id="{680369F5-8679-F264-79A0-17C9D60E7B1C}"/>
              </a:ext>
            </a:extLst>
          </p:cNvPr>
          <p:cNvPicPr>
            <a:picLocks noChangeAspect="1"/>
          </p:cNvPicPr>
          <p:nvPr/>
        </p:nvPicPr>
        <p:blipFill>
          <a:blip r:embed="rId3"/>
          <a:stretch>
            <a:fillRect/>
          </a:stretch>
        </p:blipFill>
        <p:spPr>
          <a:xfrm>
            <a:off x="1250226" y="4124307"/>
            <a:ext cx="2910294" cy="2057687"/>
          </a:xfrm>
          <a:prstGeom prst="rect">
            <a:avLst/>
          </a:prstGeom>
        </p:spPr>
      </p:pic>
      <p:sp>
        <p:nvSpPr>
          <p:cNvPr id="22" name="TextBox 21">
            <a:extLst>
              <a:ext uri="{FF2B5EF4-FFF2-40B4-BE49-F238E27FC236}">
                <a16:creationId xmlns:a16="http://schemas.microsoft.com/office/drawing/2014/main" id="{523999F8-AF5F-6E62-49A5-D3A39D2094DE}"/>
              </a:ext>
            </a:extLst>
          </p:cNvPr>
          <p:cNvSpPr txBox="1"/>
          <p:nvPr/>
        </p:nvSpPr>
        <p:spPr>
          <a:xfrm>
            <a:off x="6903720" y="3593591"/>
            <a:ext cx="2194560" cy="320040"/>
          </a:xfrm>
          <a:prstGeom prst="rect">
            <a:avLst/>
          </a:prstGeom>
          <a:noFill/>
        </p:spPr>
        <p:txBody>
          <a:bodyPr wrap="square">
            <a:normAutofit fontScale="92500" lnSpcReduction="10000"/>
          </a:bodyPr>
          <a:lstStyle/>
          <a:p>
            <a:pPr>
              <a:defRPr sz="1700" b="1">
                <a:solidFill>
                  <a:srgbClr val="00536D"/>
                </a:solidFill>
                <a:latin typeface="Aptos"/>
              </a:defRPr>
            </a:pPr>
            <a:r>
              <a:rPr lang="en-US" sz="1700" b="1" dirty="0"/>
              <a:t>Hasil</a:t>
            </a:r>
            <a:endParaRPr dirty="0"/>
          </a:p>
        </p:txBody>
      </p:sp>
      <p:pic>
        <p:nvPicPr>
          <p:cNvPr id="24" name="Picture 23">
            <a:extLst>
              <a:ext uri="{FF2B5EF4-FFF2-40B4-BE49-F238E27FC236}">
                <a16:creationId xmlns:a16="http://schemas.microsoft.com/office/drawing/2014/main" id="{943536DA-F57F-91A2-D4C6-409A0F188D13}"/>
              </a:ext>
            </a:extLst>
          </p:cNvPr>
          <p:cNvPicPr>
            <a:picLocks noChangeAspect="1"/>
          </p:cNvPicPr>
          <p:nvPr/>
        </p:nvPicPr>
        <p:blipFill>
          <a:blip r:embed="rId4"/>
          <a:stretch>
            <a:fillRect/>
          </a:stretch>
        </p:blipFill>
        <p:spPr>
          <a:xfrm>
            <a:off x="6946400" y="3913631"/>
            <a:ext cx="2217920" cy="23859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DD566F4-FDC3-C5CE-A54F-7D268CCB465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64D87D5-765F-5A15-6C1C-80F40A60EAD5}"/>
              </a:ext>
            </a:extLst>
          </p:cNvPr>
          <p:cNvSpPr/>
          <p:nvPr/>
        </p:nvSpPr>
        <p:spPr>
          <a:xfrm>
            <a:off x="502920" y="475488"/>
            <a:ext cx="146304" cy="438912"/>
          </a:xfrm>
          <a:prstGeom prst="rect">
            <a:avLst/>
          </a:prstGeom>
          <a:solidFill>
            <a:srgbClr val="005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02E349F-D883-6B3A-90B8-E4995A7D4A77}"/>
              </a:ext>
            </a:extLst>
          </p:cNvPr>
          <p:cNvSpPr txBox="1"/>
          <p:nvPr/>
        </p:nvSpPr>
        <p:spPr>
          <a:xfrm>
            <a:off x="868680" y="384048"/>
            <a:ext cx="10698480" cy="685800"/>
          </a:xfrm>
          <a:prstGeom prst="rect">
            <a:avLst/>
          </a:prstGeom>
          <a:noFill/>
        </p:spPr>
        <p:txBody>
          <a:bodyPr wrap="none" lIns="0" tIns="0" rIns="0" bIns="0">
            <a:spAutoFit/>
          </a:bodyPr>
          <a:lstStyle/>
          <a:p>
            <a:pPr>
              <a:defRPr sz="1200" b="1">
                <a:solidFill>
                  <a:srgbClr val="00536D"/>
                </a:solidFill>
                <a:latin typeface="Aptos"/>
              </a:defRPr>
            </a:pPr>
            <a:r>
              <a:t>HASIL MYSQL</a:t>
            </a:r>
          </a:p>
          <a:p>
            <a:pPr>
              <a:defRPr sz="2800" b="1">
                <a:solidFill>
                  <a:srgbClr val="162D38"/>
                </a:solidFill>
                <a:latin typeface="Aptos"/>
              </a:defRPr>
            </a:pPr>
            <a:r>
              <a:t>Bukti Implementasi &amp; Hasil Akhir</a:t>
            </a:r>
          </a:p>
        </p:txBody>
      </p:sp>
      <p:sp>
        <p:nvSpPr>
          <p:cNvPr id="4" name="TextBox 3">
            <a:extLst>
              <a:ext uri="{FF2B5EF4-FFF2-40B4-BE49-F238E27FC236}">
                <a16:creationId xmlns:a16="http://schemas.microsoft.com/office/drawing/2014/main" id="{08CD902B-074A-A458-1887-0FCE9D415898}"/>
              </a:ext>
            </a:extLst>
          </p:cNvPr>
          <p:cNvSpPr txBox="1"/>
          <p:nvPr/>
        </p:nvSpPr>
        <p:spPr>
          <a:xfrm>
            <a:off x="7772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CREATE TABLE + FK</a:t>
            </a:r>
          </a:p>
        </p:txBody>
      </p:sp>
      <p:sp>
        <p:nvSpPr>
          <p:cNvPr id="5" name="Rounded Rectangle 4">
            <a:extLst>
              <a:ext uri="{FF2B5EF4-FFF2-40B4-BE49-F238E27FC236}">
                <a16:creationId xmlns:a16="http://schemas.microsoft.com/office/drawing/2014/main" id="{97DCACA8-A90D-642E-9E3F-EEABD4FE2DFD}"/>
              </a:ext>
            </a:extLst>
          </p:cNvPr>
          <p:cNvSpPr/>
          <p:nvPr/>
        </p:nvSpPr>
        <p:spPr>
          <a:xfrm>
            <a:off x="6858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A6E40EC-79AC-BD30-770D-929B60A933B2}"/>
              </a:ext>
            </a:extLst>
          </p:cNvPr>
          <p:cNvSpPr txBox="1"/>
          <p:nvPr/>
        </p:nvSpPr>
        <p:spPr>
          <a:xfrm>
            <a:off x="868680" y="1673351"/>
            <a:ext cx="3108960" cy="1645920"/>
          </a:xfrm>
          <a:prstGeom prst="rect">
            <a:avLst/>
          </a:prstGeom>
          <a:noFill/>
        </p:spPr>
        <p:txBody>
          <a:bodyPr wrap="square">
            <a:spAutoFit/>
          </a:bodyPr>
          <a:lstStyle/>
          <a:p>
            <a:pPr>
              <a:defRPr sz="1100">
                <a:solidFill>
                  <a:srgbClr val="162D38"/>
                </a:solidFill>
                <a:latin typeface="Aptos"/>
              </a:defRPr>
            </a:pPr>
            <a:r>
              <a:t>CREATE TABLE Room (</a:t>
            </a:r>
          </a:p>
          <a:p>
            <a:pPr>
              <a:defRPr sz="1100">
                <a:solidFill>
                  <a:srgbClr val="162D38"/>
                </a:solidFill>
                <a:latin typeface="Aptos"/>
              </a:defRPr>
            </a:pPr>
            <a:r>
              <a:t>  RoomNo INT PRIMARY KEY,</a:t>
            </a:r>
          </a:p>
          <a:p>
            <a:pPr>
              <a:defRPr sz="1100">
                <a:solidFill>
                  <a:srgbClr val="162D38"/>
                </a:solidFill>
                <a:latin typeface="Aptos"/>
              </a:defRPr>
            </a:pPr>
            <a:r>
              <a:t>  HotelID VARCHAR(5),</a:t>
            </a:r>
          </a:p>
          <a:p>
            <a:pPr>
              <a:defRPr sz="1100">
                <a:solidFill>
                  <a:srgbClr val="162D38"/>
                </a:solidFill>
                <a:latin typeface="Aptos"/>
              </a:defRPr>
            </a:pPr>
            <a:r>
              <a:t>  RoomTypeID VARCHAR(5),</a:t>
            </a:r>
          </a:p>
          <a:p>
            <a:pPr>
              <a:defRPr sz="1100">
                <a:solidFill>
                  <a:srgbClr val="162D38"/>
                </a:solidFill>
                <a:latin typeface="Aptos"/>
              </a:defRPr>
            </a:pPr>
            <a:r>
              <a:t>  FOREIGN KEY (HotelID)</a:t>
            </a:r>
          </a:p>
          <a:p>
            <a:pPr>
              <a:defRPr sz="1100">
                <a:solidFill>
                  <a:srgbClr val="162D38"/>
                </a:solidFill>
                <a:latin typeface="Aptos"/>
              </a:defRPr>
            </a:pPr>
            <a:r>
              <a:t>    REFERENCES Hotel(HotelID)</a:t>
            </a:r>
          </a:p>
          <a:p>
            <a:pPr>
              <a:defRPr sz="1100">
                <a:solidFill>
                  <a:srgbClr val="162D38"/>
                </a:solidFill>
                <a:latin typeface="Aptos"/>
              </a:defRPr>
            </a:pPr>
            <a:r>
              <a:t>);</a:t>
            </a:r>
          </a:p>
        </p:txBody>
      </p:sp>
      <p:sp>
        <p:nvSpPr>
          <p:cNvPr id="7" name="TextBox 6">
            <a:extLst>
              <a:ext uri="{FF2B5EF4-FFF2-40B4-BE49-F238E27FC236}">
                <a16:creationId xmlns:a16="http://schemas.microsoft.com/office/drawing/2014/main" id="{18A703AB-36F3-065B-5590-8091152331CB}"/>
              </a:ext>
            </a:extLst>
          </p:cNvPr>
          <p:cNvSpPr txBox="1"/>
          <p:nvPr/>
        </p:nvSpPr>
        <p:spPr>
          <a:xfrm>
            <a:off x="44348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Verifikasi JOIN</a:t>
            </a:r>
          </a:p>
        </p:txBody>
      </p:sp>
      <p:sp>
        <p:nvSpPr>
          <p:cNvPr id="8" name="Rounded Rectangle 7">
            <a:extLst>
              <a:ext uri="{FF2B5EF4-FFF2-40B4-BE49-F238E27FC236}">
                <a16:creationId xmlns:a16="http://schemas.microsoft.com/office/drawing/2014/main" id="{CC443EF5-45CE-2D4E-3732-FB4A116BA973}"/>
              </a:ext>
            </a:extLst>
          </p:cNvPr>
          <p:cNvSpPr/>
          <p:nvPr/>
        </p:nvSpPr>
        <p:spPr>
          <a:xfrm>
            <a:off x="43434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CFBE600-A20A-B227-4E3E-C1A7E582D02F}"/>
              </a:ext>
            </a:extLst>
          </p:cNvPr>
          <p:cNvSpPr txBox="1"/>
          <p:nvPr/>
        </p:nvSpPr>
        <p:spPr>
          <a:xfrm>
            <a:off x="4526280" y="1673351"/>
            <a:ext cx="3108960" cy="1645920"/>
          </a:xfrm>
          <a:prstGeom prst="rect">
            <a:avLst/>
          </a:prstGeom>
          <a:noFill/>
        </p:spPr>
        <p:txBody>
          <a:bodyPr wrap="square">
            <a:spAutoFit/>
          </a:bodyPr>
          <a:lstStyle/>
          <a:p>
            <a:pPr>
              <a:defRPr sz="1100">
                <a:solidFill>
                  <a:srgbClr val="162D38"/>
                </a:solidFill>
                <a:latin typeface="Aptos"/>
              </a:defRPr>
            </a:pPr>
            <a:r>
              <a:t>SELECT b.BookingID,</a:t>
            </a:r>
          </a:p>
          <a:p>
            <a:pPr>
              <a:defRPr sz="1100">
                <a:solidFill>
                  <a:srgbClr val="162D38"/>
                </a:solidFill>
                <a:latin typeface="Aptos"/>
              </a:defRPr>
            </a:pPr>
            <a:r>
              <a:t>       g.GuestName,</a:t>
            </a:r>
          </a:p>
          <a:p>
            <a:pPr>
              <a:defRPr sz="1100">
                <a:solidFill>
                  <a:srgbClr val="162D38"/>
                </a:solidFill>
                <a:latin typeface="Aptos"/>
              </a:defRPr>
            </a:pPr>
            <a:r>
              <a:t>       h.HotelName,</a:t>
            </a:r>
          </a:p>
          <a:p>
            <a:pPr>
              <a:defRPr sz="1100">
                <a:solidFill>
                  <a:srgbClr val="162D38"/>
                </a:solidFill>
                <a:latin typeface="Aptos"/>
              </a:defRPr>
            </a:pPr>
            <a:r>
              <a:t>       r.RoomNo</a:t>
            </a:r>
          </a:p>
          <a:p>
            <a:pPr>
              <a:defRPr sz="1100">
                <a:solidFill>
                  <a:srgbClr val="162D38"/>
                </a:solidFill>
                <a:latin typeface="Aptos"/>
              </a:defRPr>
            </a:pPr>
            <a:r>
              <a:t>FROM Booking b</a:t>
            </a:r>
          </a:p>
          <a:p>
            <a:pPr>
              <a:defRPr sz="1100">
                <a:solidFill>
                  <a:srgbClr val="162D38"/>
                </a:solidFill>
                <a:latin typeface="Aptos"/>
              </a:defRPr>
            </a:pPr>
            <a:r>
              <a:t>JOIN Guest g ...</a:t>
            </a:r>
          </a:p>
          <a:p>
            <a:pPr>
              <a:defRPr sz="1100">
                <a:solidFill>
                  <a:srgbClr val="162D38"/>
                </a:solidFill>
                <a:latin typeface="Aptos"/>
              </a:defRPr>
            </a:pPr>
            <a:r>
              <a:t>JOIN Room r ...;</a:t>
            </a:r>
          </a:p>
        </p:txBody>
      </p:sp>
      <p:sp>
        <p:nvSpPr>
          <p:cNvPr id="10" name="TextBox 9">
            <a:extLst>
              <a:ext uri="{FF2B5EF4-FFF2-40B4-BE49-F238E27FC236}">
                <a16:creationId xmlns:a16="http://schemas.microsoft.com/office/drawing/2014/main" id="{AAA2DE50-6DA1-EADD-0028-D0E53CB1AEB5}"/>
              </a:ext>
            </a:extLst>
          </p:cNvPr>
          <p:cNvSpPr txBox="1"/>
          <p:nvPr/>
        </p:nvSpPr>
        <p:spPr>
          <a:xfrm>
            <a:off x="80924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Cek Jumlah Baris</a:t>
            </a:r>
          </a:p>
        </p:txBody>
      </p:sp>
      <p:sp>
        <p:nvSpPr>
          <p:cNvPr id="11" name="Rounded Rectangle 10">
            <a:extLst>
              <a:ext uri="{FF2B5EF4-FFF2-40B4-BE49-F238E27FC236}">
                <a16:creationId xmlns:a16="http://schemas.microsoft.com/office/drawing/2014/main" id="{7DDE0BB4-52E0-0CF4-90AF-20D39D9824F2}"/>
              </a:ext>
            </a:extLst>
          </p:cNvPr>
          <p:cNvSpPr/>
          <p:nvPr/>
        </p:nvSpPr>
        <p:spPr>
          <a:xfrm>
            <a:off x="80010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6FE59C84-BEF6-1AB4-739B-ECADFD45A46A}"/>
              </a:ext>
            </a:extLst>
          </p:cNvPr>
          <p:cNvSpPr txBox="1"/>
          <p:nvPr/>
        </p:nvSpPr>
        <p:spPr>
          <a:xfrm>
            <a:off x="8183879" y="1673351"/>
            <a:ext cx="3108960" cy="1645920"/>
          </a:xfrm>
          <a:prstGeom prst="rect">
            <a:avLst/>
          </a:prstGeom>
          <a:noFill/>
        </p:spPr>
        <p:txBody>
          <a:bodyPr wrap="square">
            <a:spAutoFit/>
          </a:bodyPr>
          <a:lstStyle/>
          <a:p>
            <a:pPr>
              <a:defRPr sz="1100">
                <a:solidFill>
                  <a:srgbClr val="162D38"/>
                </a:solidFill>
                <a:latin typeface="Aptos"/>
              </a:defRPr>
            </a:pPr>
            <a:r>
              <a:t>Guest = 6</a:t>
            </a:r>
          </a:p>
          <a:p>
            <a:pPr>
              <a:defRPr sz="1100">
                <a:solidFill>
                  <a:srgbClr val="162D38"/>
                </a:solidFill>
                <a:latin typeface="Aptos"/>
              </a:defRPr>
            </a:pPr>
            <a:r>
              <a:t>Hotel = 5</a:t>
            </a:r>
          </a:p>
          <a:p>
            <a:pPr>
              <a:defRPr sz="1100">
                <a:solidFill>
                  <a:srgbClr val="162D38"/>
                </a:solidFill>
                <a:latin typeface="Aptos"/>
              </a:defRPr>
            </a:pPr>
            <a:r>
              <a:t>RoomType = 5</a:t>
            </a:r>
          </a:p>
          <a:p>
            <a:pPr>
              <a:defRPr sz="1100">
                <a:solidFill>
                  <a:srgbClr val="162D38"/>
                </a:solidFill>
                <a:latin typeface="Aptos"/>
              </a:defRPr>
            </a:pPr>
            <a:r>
              <a:t>Service = 5</a:t>
            </a:r>
          </a:p>
          <a:p>
            <a:pPr>
              <a:defRPr sz="1100">
                <a:solidFill>
                  <a:srgbClr val="162D38"/>
                </a:solidFill>
                <a:latin typeface="Aptos"/>
              </a:defRPr>
            </a:pPr>
            <a:r>
              <a:t>Room = 9</a:t>
            </a:r>
          </a:p>
          <a:p>
            <a:pPr>
              <a:defRPr sz="1100">
                <a:solidFill>
                  <a:srgbClr val="162D38"/>
                </a:solidFill>
                <a:latin typeface="Aptos"/>
              </a:defRPr>
            </a:pPr>
            <a:r>
              <a:t>Booking = 7</a:t>
            </a:r>
          </a:p>
          <a:p>
            <a:pPr>
              <a:defRPr sz="1100">
                <a:solidFill>
                  <a:srgbClr val="162D38"/>
                </a:solidFill>
                <a:latin typeface="Aptos"/>
              </a:defRPr>
            </a:pPr>
            <a:r>
              <a:t>BookingRoom = 9</a:t>
            </a:r>
          </a:p>
          <a:p>
            <a:pPr>
              <a:defRPr sz="1100">
                <a:solidFill>
                  <a:srgbClr val="162D38"/>
                </a:solidFill>
                <a:latin typeface="Aptos"/>
              </a:defRPr>
            </a:pPr>
            <a:r>
              <a:t>BookingService = 12</a:t>
            </a:r>
          </a:p>
        </p:txBody>
      </p:sp>
      <p:sp>
        <p:nvSpPr>
          <p:cNvPr id="13" name="Rounded Rectangle 12">
            <a:extLst>
              <a:ext uri="{FF2B5EF4-FFF2-40B4-BE49-F238E27FC236}">
                <a16:creationId xmlns:a16="http://schemas.microsoft.com/office/drawing/2014/main" id="{B851F237-0DA7-9D22-5241-6315E398FA13}"/>
              </a:ext>
            </a:extLst>
          </p:cNvPr>
          <p:cNvSpPr/>
          <p:nvPr/>
        </p:nvSpPr>
        <p:spPr>
          <a:xfrm>
            <a:off x="868680" y="3977639"/>
            <a:ext cx="10424160" cy="1508760"/>
          </a:xfrm>
          <a:prstGeom prst="roundRect">
            <a:avLst/>
          </a:prstGeom>
          <a:solidFill>
            <a:srgbClr val="DDEDF2"/>
          </a:solidFill>
          <a:ln>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9E8B20C-7823-32AB-540C-117370D452E0}"/>
              </a:ext>
            </a:extLst>
          </p:cNvPr>
          <p:cNvSpPr txBox="1"/>
          <p:nvPr/>
        </p:nvSpPr>
        <p:spPr>
          <a:xfrm>
            <a:off x="1097280" y="4160520"/>
            <a:ext cx="2194560" cy="320040"/>
          </a:xfrm>
          <a:prstGeom prst="rect">
            <a:avLst/>
          </a:prstGeom>
          <a:noFill/>
        </p:spPr>
        <p:txBody>
          <a:bodyPr wrap="square">
            <a:normAutofit fontScale="92500" lnSpcReduction="10000"/>
          </a:bodyPr>
          <a:lstStyle/>
          <a:p>
            <a:pPr algn="l">
              <a:defRPr sz="1700" b="1">
                <a:solidFill>
                  <a:srgbClr val="00536D"/>
                </a:solidFill>
                <a:latin typeface="Aptos"/>
              </a:defRPr>
            </a:pPr>
            <a:r>
              <a:t>Hasil Akhir</a:t>
            </a:r>
          </a:p>
        </p:txBody>
      </p:sp>
      <p:sp>
        <p:nvSpPr>
          <p:cNvPr id="15" name="TextBox 14">
            <a:extLst>
              <a:ext uri="{FF2B5EF4-FFF2-40B4-BE49-F238E27FC236}">
                <a16:creationId xmlns:a16="http://schemas.microsoft.com/office/drawing/2014/main" id="{6F50920F-5362-6A39-FFDC-3B449BA87A60}"/>
              </a:ext>
            </a:extLst>
          </p:cNvPr>
          <p:cNvSpPr txBox="1"/>
          <p:nvPr/>
        </p:nvSpPr>
        <p:spPr>
          <a:xfrm>
            <a:off x="1097280" y="4617720"/>
            <a:ext cx="9966960" cy="365760"/>
          </a:xfrm>
          <a:prstGeom prst="rect">
            <a:avLst/>
          </a:prstGeom>
          <a:noFill/>
        </p:spPr>
        <p:txBody>
          <a:bodyPr wrap="square">
            <a:normAutofit fontScale="85000" lnSpcReduction="10000"/>
          </a:bodyPr>
          <a:lstStyle/>
          <a:p>
            <a:pPr algn="l">
              <a:defRPr sz="1500" b="1">
                <a:solidFill>
                  <a:srgbClr val="162D38"/>
                </a:solidFill>
                <a:latin typeface="Aptos"/>
              </a:defRPr>
            </a:pPr>
            <a:r>
              <a:t>✓ 8 tabel dibuat di MySQL     ✓ Constraint PK/FK diterapkan     ✓ Minimal 5 baris per tabel     ✓ Query JOIN memverifikasi desain</a:t>
            </a:r>
          </a:p>
        </p:txBody>
      </p:sp>
      <p:sp>
        <p:nvSpPr>
          <p:cNvPr id="16" name="TextBox 15">
            <a:extLst>
              <a:ext uri="{FF2B5EF4-FFF2-40B4-BE49-F238E27FC236}">
                <a16:creationId xmlns:a16="http://schemas.microsoft.com/office/drawing/2014/main" id="{78175791-305E-3C34-8358-830910770FFB}"/>
              </a:ext>
            </a:extLst>
          </p:cNvPr>
          <p:cNvSpPr txBox="1"/>
          <p:nvPr/>
        </p:nvSpPr>
        <p:spPr>
          <a:xfrm>
            <a:off x="1097280" y="5029200"/>
            <a:ext cx="9966960" cy="320040"/>
          </a:xfrm>
          <a:prstGeom prst="rect">
            <a:avLst/>
          </a:prstGeom>
          <a:noFill/>
        </p:spPr>
        <p:txBody>
          <a:bodyPr wrap="square">
            <a:normAutofit fontScale="85000" lnSpcReduction="10000"/>
          </a:bodyPr>
          <a:lstStyle/>
          <a:p>
            <a:pPr algn="l">
              <a:defRPr sz="1400" b="0">
                <a:solidFill>
                  <a:srgbClr val="162D38"/>
                </a:solidFill>
                <a:latin typeface="Aptos"/>
              </a:defRPr>
            </a:pPr>
            <a:r>
              <a:t>Kesimpulan: redundansi dan anomali berhasil dihilangkan, dan SejutaStay kini memiliki fondasi database yang bersih untuk manajemen pemesanan hotel.</a:t>
            </a:r>
          </a:p>
        </p:txBody>
      </p:sp>
      <p:sp>
        <p:nvSpPr>
          <p:cNvPr id="17" name="TextBox 16">
            <a:extLst>
              <a:ext uri="{FF2B5EF4-FFF2-40B4-BE49-F238E27FC236}">
                <a16:creationId xmlns:a16="http://schemas.microsoft.com/office/drawing/2014/main" id="{FCF94202-8F40-C368-5AB3-DE4CF62EC99B}"/>
              </a:ext>
            </a:extLst>
          </p:cNvPr>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Database Pemesanan Hotel SejutaStay</a:t>
            </a:r>
          </a:p>
        </p:txBody>
      </p:sp>
      <p:sp>
        <p:nvSpPr>
          <p:cNvPr id="18" name="TextBox 17">
            <a:extLst>
              <a:ext uri="{FF2B5EF4-FFF2-40B4-BE49-F238E27FC236}">
                <a16:creationId xmlns:a16="http://schemas.microsoft.com/office/drawing/2014/main" id="{B0E2DC65-1043-35BF-2525-6611E01EE511}"/>
              </a:ext>
            </a:extLst>
          </p:cNvPr>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14</a:t>
            </a:r>
          </a:p>
        </p:txBody>
      </p:sp>
    </p:spTree>
    <p:extLst>
      <p:ext uri="{BB962C8B-B14F-4D97-AF65-F5344CB8AC3E}">
        <p14:creationId xmlns:p14="http://schemas.microsoft.com/office/powerpoint/2010/main" val="2422665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C4A6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B8860B"/>
          </a:solidFill>
          <a:ln/>
        </p:spPr>
        <p:txBody>
          <a:bodyPr/>
          <a:lstStyle/>
          <a:p>
            <a:endParaRPr/>
          </a:p>
        </p:txBody>
      </p:sp>
      <p:sp>
        <p:nvSpPr>
          <p:cNvPr id="3" name="Shape 1"/>
          <p:cNvSpPr/>
          <p:nvPr/>
        </p:nvSpPr>
        <p:spPr>
          <a:xfrm>
            <a:off x="-1371600" y="4572000"/>
            <a:ext cx="3840480" cy="3840480"/>
          </a:xfrm>
          <a:prstGeom prst="ellipse">
            <a:avLst/>
          </a:prstGeom>
          <a:solidFill>
            <a:srgbClr val="13415A"/>
          </a:solidFill>
          <a:ln/>
        </p:spPr>
        <p:txBody>
          <a:bodyPr/>
          <a:lstStyle/>
          <a:p>
            <a:endParaRPr/>
          </a:p>
        </p:txBody>
      </p:sp>
      <p:sp>
        <p:nvSpPr>
          <p:cNvPr id="4" name="Shape 2"/>
          <p:cNvSpPr/>
          <p:nvPr/>
        </p:nvSpPr>
        <p:spPr>
          <a:xfrm>
            <a:off x="10424160" y="-1463040"/>
            <a:ext cx="3474720" cy="3474720"/>
          </a:xfrm>
          <a:prstGeom prst="ellipse">
            <a:avLst/>
          </a:prstGeom>
          <a:solidFill>
            <a:srgbClr val="13415A"/>
          </a:solidFill>
          <a:ln/>
        </p:spPr>
        <p:txBody>
          <a:bodyPr/>
          <a:lstStyle/>
          <a:p>
            <a:endParaRPr/>
          </a:p>
        </p:txBody>
      </p:sp>
      <p:sp>
        <p:nvSpPr>
          <p:cNvPr id="5" name="Text 3"/>
          <p:cNvSpPr/>
          <p:nvPr/>
        </p:nvSpPr>
        <p:spPr>
          <a:xfrm>
            <a:off x="0" y="2286000"/>
            <a:ext cx="12191695" cy="109728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Terima Kasih</a:t>
            </a:r>
            <a:endParaRPr lang="en-US" sz="5600" dirty="0"/>
          </a:p>
        </p:txBody>
      </p:sp>
      <p:sp>
        <p:nvSpPr>
          <p:cNvPr id="6" name="Text 4"/>
          <p:cNvSpPr/>
          <p:nvPr/>
        </p:nvSpPr>
        <p:spPr>
          <a:xfrm>
            <a:off x="0" y="3429000"/>
            <a:ext cx="12191695" cy="457200"/>
          </a:xfrm>
          <a:prstGeom prst="rect">
            <a:avLst/>
          </a:prstGeom>
          <a:noFill/>
          <a:ln/>
        </p:spPr>
        <p:txBody>
          <a:bodyPr wrap="square" lIns="0" tIns="0" rIns="0" bIns="0" rtlCol="0" anchor="ctr"/>
          <a:lstStyle/>
          <a:p>
            <a:pPr marL="0" indent="0" algn="ctr">
              <a:buNone/>
            </a:pPr>
            <a:r>
              <a:rPr lang="en-US" sz="1700" i="1" dirty="0">
                <a:solidFill>
                  <a:srgbClr val="CADCE3"/>
                </a:solidFill>
                <a:latin typeface="Calibri" pitchFamily="34" charset="0"/>
                <a:ea typeface="Calibri" pitchFamily="34" charset="-122"/>
                <a:cs typeface="Calibri" pitchFamily="34" charset="-120"/>
              </a:rPr>
              <a:t>Kami siap menerima pertanyaan dan masukan.</a:t>
            </a:r>
            <a:endParaRPr lang="en-US" sz="1700" dirty="0"/>
          </a:p>
        </p:txBody>
      </p:sp>
      <p:sp>
        <p:nvSpPr>
          <p:cNvPr id="7" name="Shape 5"/>
          <p:cNvSpPr/>
          <p:nvPr/>
        </p:nvSpPr>
        <p:spPr>
          <a:xfrm>
            <a:off x="4815688" y="4069080"/>
            <a:ext cx="2560320" cy="0"/>
          </a:xfrm>
          <a:prstGeom prst="line">
            <a:avLst/>
          </a:prstGeom>
          <a:noFill/>
          <a:ln w="25400">
            <a:solidFill>
              <a:srgbClr val="B8860B"/>
            </a:solidFill>
            <a:prstDash val="solid"/>
          </a:ln>
        </p:spPr>
        <p:txBody>
          <a:bodyPr/>
          <a:lstStyle/>
          <a:p>
            <a:endParaRPr/>
          </a:p>
        </p:txBody>
      </p:sp>
      <p:sp>
        <p:nvSpPr>
          <p:cNvPr id="8" name="Text 6"/>
          <p:cNvSpPr/>
          <p:nvPr/>
        </p:nvSpPr>
        <p:spPr>
          <a:xfrm>
            <a:off x="0" y="4297680"/>
            <a:ext cx="12191695" cy="365760"/>
          </a:xfrm>
          <a:prstGeom prst="rect">
            <a:avLst/>
          </a:prstGeom>
          <a:noFill/>
          <a:ln/>
        </p:spPr>
        <p:txBody>
          <a:bodyPr wrap="square" lIns="0" tIns="0" rIns="0" bIns="0" rtlCol="0" anchor="ctr"/>
          <a:lstStyle/>
          <a:p>
            <a:pPr marL="0" indent="0" algn="ctr">
              <a:buNone/>
            </a:pPr>
            <a:r>
              <a:rPr lang="en-US" sz="1250" dirty="0">
                <a:solidFill>
                  <a:srgbClr val="8FB9C8"/>
                </a:solidFill>
                <a:latin typeface="Calibri" pitchFamily="34" charset="0"/>
                <a:ea typeface="Calibri" pitchFamily="34" charset="-122"/>
                <a:cs typeface="Calibri" pitchFamily="34" charset="-120"/>
              </a:rPr>
              <a:t>Database Pemesanan Hotel SejutaStay  ·  AOL Database Technology (COMP6799001)</a:t>
            </a:r>
            <a:endParaRPr lang="en-US" sz="1250" dirty="0"/>
          </a:p>
        </p:txBody>
      </p:sp>
      <p:sp>
        <p:nvSpPr>
          <p:cNvPr id="9" name="TextBox 8"/>
          <p:cNvSpPr txBox="1"/>
          <p:nvPr/>
        </p:nvSpPr>
        <p:spPr>
          <a:xfrm>
            <a:off x="731520" y="4617720"/>
            <a:ext cx="10698480" cy="594360"/>
          </a:xfrm>
          <a:prstGeom prst="rect">
            <a:avLst/>
          </a:prstGeom>
          <a:noFill/>
        </p:spPr>
        <p:txBody>
          <a:bodyPr wrap="none">
            <a:spAutoFit/>
          </a:bodyPr>
          <a:lstStyle/>
          <a:p>
            <a:pPr algn="ctr"/>
            <a:r>
              <a:rPr sz="1100" b="1">
                <a:solidFill>
                  <a:srgbClr val="FFFFFF"/>
                </a:solidFill>
              </a:rPr>
              <a:t>Daniel Steffen Kurniawan — 2602071171   ·   Edvardo Khong — 2602177171</a:t>
            </a:r>
          </a:p>
        </p:txBody>
      </p:sp>
      <p:sp>
        <p:nvSpPr>
          <p:cNvPr id="10" name="TextBox 9"/>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2549</Words>
  <Application>Microsoft Office PowerPoint</Application>
  <PresentationFormat>Widescreen</PresentationFormat>
  <Paragraphs>334</Paragraphs>
  <Slides>15</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SejutaStay Hotel Booking Database - AOL Database Technology</dc:title>
  <dc:subject>PptxGenJS Presentation</dc:subject>
  <dc:creator>Daniel Steffen Kurniawan</dc:creator>
  <cp:lastModifiedBy>EDVARDO KHONG</cp:lastModifiedBy>
  <cp:revision>6</cp:revision>
  <dcterms:created xsi:type="dcterms:W3CDTF">2026-05-26T02:50:58Z</dcterms:created>
  <dcterms:modified xsi:type="dcterms:W3CDTF">2026-06-10T01:36:36Z</dcterms:modified>
</cp:coreProperties>
</file>