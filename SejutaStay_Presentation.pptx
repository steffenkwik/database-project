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7" r:id="rId3"/>
    <p:sldId id="257" r:id="rId4"/>
    <p:sldId id="258" r:id="rId5"/>
    <p:sldId id="259" r:id="rId6"/>
    <p:sldId id="260" r:id="rId7"/>
    <p:sldId id="261" r:id="rId8"/>
    <p:sldId id="262" r:id="rId9"/>
    <p:sldId id="263" r:id="rId10"/>
    <p:sldId id="264" r:id="rId11"/>
    <p:sldId id="268" r:id="rId12"/>
    <p:sldId id="269" r:id="rId13"/>
    <p:sldId id="265" r:id="rId14"/>
    <p:sldId id="270" r:id="rId15"/>
    <p:sldId id="266"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48" y="3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158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Selamat siang Bapak/Ibu dan teman-teman. Kami dari kelompok ini akan mempresentasikan proyek AOL Database Technology kami yang berjudul SejutaStay Hotel Booking Database. Proyek ini membahas perancangan dan normalisasi database untuk sebuah jaringan hotel, mulai dari bentuk tidak normal sampai bentuk normal ketiga atau 3NF. Sektor yang kami pilih adalah Tourism &amp; Hospitality.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SejutaStay saat ini menyimpan SEMUA data reservasi di dalam satu tabel besar, seperti satu file Excel. Setiap booking dicatat dalam satu baris berisi data tamu, hotel, kamar, dan layanan sekaligus. Cara ini menimbulkan lima masalah. Satu, redundansi data: data tamu dan hotel ditulis berulang-ulang. Dua, update anomaly: kalau satu data berubah, kita harus mengubah banyak baris. Tiga, insertion anomaly: kita tidak bisa menambah hotel atau layanan baru tanpa ada booking. Empat, deletion anomaly: menghapus satu booking bisa ikut menghapus data penting lain. Lima, pencarian data jadi lambat dan tidak ada pengecekan otomatis. Lima masalah inilah yang akan kami selesaikan.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Kasus kami adalah jaringan hotel SejutaStay. Data contoh kami terdiri dari 7 reservasi dengan 18 atribut, dimodelkan dari data hotel nyata. Lihat tabel di kanan: data ini disebut TIDAK NORMAL karena ada repeating group. Contohnya booking B002 memesan dua kamar, sehingga sel RoomNo berisi dua nilai sekaligus '201; 202'. Kolom yang punya repeating group kami tandai dengan simbol segitiga. Satu sel yang berisi banyak nilai melanggar aturan dasar tabel relasional, jadi data ini harus dinormalisasi.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Dari data tidak normal tadi muncul tiga anomali. Insertion anomaly: kita tidak bisa menambah tipe kamar atau layanan baru sebelum ada tamu yang memesannya. Update anomaly: data tamu terduplikasi, contohnya Andi Wijaya muncul di B001 dan B003, jadi kalau emailnya berubah dan kita hanya update satu baris, data jadi tidak konsisten. Deletion anomaly: menghapus booking B004 akan menghilangkan satu-satunya catatan layanan Laundry. Di bagian bawah ada functional dependency. Pada versi revisi, RoomNo juga menentukan HotelID dan RoomTypeID, supaya setiap kamar jelas berada di hotel tertentu.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kami adalah normalisasi. Normalisasi memecah satu tabel besar menjadi beberapa tabel yang lebih rapi, dilakukan bertahap. Kita mulai dari UNF, bentuk tidak normal. Lalu 1NF menghilangkan repeating group sehingga setiap sel hanya berisi satu nilai, hasilnya 3 tabel. Kemudian 2NF menghilangkan partial dependency, hasilnya 5 tabel. Terakhir 3NF menghilangkan transitive dependency, hasilnya 8 tabel. Yang penting: datanya tidak berubah, hanya strukturnya yang dirapikan. Tiga slide berikutnya akan menjelaskan tiap langkah.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adalah 1NF. Aturannya: setiap sel hanya boleh berisi satu nilai, jadi semua repeating group harus dihilangkan. Lihat contoh: sebelumnya booking B002 menyimpan dua kamar dalam satu sel '201; 202'. Setelah 1NF, setiap kamar dipisah menjadi barisnya sendiri: B002-201 dan B002-202. Karena ada dua repeating group, yaitu kamar dan layanan, tabel asli dipecah menjadi 3 relasi: Booking_1NF, BookingRoom_1NF, dan BookingService_1NF. Sekarang semua sel sudah berisi satu nilai.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Langkah kedua adalah 2NF. Aturannya: tabel harus sudah 1NF, dan setiap atribut bukan kunci harus bergantung pada seluruh primary key, bukan sebagian. Masalahnya ada di BookingRoom_1NF: kuncinya gabungan BookingID dan RoomNo, tetapi detail kamar seperti HotelID, RoomTypeID, nama tipe kamar, dan harga bergantung pada RoomNo saja. Jadi atribut itu dipindahkan ke tabel Room_2NF. Hal yang sama dilakukan untuk layanan. Hasilnya menjadi 5 relasi: Booking, BookingRoom, Room, BookingService, dan Service.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Langkah terakhir adalah 3NF. Aturannya: tabel sudah 2NF, dan tidak boleh ada atribut bukan kunci yang bergantung pada atribut bukan kunci lainnya. Contohnya: BookingID menentukan GuestID, lalu GuestID menentukan nama dan kontak tamu. Untuk kamar, RoomNo menentukan HotelID dan RoomTypeID, lalu RoomTypeID menentukan nama tipe kamar dan harga. Solusinya, setiap entitas dipindahkan ke tabel sendiri. Hasil akhirnya tetap 8 tabel dalam bentuk 3NF.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Inilah hasil akhirnya: Entity Relationship Diagram dengan notasi Crow's Foot. Diagram ini menunjukkan 8 tabel beserta atribut, primary key, dan foreign key. Hubungannya: satu tamu bisa punya banyak booking, satu hotel bisa punya banyak booking, dan satu hotel juga bisa memiliki banyak room. Satu tipe kamar dipakai banyak kamar. Hubungan many-to-many antara Booking dengan Room dan Booking dengan Service diselesaikan oleh dua junction table, yaitu BookingRoom dan BookingService.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Desain 3NF ini kemudian kami implementasikan secara fisik di MySQL, dalam file SejutaStay_Database.sql. File tersebut membuat 8 tabel lengkap dengan primary key dan foreign key, termasuk hubungan Hotel dengan Room. File SQL juga mengisi minimal 5 baris data di setiap tabel dan menyertakan query verifikasi dengan JOIN serta pengecekan jumlah baris. Kesimpulannya, dengan normalisasi sampai 3NF kami berhasil menghilangkan redundansi, menghilangkan anomali, menjaga integritas data, dan menyiapkan fondasi database yang siap dikembangkan.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1AA68-4F50-B251-621E-DB1380F10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BACB8-CAA9-69CE-CFED-538FF4A98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456BD-9C59-1BDC-E6DE-94D540621F35}"/>
              </a:ext>
            </a:extLst>
          </p:cNvPr>
          <p:cNvSpPr>
            <a:spLocks noGrp="1"/>
          </p:cNvSpPr>
          <p:nvPr>
            <p:ph type="body" idx="1"/>
          </p:nvPr>
        </p:nvSpPr>
        <p:spPr/>
        <p:txBody>
          <a:bodyPr/>
          <a:lstStyle/>
          <a:p>
            <a:r>
              <a:t>Desain 3NF ini kemudian kami implementasikan secara fisik di MySQL, dalam file SejutaStay_Database.sql. File tersebut membuat 8 tabel lengkap dengan primary key dan foreign key, termasuk hubungan Hotel dengan Room. File SQL juga mengisi minimal 5 baris data di setiap tabel dan menyertakan query verifikasi dengan JOIN serta pengecekan jumlah baris. Kesimpulannya, dengan normalisasi sampai 3NF kami berhasil menghilangkan redundansi, menghilangkan anomali, menjaga integritas data, dan menyiapkan fondasi database yang siap dikembangkan.</a:t>
            </a:r>
          </a:p>
        </p:txBody>
      </p:sp>
      <p:sp>
        <p:nvSpPr>
          <p:cNvPr id="4" name="Slide Number Placeholder 3">
            <a:extLst>
              <a:ext uri="{FF2B5EF4-FFF2-40B4-BE49-F238E27FC236}">
                <a16:creationId xmlns:a16="http://schemas.microsoft.com/office/drawing/2014/main" id="{0E982E8A-4CB9-F7F6-6016-5024F0646B9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96211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Demikian presentasi kami mengenai SejutaStay Hotel Booking Database. Terima kasih atas perhatian Bapak/Ibu dan teman-teman. Kami persilakan jika ada pertanyaan atau masukan.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A6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8860B"/>
          </a:solidFill>
          <a:ln/>
        </p:spPr>
        <p:txBody>
          <a:bodyPr/>
          <a:lstStyle/>
          <a:p>
            <a:endParaRPr/>
          </a:p>
        </p:txBody>
      </p:sp>
      <p:sp>
        <p:nvSpPr>
          <p:cNvPr id="3" name="Shape 1"/>
          <p:cNvSpPr/>
          <p:nvPr/>
        </p:nvSpPr>
        <p:spPr>
          <a:xfrm>
            <a:off x="9784080" y="-1554480"/>
            <a:ext cx="4023360" cy="4023360"/>
          </a:xfrm>
          <a:prstGeom prst="ellipse">
            <a:avLst/>
          </a:prstGeom>
          <a:solidFill>
            <a:srgbClr val="13415A"/>
          </a:solidFill>
          <a:ln/>
        </p:spPr>
        <p:txBody>
          <a:bodyPr/>
          <a:lstStyle/>
          <a:p>
            <a:endParaRPr/>
          </a:p>
        </p:txBody>
      </p:sp>
      <p:sp>
        <p:nvSpPr>
          <p:cNvPr id="4" name="Shape 2"/>
          <p:cNvSpPr/>
          <p:nvPr/>
        </p:nvSpPr>
        <p:spPr>
          <a:xfrm>
            <a:off x="10698480" y="4480560"/>
            <a:ext cx="3017520" cy="3017520"/>
          </a:xfrm>
          <a:prstGeom prst="ellipse">
            <a:avLst/>
          </a:prstGeom>
          <a:solidFill>
            <a:srgbClr val="13415A"/>
          </a:solidFill>
          <a:ln/>
        </p:spPr>
        <p:txBody>
          <a:bodyPr/>
          <a:lstStyle/>
          <a:p>
            <a:endParaRPr/>
          </a:p>
        </p:txBody>
      </p:sp>
      <p:sp>
        <p:nvSpPr>
          <p:cNvPr id="5" name="Text 3"/>
          <p:cNvSpPr/>
          <p:nvPr/>
        </p:nvSpPr>
        <p:spPr>
          <a:xfrm>
            <a:off x="822960" y="1234440"/>
            <a:ext cx="10058400" cy="365760"/>
          </a:xfrm>
          <a:prstGeom prst="rect">
            <a:avLst/>
          </a:prstGeom>
          <a:noFill/>
          <a:ln/>
        </p:spPr>
        <p:txBody>
          <a:bodyPr wrap="square" lIns="0" tIns="0" rIns="0" bIns="0" rtlCol="0" anchor="ctr"/>
          <a:lstStyle/>
          <a:p>
            <a:pPr marL="0" indent="0">
              <a:buNone/>
            </a:pPr>
            <a:r>
              <a:rPr lang="en-US" sz="1300" b="1" kern="0" spc="200" dirty="0">
                <a:solidFill>
                  <a:srgbClr val="8FB9C8"/>
                </a:solidFill>
                <a:latin typeface="Calibri" pitchFamily="34" charset="0"/>
                <a:ea typeface="Calibri" pitchFamily="34" charset="-122"/>
                <a:cs typeface="Calibri" pitchFamily="34" charset="-120"/>
              </a:rPr>
              <a:t>AOL GROUP PROJECT  ·  COMP6799001 DATABASE TECHNOLOGY</a:t>
            </a:r>
            <a:endParaRPr lang="en-US" sz="1300" dirty="0"/>
          </a:p>
        </p:txBody>
      </p:sp>
      <p:sp>
        <p:nvSpPr>
          <p:cNvPr id="6" name="Text 4"/>
          <p:cNvSpPr/>
          <p:nvPr/>
        </p:nvSpPr>
        <p:spPr>
          <a:xfrm>
            <a:off x="777240" y="1783080"/>
            <a:ext cx="10607040" cy="96012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SejutaStay</a:t>
            </a:r>
            <a:endParaRPr lang="en-US" sz="5800" dirty="0"/>
          </a:p>
        </p:txBody>
      </p:sp>
      <p:sp>
        <p:nvSpPr>
          <p:cNvPr id="7" name="Text 5"/>
          <p:cNvSpPr/>
          <p:nvPr/>
        </p:nvSpPr>
        <p:spPr>
          <a:xfrm>
            <a:off x="777240" y="2697480"/>
            <a:ext cx="10607040" cy="822960"/>
          </a:xfrm>
          <a:prstGeom prst="rect">
            <a:avLst/>
          </a:prstGeom>
          <a:noFill/>
          <a:ln/>
        </p:spPr>
        <p:txBody>
          <a:bodyPr wrap="square" lIns="0" tIns="0" rIns="0" bIns="0" rtlCol="0" anchor="ctr"/>
          <a:lstStyle/>
          <a:p>
            <a:pPr marL="0" indent="0">
              <a:buNone/>
            </a:pPr>
            <a:r>
              <a:rPr lang="en-US" sz="4000" b="1" dirty="0">
                <a:solidFill>
                  <a:srgbClr val="B8860B"/>
                </a:solidFill>
                <a:latin typeface="Calibri" pitchFamily="34" charset="0"/>
                <a:ea typeface="Calibri" pitchFamily="34" charset="-122"/>
                <a:cs typeface="Calibri" pitchFamily="34" charset="-120"/>
              </a:rPr>
              <a:t>Hotel Booking Database</a:t>
            </a:r>
            <a:endParaRPr lang="en-US" sz="4000" dirty="0"/>
          </a:p>
        </p:txBody>
      </p:sp>
      <p:sp>
        <p:nvSpPr>
          <p:cNvPr id="8" name="Text 6"/>
          <p:cNvSpPr/>
          <p:nvPr/>
        </p:nvSpPr>
        <p:spPr>
          <a:xfrm>
            <a:off x="822960" y="3611880"/>
            <a:ext cx="10058400" cy="457200"/>
          </a:xfrm>
          <a:prstGeom prst="rect">
            <a:avLst/>
          </a:prstGeom>
          <a:noFill/>
          <a:ln/>
        </p:spPr>
        <p:txBody>
          <a:bodyPr wrap="square" lIns="0" tIns="0" rIns="0" bIns="0" rtlCol="0" anchor="ctr"/>
          <a:lstStyle/>
          <a:p>
            <a:pPr marL="0" indent="0">
              <a:buNone/>
            </a:pPr>
            <a:r>
              <a:rPr lang="en-US" sz="1600" i="1" dirty="0">
                <a:solidFill>
                  <a:srgbClr val="CADCE3"/>
                </a:solidFill>
                <a:latin typeface="Calibri" pitchFamily="34" charset="0"/>
                <a:ea typeface="Calibri" pitchFamily="34" charset="-122"/>
                <a:cs typeface="Calibri" pitchFamily="34" charset="-120"/>
              </a:rPr>
              <a:t>Database Design &amp; Normalization  (UNF → 3NF)  for the Tourism &amp; Hospitality Sector</a:t>
            </a:r>
            <a:endParaRPr lang="en-US" sz="1600" dirty="0"/>
          </a:p>
        </p:txBody>
      </p:sp>
      <p:sp>
        <p:nvSpPr>
          <p:cNvPr id="9" name="Shape 7"/>
          <p:cNvSpPr/>
          <p:nvPr/>
        </p:nvSpPr>
        <p:spPr>
          <a:xfrm>
            <a:off x="841248" y="4297680"/>
            <a:ext cx="3840480" cy="0"/>
          </a:xfrm>
          <a:prstGeom prst="line">
            <a:avLst/>
          </a:prstGeom>
          <a:noFill/>
          <a:ln w="19050">
            <a:solidFill>
              <a:srgbClr val="2A5E76"/>
            </a:solidFill>
            <a:prstDash val="solid"/>
          </a:ln>
        </p:spPr>
        <p:txBody>
          <a:bodyPr/>
          <a:lstStyle/>
          <a:p>
            <a:endParaRPr/>
          </a:p>
        </p:txBody>
      </p:sp>
      <p:sp>
        <p:nvSpPr>
          <p:cNvPr id="10" name="Text 8"/>
          <p:cNvSpPr/>
          <p:nvPr/>
        </p:nvSpPr>
        <p:spPr>
          <a:xfrm>
            <a:off x="822960" y="4526280"/>
            <a:ext cx="10058400" cy="1188720"/>
          </a:xfrm>
          <a:prstGeom prst="rect">
            <a:avLst/>
          </a:prstGeom>
          <a:noFill/>
          <a:ln/>
        </p:spPr>
        <p:txBody>
          <a:bodyPr wrap="square" lIns="0" tIns="0" rIns="0" bIns="0" rtlCol="0" anchor="ctr"/>
          <a:lstStyle/>
          <a:p>
            <a:pPr marL="0" indent="0">
              <a:lnSpc>
                <a:spcPct val="115000"/>
              </a:lnSpc>
              <a:buNone/>
            </a:pPr>
            <a:r>
              <a:rPr lang="en-US" sz="1200" b="1" dirty="0">
                <a:solidFill>
                  <a:srgbClr val="8FB9C8"/>
                </a:solidFill>
                <a:latin typeface="Calibri" pitchFamily="34" charset="0"/>
                <a:ea typeface="Calibri" pitchFamily="34" charset="-122"/>
                <a:cs typeface="Calibri" pitchFamily="34" charset="-120"/>
              </a:rPr>
              <a:t>Presented by
</a:t>
            </a:r>
            <a:endParaRPr lang="en-US" sz="1200" dirty="0"/>
          </a:p>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Daniel Steffen Kurniawan</a:t>
            </a:r>
            <a:endParaRPr lang="en-US" sz="1200" dirty="0"/>
          </a:p>
          <a:p>
            <a:pPr marL="0" indent="0">
              <a:lnSpc>
                <a:spcPct val="115000"/>
              </a:lnSpc>
              <a:buNone/>
            </a:pPr>
            <a:r>
              <a:rPr lang="en-US" sz="1300" dirty="0">
                <a:solidFill>
                  <a:srgbClr val="CADCE3"/>
                </a:solidFill>
                <a:latin typeface="Calibri" pitchFamily="34" charset="0"/>
                <a:ea typeface="Calibri" pitchFamily="34" charset="-122"/>
                <a:cs typeface="Calibri" pitchFamily="34" charset="-120"/>
              </a:rPr>
              <a:t>2602071171
</a:t>
            </a:r>
            <a:r>
              <a:rPr lang="en-US" b="1" dirty="0">
                <a:solidFill>
                  <a:schemeClr val="bg1"/>
                </a:solidFill>
                <a:latin typeface="Calibri" pitchFamily="34" charset="0"/>
                <a:ea typeface="Calibri" pitchFamily="34" charset="-122"/>
                <a:cs typeface="Calibri" pitchFamily="34" charset="-120"/>
              </a:rPr>
              <a:t>Edvardo Khong</a:t>
            </a:r>
            <a:r>
              <a:rPr lang="en-US" sz="1300" dirty="0">
                <a:solidFill>
                  <a:srgbClr val="CADCE3"/>
                </a:solidFill>
                <a:latin typeface="Calibri" pitchFamily="34" charset="0"/>
                <a:ea typeface="Calibri" pitchFamily="34" charset="-122"/>
                <a:cs typeface="Calibri" pitchFamily="34" charset="-120"/>
              </a:rPr>
              <a:t>
2602177171</a:t>
            </a:r>
            <a:endParaRPr lang="en-US" sz="1200" dirty="0"/>
          </a:p>
        </p:txBody>
      </p:sp>
      <p:sp>
        <p:nvSpPr>
          <p:cNvPr id="11" name="Text 9"/>
          <p:cNvSpPr/>
          <p:nvPr/>
        </p:nvSpPr>
        <p:spPr>
          <a:xfrm>
            <a:off x="822960" y="5897880"/>
            <a:ext cx="10058400" cy="320040"/>
          </a:xfrm>
          <a:prstGeom prst="rect">
            <a:avLst/>
          </a:prstGeom>
          <a:noFill/>
          <a:ln/>
        </p:spPr>
        <p:txBody>
          <a:bodyPr wrap="square" lIns="0" tIns="0" rIns="0" bIns="0" rtlCol="0" anchor="ctr"/>
          <a:lstStyle/>
          <a:p>
            <a:pPr marL="0" indent="0">
              <a:buNone/>
            </a:pPr>
            <a:r>
              <a:rPr lang="en-US" sz="1200" dirty="0">
                <a:solidFill>
                  <a:srgbClr val="8FB9C8"/>
                </a:solidFill>
                <a:latin typeface="Calibri" pitchFamily="34" charset="0"/>
                <a:ea typeface="Calibri" pitchFamily="34" charset="-122"/>
                <a:cs typeface="Calibri" pitchFamily="34" charset="-120"/>
              </a:rPr>
              <a:t>Semester 4  ·  Academic Year 2025/2026</a:t>
            </a:r>
            <a:endParaRPr lang="en-US" sz="1200" dirty="0"/>
          </a:p>
        </p:txBody>
      </p:sp>
      <p:sp>
        <p:nvSpPr>
          <p:cNvPr id="12" name="TextBox 11"/>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AGENDA</a:t>
            </a:r>
          </a:p>
          <a:p>
            <a:pPr>
              <a:defRPr sz="2800" b="1">
                <a:solidFill>
                  <a:srgbClr val="162D38"/>
                </a:solidFill>
                <a:latin typeface="Aptos"/>
              </a:defRPr>
            </a:pPr>
            <a:r>
              <a:t>Presentation Flow</a:t>
            </a:r>
          </a:p>
        </p:txBody>
      </p:sp>
      <p:sp>
        <p:nvSpPr>
          <p:cNvPr id="4" name="Rounded Rectangle 3"/>
          <p:cNvSpPr/>
          <p:nvPr/>
        </p:nvSpPr>
        <p:spPr>
          <a:xfrm>
            <a:off x="685800"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6" name="TextBox 5"/>
          <p:cNvSpPr txBox="1"/>
          <p:nvPr/>
        </p:nvSpPr>
        <p:spPr>
          <a:xfrm>
            <a:off x="822960" y="2496312"/>
            <a:ext cx="1389888" cy="457200"/>
          </a:xfrm>
          <a:prstGeom prst="rect">
            <a:avLst/>
          </a:prstGeom>
          <a:noFill/>
        </p:spPr>
        <p:txBody>
          <a:bodyPr wrap="square">
            <a:normAutofit/>
          </a:bodyPr>
          <a:lstStyle/>
          <a:p>
            <a:pPr algn="ctr">
              <a:defRPr sz="1500" b="1">
                <a:solidFill>
                  <a:srgbClr val="162D38"/>
                </a:solidFill>
                <a:latin typeface="Aptos"/>
              </a:defRPr>
            </a:pPr>
            <a:r>
              <a:t>Problem</a:t>
            </a:r>
          </a:p>
        </p:txBody>
      </p:sp>
      <p:sp>
        <p:nvSpPr>
          <p:cNvPr id="7" name="TextBox 6"/>
          <p:cNvSpPr txBox="1"/>
          <p:nvPr/>
        </p:nvSpPr>
        <p:spPr>
          <a:xfrm>
            <a:off x="2368296"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8" name="Rounded Rectangle 7"/>
          <p:cNvSpPr/>
          <p:nvPr/>
        </p:nvSpPr>
        <p:spPr>
          <a:xfrm>
            <a:off x="2578608"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88336"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10" name="TextBox 9"/>
          <p:cNvSpPr txBox="1"/>
          <p:nvPr/>
        </p:nvSpPr>
        <p:spPr>
          <a:xfrm>
            <a:off x="2715768" y="2496312"/>
            <a:ext cx="1389888" cy="457200"/>
          </a:xfrm>
          <a:prstGeom prst="rect">
            <a:avLst/>
          </a:prstGeom>
          <a:noFill/>
        </p:spPr>
        <p:txBody>
          <a:bodyPr wrap="square">
            <a:normAutofit/>
          </a:bodyPr>
          <a:lstStyle/>
          <a:p>
            <a:pPr algn="ctr">
              <a:defRPr sz="1500" b="1">
                <a:solidFill>
                  <a:srgbClr val="162D38"/>
                </a:solidFill>
                <a:latin typeface="Aptos"/>
              </a:defRPr>
            </a:pPr>
            <a:r>
              <a:t>UNF Data</a:t>
            </a:r>
          </a:p>
        </p:txBody>
      </p:sp>
      <p:sp>
        <p:nvSpPr>
          <p:cNvPr id="11" name="TextBox 10"/>
          <p:cNvSpPr txBox="1"/>
          <p:nvPr/>
        </p:nvSpPr>
        <p:spPr>
          <a:xfrm>
            <a:off x="4261104"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12" name="Rounded Rectangle 11"/>
          <p:cNvSpPr/>
          <p:nvPr/>
        </p:nvSpPr>
        <p:spPr>
          <a:xfrm>
            <a:off x="4471416"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14" name="TextBox 13"/>
          <p:cNvSpPr txBox="1"/>
          <p:nvPr/>
        </p:nvSpPr>
        <p:spPr>
          <a:xfrm>
            <a:off x="4608576" y="2496312"/>
            <a:ext cx="1389888" cy="457200"/>
          </a:xfrm>
          <a:prstGeom prst="rect">
            <a:avLst/>
          </a:prstGeom>
          <a:noFill/>
        </p:spPr>
        <p:txBody>
          <a:bodyPr wrap="square">
            <a:normAutofit/>
          </a:bodyPr>
          <a:lstStyle/>
          <a:p>
            <a:pPr algn="ctr">
              <a:defRPr sz="1500" b="1">
                <a:solidFill>
                  <a:srgbClr val="162D38"/>
                </a:solidFill>
                <a:latin typeface="Aptos"/>
              </a:defRPr>
            </a:pPr>
            <a:r>
              <a:t>Anomalies</a:t>
            </a:r>
          </a:p>
        </p:txBody>
      </p:sp>
      <p:sp>
        <p:nvSpPr>
          <p:cNvPr id="15" name="TextBox 14"/>
          <p:cNvSpPr txBox="1"/>
          <p:nvPr/>
        </p:nvSpPr>
        <p:spPr>
          <a:xfrm>
            <a:off x="6153912"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16" name="Rounded Rectangle 15"/>
          <p:cNvSpPr/>
          <p:nvPr/>
        </p:nvSpPr>
        <p:spPr>
          <a:xfrm>
            <a:off x="6364224"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18" name="TextBox 17"/>
          <p:cNvSpPr txBox="1"/>
          <p:nvPr/>
        </p:nvSpPr>
        <p:spPr>
          <a:xfrm>
            <a:off x="6501384" y="2496312"/>
            <a:ext cx="1389888" cy="457200"/>
          </a:xfrm>
          <a:prstGeom prst="rect">
            <a:avLst/>
          </a:prstGeom>
          <a:noFill/>
        </p:spPr>
        <p:txBody>
          <a:bodyPr wrap="square">
            <a:normAutofit fontScale="92500"/>
          </a:bodyPr>
          <a:lstStyle/>
          <a:p>
            <a:pPr algn="ctr">
              <a:defRPr sz="1500" b="1">
                <a:solidFill>
                  <a:srgbClr val="162D38"/>
                </a:solidFill>
                <a:latin typeface="Aptos"/>
              </a:defRPr>
            </a:pPr>
            <a:r>
              <a:t>Normalization</a:t>
            </a:r>
          </a:p>
        </p:txBody>
      </p:sp>
      <p:sp>
        <p:nvSpPr>
          <p:cNvPr id="19" name="TextBox 18"/>
          <p:cNvSpPr txBox="1"/>
          <p:nvPr/>
        </p:nvSpPr>
        <p:spPr>
          <a:xfrm>
            <a:off x="8046720"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20" name="Rounded Rectangle 19"/>
          <p:cNvSpPr/>
          <p:nvPr/>
        </p:nvSpPr>
        <p:spPr>
          <a:xfrm>
            <a:off x="8257032" y="1965960"/>
            <a:ext cx="1664208" cy="12801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66760"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22" name="TextBox 21"/>
          <p:cNvSpPr txBox="1"/>
          <p:nvPr/>
        </p:nvSpPr>
        <p:spPr>
          <a:xfrm>
            <a:off x="8394192" y="2496312"/>
            <a:ext cx="1389888" cy="457200"/>
          </a:xfrm>
          <a:prstGeom prst="rect">
            <a:avLst/>
          </a:prstGeom>
          <a:noFill/>
        </p:spPr>
        <p:txBody>
          <a:bodyPr wrap="square">
            <a:normAutofit/>
          </a:bodyPr>
          <a:lstStyle/>
          <a:p>
            <a:pPr algn="ctr">
              <a:defRPr sz="1500" b="1">
                <a:solidFill>
                  <a:srgbClr val="162D38"/>
                </a:solidFill>
                <a:latin typeface="Aptos"/>
              </a:defRPr>
            </a:pPr>
            <a:r>
              <a:t>ERD</a:t>
            </a:r>
          </a:p>
        </p:txBody>
      </p:sp>
      <p:sp>
        <p:nvSpPr>
          <p:cNvPr id="23" name="TextBox 22"/>
          <p:cNvSpPr txBox="1"/>
          <p:nvPr/>
        </p:nvSpPr>
        <p:spPr>
          <a:xfrm>
            <a:off x="9939528" y="2468880"/>
            <a:ext cx="228600" cy="411480"/>
          </a:xfrm>
          <a:prstGeom prst="rect">
            <a:avLst/>
          </a:prstGeom>
          <a:noFill/>
        </p:spPr>
        <p:txBody>
          <a:bodyPr wrap="square">
            <a:normAutofit/>
          </a:bodyPr>
          <a:lstStyle/>
          <a:p>
            <a:pPr algn="ctr">
              <a:defRPr sz="2000" b="1">
                <a:solidFill>
                  <a:srgbClr val="66747D"/>
                </a:solidFill>
                <a:latin typeface="Aptos"/>
              </a:defRPr>
            </a:pPr>
            <a:r>
              <a:t>→</a:t>
            </a:r>
          </a:p>
        </p:txBody>
      </p:sp>
      <p:sp>
        <p:nvSpPr>
          <p:cNvPr id="24" name="Rounded Rectangle 23"/>
          <p:cNvSpPr/>
          <p:nvPr/>
        </p:nvSpPr>
        <p:spPr>
          <a:xfrm>
            <a:off x="10149840" y="1965960"/>
            <a:ext cx="1664208" cy="1280160"/>
          </a:xfrm>
          <a:prstGeom prst="roundRect">
            <a:avLst/>
          </a:prstGeom>
          <a:solidFill>
            <a:srgbClr val="F9EED3"/>
          </a:solidFill>
          <a:ln>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59568" y="2075688"/>
            <a:ext cx="411480" cy="320040"/>
          </a:xfrm>
          <a:prstGeom prst="rect">
            <a:avLst/>
          </a:prstGeom>
          <a:noFill/>
        </p:spPr>
        <p:txBody>
          <a:bodyPr wrap="square">
            <a:normAutofit/>
          </a:bodyPr>
          <a:lstStyle/>
          <a:p>
            <a:pPr algn="r">
              <a:defRPr sz="900" b="1">
                <a:solidFill>
                  <a:srgbClr val="66747D"/>
                </a:solidFill>
                <a:latin typeface="Aptos"/>
              </a:defRPr>
            </a:pPr>
            <a:r>
              <a:t>2</a:t>
            </a:r>
          </a:p>
        </p:txBody>
      </p:sp>
      <p:sp>
        <p:nvSpPr>
          <p:cNvPr id="26" name="TextBox 25"/>
          <p:cNvSpPr txBox="1"/>
          <p:nvPr/>
        </p:nvSpPr>
        <p:spPr>
          <a:xfrm>
            <a:off x="10287000" y="2496312"/>
            <a:ext cx="1389888" cy="457200"/>
          </a:xfrm>
          <a:prstGeom prst="rect">
            <a:avLst/>
          </a:prstGeom>
          <a:noFill/>
        </p:spPr>
        <p:txBody>
          <a:bodyPr wrap="square">
            <a:normAutofit/>
          </a:bodyPr>
          <a:lstStyle/>
          <a:p>
            <a:pPr algn="ctr">
              <a:defRPr sz="1500" b="1">
                <a:solidFill>
                  <a:srgbClr val="162D38"/>
                </a:solidFill>
                <a:latin typeface="Aptos"/>
              </a:defRPr>
            </a:pPr>
            <a:r>
              <a:t>MySQL Result</a:t>
            </a:r>
          </a:p>
        </p:txBody>
      </p:sp>
      <p:sp>
        <p:nvSpPr>
          <p:cNvPr id="27" name="TextBox 26"/>
          <p:cNvSpPr txBox="1"/>
          <p:nvPr/>
        </p:nvSpPr>
        <p:spPr>
          <a:xfrm>
            <a:off x="1371600" y="4069080"/>
            <a:ext cx="9509760" cy="685800"/>
          </a:xfrm>
          <a:prstGeom prst="rect">
            <a:avLst/>
          </a:prstGeom>
          <a:noFill/>
        </p:spPr>
        <p:txBody>
          <a:bodyPr wrap="square">
            <a:normAutofit lnSpcReduction="10000"/>
          </a:bodyPr>
          <a:lstStyle/>
          <a:p>
            <a:pPr algn="ctr">
              <a:defRPr sz="2000" b="1">
                <a:solidFill>
                  <a:srgbClr val="00536D"/>
                </a:solidFill>
                <a:latin typeface="Aptos"/>
              </a:defRPr>
            </a:pPr>
            <a:r>
              <a:t>The story starts with one messy table and ends with a tested 3NF database implementation.</a:t>
            </a:r>
          </a:p>
        </p:txBody>
      </p:sp>
      <p:sp>
        <p:nvSpPr>
          <p:cNvPr id="28" name="TextBox 27"/>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29" name="TextBox 28"/>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CHAPTER 1  ·  THE PROBLEM</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One Big Table, Many Problems</a:t>
            </a:r>
            <a:endParaRPr lang="en-US" sz="2800" dirty="0"/>
          </a:p>
        </p:txBody>
      </p:sp>
      <p:sp>
        <p:nvSpPr>
          <p:cNvPr id="5" name="Shape 3"/>
          <p:cNvSpPr/>
          <p:nvPr/>
        </p:nvSpPr>
        <p:spPr>
          <a:xfrm>
            <a:off x="566928" y="1417320"/>
            <a:ext cx="4160520" cy="4526280"/>
          </a:xfrm>
          <a:prstGeom prst="roundRect">
            <a:avLst>
              <a:gd name="adj" fmla="val 1758"/>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Text 4"/>
          <p:cNvSpPr/>
          <p:nvPr/>
        </p:nvSpPr>
        <p:spPr>
          <a:xfrm>
            <a:off x="868680" y="1645920"/>
            <a:ext cx="3657600" cy="274320"/>
          </a:xfrm>
          <a:prstGeom prst="rect">
            <a:avLst/>
          </a:prstGeom>
          <a:noFill/>
          <a:ln/>
        </p:spPr>
        <p:txBody>
          <a:bodyPr wrap="square" lIns="0" tIns="0" rIns="0" bIns="0" rtlCol="0" anchor="ctr"/>
          <a:lstStyle/>
          <a:p>
            <a:pPr marL="0" indent="0">
              <a:buNone/>
            </a:pPr>
            <a:r>
              <a:rPr lang="en-US" sz="1200" b="1" kern="0" spc="100" dirty="0">
                <a:solidFill>
                  <a:srgbClr val="1C7293"/>
                </a:solidFill>
                <a:latin typeface="Calibri" pitchFamily="34" charset="0"/>
                <a:ea typeface="Calibri" pitchFamily="34" charset="-122"/>
                <a:cs typeface="Calibri" pitchFamily="34" charset="-120"/>
              </a:rPr>
              <a:t>CURRENT SITUATION</a:t>
            </a:r>
            <a:endParaRPr lang="en-US" sz="1200" dirty="0"/>
          </a:p>
        </p:txBody>
      </p:sp>
      <p:sp>
        <p:nvSpPr>
          <p:cNvPr id="7" name="Text 5"/>
          <p:cNvSpPr/>
          <p:nvPr/>
        </p:nvSpPr>
        <p:spPr>
          <a:xfrm>
            <a:off x="868680" y="1965960"/>
            <a:ext cx="3611880" cy="914400"/>
          </a:xfrm>
          <a:prstGeom prst="rect">
            <a:avLst/>
          </a:prstGeom>
          <a:noFill/>
          <a:ln/>
        </p:spPr>
        <p:txBody>
          <a:bodyPr wrap="square" lIns="0" tIns="0" rIns="0" bIns="0" rtlCol="0" anchor="ctr"/>
          <a:lstStyle/>
          <a:p>
            <a:pPr marL="0" indent="0">
              <a:buNone/>
            </a:pPr>
            <a:r>
              <a:rPr lang="en-US" sz="1450" dirty="0">
                <a:solidFill>
                  <a:srgbClr val="1E2E36"/>
                </a:solidFill>
                <a:latin typeface="Calibri" pitchFamily="34" charset="0"/>
                <a:ea typeface="Calibri" pitchFamily="34" charset="-122"/>
                <a:cs typeface="Calibri" pitchFamily="34" charset="-120"/>
              </a:rPr>
              <a:t>SejutaStay is a growing hotel network with branches in Jakarta, Bali, Yogyakarta, Bandung and Lombok.</a:t>
            </a:r>
            <a:endParaRPr lang="en-US" sz="1450" dirty="0"/>
          </a:p>
        </p:txBody>
      </p:sp>
      <p:sp>
        <p:nvSpPr>
          <p:cNvPr id="8" name="Text 6"/>
          <p:cNvSpPr/>
          <p:nvPr/>
        </p:nvSpPr>
        <p:spPr>
          <a:xfrm>
            <a:off x="868680" y="2880360"/>
            <a:ext cx="3611880" cy="914400"/>
          </a:xfrm>
          <a:prstGeom prst="rect">
            <a:avLst/>
          </a:prstGeom>
          <a:noFill/>
          <a:ln/>
        </p:spPr>
        <p:txBody>
          <a:bodyPr wrap="square" lIns="0" tIns="0" rIns="0" bIns="0" rtlCol="0" anchor="ctr"/>
          <a:lstStyle/>
          <a:p>
            <a:pPr marL="0" indent="0">
              <a:buNone/>
            </a:pPr>
            <a:r>
              <a:rPr lang="en-US" sz="1450" dirty="0">
                <a:solidFill>
                  <a:srgbClr val="1E2E36"/>
                </a:solidFill>
                <a:latin typeface="Calibri" pitchFamily="34" charset="0"/>
                <a:ea typeface="Calibri" pitchFamily="34" charset="-122"/>
                <a:cs typeface="Calibri" pitchFamily="34" charset="-120"/>
              </a:rPr>
              <a:t>Every reservation — guest, hotel, rooms and services — is recorded in a single shared spreadsheet:</a:t>
            </a:r>
            <a:endParaRPr lang="en-US" sz="1450" dirty="0"/>
          </a:p>
        </p:txBody>
      </p:sp>
      <p:sp>
        <p:nvSpPr>
          <p:cNvPr id="9" name="Shape 7"/>
          <p:cNvSpPr/>
          <p:nvPr/>
        </p:nvSpPr>
        <p:spPr>
          <a:xfrm>
            <a:off x="868680" y="3840480"/>
            <a:ext cx="3566160" cy="1874520"/>
          </a:xfrm>
          <a:prstGeom prst="roundRect">
            <a:avLst>
              <a:gd name="adj" fmla="val 2927"/>
            </a:avLst>
          </a:prstGeom>
          <a:solidFill>
            <a:srgbClr val="FFFFFF"/>
          </a:solidFill>
          <a:ln w="12700">
            <a:solidFill>
              <a:srgbClr val="C9D8DE"/>
            </a:solidFill>
            <a:prstDash val="solid"/>
          </a:ln>
        </p:spPr>
        <p:txBody>
          <a:bodyPr/>
          <a:lstStyle/>
          <a:p>
            <a:endParaRPr/>
          </a:p>
        </p:txBody>
      </p:sp>
      <p:sp>
        <p:nvSpPr>
          <p:cNvPr id="10" name="Text 8"/>
          <p:cNvSpPr/>
          <p:nvPr/>
        </p:nvSpPr>
        <p:spPr>
          <a:xfrm>
            <a:off x="868680" y="3977640"/>
            <a:ext cx="3566160" cy="365760"/>
          </a:xfrm>
          <a:prstGeom prst="rect">
            <a:avLst/>
          </a:prstGeom>
          <a:noFill/>
          <a:ln/>
        </p:spPr>
        <p:txBody>
          <a:bodyPr wrap="square" lIns="0" tIns="0" rIns="0" bIns="0" rtlCol="0" anchor="ctr"/>
          <a:lstStyle/>
          <a:p>
            <a:pPr marL="0" indent="0" algn="ctr">
              <a:buNone/>
            </a:pPr>
            <a:r>
              <a:rPr lang="en-US" sz="1300" b="1" dirty="0">
                <a:solidFill>
                  <a:srgbClr val="0C4A60"/>
                </a:solidFill>
                <a:latin typeface="Calibri" pitchFamily="34" charset="0"/>
                <a:ea typeface="Calibri" pitchFamily="34" charset="-122"/>
                <a:cs typeface="Calibri" pitchFamily="34" charset="-120"/>
              </a:rPr>
              <a:t>“BookingRecord”</a:t>
            </a:r>
            <a:endParaRPr lang="en-US" sz="1300" dirty="0"/>
          </a:p>
        </p:txBody>
      </p:sp>
      <p:sp>
        <p:nvSpPr>
          <p:cNvPr id="11" name="Shape 9"/>
          <p:cNvSpPr/>
          <p:nvPr/>
        </p:nvSpPr>
        <p:spPr>
          <a:xfrm>
            <a:off x="1097280" y="4389120"/>
            <a:ext cx="3108960" cy="219456"/>
          </a:xfrm>
          <a:prstGeom prst="rect">
            <a:avLst/>
          </a:prstGeom>
          <a:solidFill>
            <a:srgbClr val="DCEBF1"/>
          </a:solidFill>
          <a:ln w="9525">
            <a:solidFill>
              <a:srgbClr val="D9E3E7"/>
            </a:solidFill>
            <a:prstDash val="solid"/>
          </a:ln>
        </p:spPr>
        <p:txBody>
          <a:bodyPr/>
          <a:lstStyle/>
          <a:p>
            <a:endParaRPr/>
          </a:p>
        </p:txBody>
      </p:sp>
      <p:sp>
        <p:nvSpPr>
          <p:cNvPr id="12" name="Shape 10"/>
          <p:cNvSpPr/>
          <p:nvPr/>
        </p:nvSpPr>
        <p:spPr>
          <a:xfrm>
            <a:off x="1097280" y="4681728"/>
            <a:ext cx="3108960" cy="219456"/>
          </a:xfrm>
          <a:prstGeom prst="rect">
            <a:avLst/>
          </a:prstGeom>
          <a:solidFill>
            <a:srgbClr val="F2F6F8"/>
          </a:solidFill>
          <a:ln w="9525">
            <a:solidFill>
              <a:srgbClr val="D9E3E7"/>
            </a:solidFill>
            <a:prstDash val="solid"/>
          </a:ln>
        </p:spPr>
        <p:txBody>
          <a:bodyPr/>
          <a:lstStyle/>
          <a:p>
            <a:endParaRPr/>
          </a:p>
        </p:txBody>
      </p:sp>
      <p:sp>
        <p:nvSpPr>
          <p:cNvPr id="13" name="Shape 11"/>
          <p:cNvSpPr/>
          <p:nvPr/>
        </p:nvSpPr>
        <p:spPr>
          <a:xfrm>
            <a:off x="1097280" y="4974336"/>
            <a:ext cx="3108960" cy="219456"/>
          </a:xfrm>
          <a:prstGeom prst="rect">
            <a:avLst/>
          </a:prstGeom>
          <a:solidFill>
            <a:srgbClr val="F2F6F8"/>
          </a:solidFill>
          <a:ln w="9525">
            <a:solidFill>
              <a:srgbClr val="D9E3E7"/>
            </a:solidFill>
            <a:prstDash val="solid"/>
          </a:ln>
        </p:spPr>
        <p:txBody>
          <a:bodyPr/>
          <a:lstStyle/>
          <a:p>
            <a:endParaRPr/>
          </a:p>
        </p:txBody>
      </p:sp>
      <p:sp>
        <p:nvSpPr>
          <p:cNvPr id="14" name="Shape 12"/>
          <p:cNvSpPr/>
          <p:nvPr/>
        </p:nvSpPr>
        <p:spPr>
          <a:xfrm>
            <a:off x="1097280" y="5266944"/>
            <a:ext cx="3108960" cy="219456"/>
          </a:xfrm>
          <a:prstGeom prst="rect">
            <a:avLst/>
          </a:prstGeom>
          <a:solidFill>
            <a:srgbClr val="F2F6F8"/>
          </a:solidFill>
          <a:ln w="9525">
            <a:solidFill>
              <a:srgbClr val="D9E3E7"/>
            </a:solidFill>
            <a:prstDash val="solid"/>
          </a:ln>
        </p:spPr>
        <p:txBody>
          <a:bodyPr/>
          <a:lstStyle/>
          <a:p>
            <a:endParaRPr/>
          </a:p>
        </p:txBody>
      </p:sp>
      <p:sp>
        <p:nvSpPr>
          <p:cNvPr id="15" name="Text 13"/>
          <p:cNvSpPr/>
          <p:nvPr/>
        </p:nvSpPr>
        <p:spPr>
          <a:xfrm>
            <a:off x="868680" y="5532120"/>
            <a:ext cx="3566160" cy="274320"/>
          </a:xfrm>
          <a:prstGeom prst="rect">
            <a:avLst/>
          </a:prstGeom>
          <a:noFill/>
          <a:ln/>
        </p:spPr>
        <p:txBody>
          <a:bodyPr wrap="square" lIns="0" tIns="0" rIns="0" bIns="0" rtlCol="0" anchor="ctr"/>
          <a:lstStyle/>
          <a:p>
            <a:pPr marL="0" indent="0" algn="ctr">
              <a:buNone/>
            </a:pPr>
            <a:r>
              <a:rPr lang="en-US" sz="1050" i="1" dirty="0">
                <a:solidFill>
                  <a:srgbClr val="5C7984"/>
                </a:solidFill>
                <a:latin typeface="Calibri" pitchFamily="34" charset="0"/>
                <a:ea typeface="Calibri" pitchFamily="34" charset="-122"/>
                <a:cs typeface="Calibri" pitchFamily="34" charset="-120"/>
              </a:rPr>
              <a:t>18 columns × many rows — all data mixed together</a:t>
            </a:r>
            <a:endParaRPr lang="en-US" sz="1050" dirty="0"/>
          </a:p>
        </p:txBody>
      </p:sp>
      <p:sp>
        <p:nvSpPr>
          <p:cNvPr id="16" name="Text 14"/>
          <p:cNvSpPr/>
          <p:nvPr/>
        </p:nvSpPr>
        <p:spPr>
          <a:xfrm>
            <a:off x="5029200" y="1554480"/>
            <a:ext cx="6583680" cy="292608"/>
          </a:xfrm>
          <a:prstGeom prst="rect">
            <a:avLst/>
          </a:prstGeom>
          <a:noFill/>
          <a:ln/>
        </p:spPr>
        <p:txBody>
          <a:bodyPr wrap="square" lIns="0" tIns="0" rIns="0" bIns="0" rtlCol="0" anchor="ctr"/>
          <a:lstStyle/>
          <a:p>
            <a:pPr marL="0" indent="0">
              <a:buNone/>
            </a:pPr>
            <a:r>
              <a:rPr lang="en-US" sz="1250" b="1" kern="0" spc="100" dirty="0">
                <a:solidFill>
                  <a:srgbClr val="B8860B"/>
                </a:solidFill>
                <a:latin typeface="Calibri" pitchFamily="34" charset="0"/>
                <a:ea typeface="Calibri" pitchFamily="34" charset="-122"/>
                <a:cs typeface="Calibri" pitchFamily="34" charset="-120"/>
              </a:rPr>
              <a:t>FIVE PERFORMANCE PROBLEMS</a:t>
            </a:r>
            <a:endParaRPr lang="en-US" sz="1250" dirty="0"/>
          </a:p>
        </p:txBody>
      </p:sp>
      <p:sp>
        <p:nvSpPr>
          <p:cNvPr id="17" name="Shape 15"/>
          <p:cNvSpPr/>
          <p:nvPr/>
        </p:nvSpPr>
        <p:spPr>
          <a:xfrm>
            <a:off x="5029200" y="1901952"/>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5193792" y="2057400"/>
            <a:ext cx="402336" cy="402336"/>
          </a:xfrm>
          <a:prstGeom prst="ellipse">
            <a:avLst/>
          </a:prstGeom>
          <a:solidFill>
            <a:srgbClr val="0C4A60"/>
          </a:solidFill>
          <a:ln/>
        </p:spPr>
        <p:txBody>
          <a:bodyPr/>
          <a:lstStyle/>
          <a:p>
            <a:endParaRPr/>
          </a:p>
        </p:txBody>
      </p:sp>
      <p:sp>
        <p:nvSpPr>
          <p:cNvPr id="19" name="Text 17"/>
          <p:cNvSpPr/>
          <p:nvPr/>
        </p:nvSpPr>
        <p:spPr>
          <a:xfrm>
            <a:off x="5193792" y="2057400"/>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300" dirty="0"/>
          </a:p>
        </p:txBody>
      </p:sp>
      <p:sp>
        <p:nvSpPr>
          <p:cNvPr id="20" name="Text 18"/>
          <p:cNvSpPr/>
          <p:nvPr/>
        </p:nvSpPr>
        <p:spPr>
          <a:xfrm>
            <a:off x="5779008" y="1975104"/>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Data redundancy</a:t>
            </a:r>
            <a:endParaRPr lang="en-US" sz="1450" dirty="0"/>
          </a:p>
        </p:txBody>
      </p:sp>
      <p:sp>
        <p:nvSpPr>
          <p:cNvPr id="21" name="Text 19"/>
          <p:cNvSpPr/>
          <p:nvPr/>
        </p:nvSpPr>
        <p:spPr>
          <a:xfrm>
            <a:off x="5779008" y="2258568"/>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Guest &amp; hotel details are repeated in every booking row.</a:t>
            </a:r>
            <a:endParaRPr lang="en-US" sz="1150" dirty="0"/>
          </a:p>
        </p:txBody>
      </p:sp>
      <p:sp>
        <p:nvSpPr>
          <p:cNvPr id="22" name="Shape 20"/>
          <p:cNvSpPr/>
          <p:nvPr/>
        </p:nvSpPr>
        <p:spPr>
          <a:xfrm>
            <a:off x="5029200" y="2743200"/>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3" name="Shape 21"/>
          <p:cNvSpPr/>
          <p:nvPr/>
        </p:nvSpPr>
        <p:spPr>
          <a:xfrm>
            <a:off x="5193792" y="2898648"/>
            <a:ext cx="402336" cy="402336"/>
          </a:xfrm>
          <a:prstGeom prst="ellipse">
            <a:avLst/>
          </a:prstGeom>
          <a:solidFill>
            <a:srgbClr val="0C4A60"/>
          </a:solidFill>
          <a:ln/>
        </p:spPr>
        <p:txBody>
          <a:bodyPr/>
          <a:lstStyle/>
          <a:p>
            <a:endParaRPr/>
          </a:p>
        </p:txBody>
      </p:sp>
      <p:sp>
        <p:nvSpPr>
          <p:cNvPr id="24" name="Text 22"/>
          <p:cNvSpPr/>
          <p:nvPr/>
        </p:nvSpPr>
        <p:spPr>
          <a:xfrm>
            <a:off x="5193792" y="2898648"/>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300" dirty="0"/>
          </a:p>
        </p:txBody>
      </p:sp>
      <p:sp>
        <p:nvSpPr>
          <p:cNvPr id="25" name="Text 23"/>
          <p:cNvSpPr/>
          <p:nvPr/>
        </p:nvSpPr>
        <p:spPr>
          <a:xfrm>
            <a:off x="5779008" y="2816352"/>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Update anomaly</a:t>
            </a:r>
            <a:endParaRPr lang="en-US" sz="1450" dirty="0"/>
          </a:p>
        </p:txBody>
      </p:sp>
      <p:sp>
        <p:nvSpPr>
          <p:cNvPr id="26" name="Text 24"/>
          <p:cNvSpPr/>
          <p:nvPr/>
        </p:nvSpPr>
        <p:spPr>
          <a:xfrm>
            <a:off x="5779008" y="3099816"/>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One change must be edited in many rows — easy to miss.</a:t>
            </a:r>
            <a:endParaRPr lang="en-US" sz="1150" dirty="0"/>
          </a:p>
        </p:txBody>
      </p:sp>
      <p:sp>
        <p:nvSpPr>
          <p:cNvPr id="27" name="Shape 25"/>
          <p:cNvSpPr/>
          <p:nvPr/>
        </p:nvSpPr>
        <p:spPr>
          <a:xfrm>
            <a:off x="5029200" y="3584448"/>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8" name="Shape 26"/>
          <p:cNvSpPr/>
          <p:nvPr/>
        </p:nvSpPr>
        <p:spPr>
          <a:xfrm>
            <a:off x="5193792" y="3739896"/>
            <a:ext cx="402336" cy="402336"/>
          </a:xfrm>
          <a:prstGeom prst="ellipse">
            <a:avLst/>
          </a:prstGeom>
          <a:solidFill>
            <a:srgbClr val="0C4A60"/>
          </a:solidFill>
          <a:ln/>
        </p:spPr>
        <p:txBody>
          <a:bodyPr/>
          <a:lstStyle/>
          <a:p>
            <a:endParaRPr/>
          </a:p>
        </p:txBody>
      </p:sp>
      <p:sp>
        <p:nvSpPr>
          <p:cNvPr id="29" name="Text 27"/>
          <p:cNvSpPr/>
          <p:nvPr/>
        </p:nvSpPr>
        <p:spPr>
          <a:xfrm>
            <a:off x="5193792" y="3739896"/>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300" dirty="0"/>
          </a:p>
        </p:txBody>
      </p:sp>
      <p:sp>
        <p:nvSpPr>
          <p:cNvPr id="30" name="Text 28"/>
          <p:cNvSpPr/>
          <p:nvPr/>
        </p:nvSpPr>
        <p:spPr>
          <a:xfrm>
            <a:off x="5779008" y="3657600"/>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Insertion anomaly</a:t>
            </a:r>
            <a:endParaRPr lang="en-US" sz="1450" dirty="0"/>
          </a:p>
        </p:txBody>
      </p:sp>
      <p:sp>
        <p:nvSpPr>
          <p:cNvPr id="31" name="Text 29"/>
          <p:cNvSpPr/>
          <p:nvPr/>
        </p:nvSpPr>
        <p:spPr>
          <a:xfrm>
            <a:off x="5779008" y="3941064"/>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A new hotel or service cannot be added without a booking.</a:t>
            </a:r>
            <a:endParaRPr lang="en-US" sz="1150" dirty="0"/>
          </a:p>
        </p:txBody>
      </p:sp>
      <p:sp>
        <p:nvSpPr>
          <p:cNvPr id="32" name="Shape 30"/>
          <p:cNvSpPr/>
          <p:nvPr/>
        </p:nvSpPr>
        <p:spPr>
          <a:xfrm>
            <a:off x="5029200" y="4425696"/>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3" name="Shape 31"/>
          <p:cNvSpPr/>
          <p:nvPr/>
        </p:nvSpPr>
        <p:spPr>
          <a:xfrm>
            <a:off x="5193792" y="4581144"/>
            <a:ext cx="402336" cy="402336"/>
          </a:xfrm>
          <a:prstGeom prst="ellipse">
            <a:avLst/>
          </a:prstGeom>
          <a:solidFill>
            <a:srgbClr val="0C4A60"/>
          </a:solidFill>
          <a:ln/>
        </p:spPr>
        <p:txBody>
          <a:bodyPr/>
          <a:lstStyle/>
          <a:p>
            <a:endParaRPr/>
          </a:p>
        </p:txBody>
      </p:sp>
      <p:sp>
        <p:nvSpPr>
          <p:cNvPr id="34" name="Text 32"/>
          <p:cNvSpPr/>
          <p:nvPr/>
        </p:nvSpPr>
        <p:spPr>
          <a:xfrm>
            <a:off x="5193792" y="4581144"/>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300" dirty="0"/>
          </a:p>
        </p:txBody>
      </p:sp>
      <p:sp>
        <p:nvSpPr>
          <p:cNvPr id="35" name="Text 33"/>
          <p:cNvSpPr/>
          <p:nvPr/>
        </p:nvSpPr>
        <p:spPr>
          <a:xfrm>
            <a:off x="5779008" y="4498848"/>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Deletion anomaly</a:t>
            </a:r>
            <a:endParaRPr lang="en-US" sz="1450" dirty="0"/>
          </a:p>
        </p:txBody>
      </p:sp>
      <p:sp>
        <p:nvSpPr>
          <p:cNvPr id="36" name="Text 34"/>
          <p:cNvSpPr/>
          <p:nvPr/>
        </p:nvSpPr>
        <p:spPr>
          <a:xfrm>
            <a:off x="5779008" y="4782312"/>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Deleting a booking can erase the only copy of other data.</a:t>
            </a:r>
            <a:endParaRPr lang="en-US" sz="1150" dirty="0"/>
          </a:p>
        </p:txBody>
      </p:sp>
      <p:sp>
        <p:nvSpPr>
          <p:cNvPr id="37" name="Shape 35"/>
          <p:cNvSpPr/>
          <p:nvPr/>
        </p:nvSpPr>
        <p:spPr>
          <a:xfrm>
            <a:off x="5029200" y="5266944"/>
            <a:ext cx="6583680"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8" name="Shape 36"/>
          <p:cNvSpPr/>
          <p:nvPr/>
        </p:nvSpPr>
        <p:spPr>
          <a:xfrm>
            <a:off x="5193792" y="5422392"/>
            <a:ext cx="402336" cy="402336"/>
          </a:xfrm>
          <a:prstGeom prst="ellipse">
            <a:avLst/>
          </a:prstGeom>
          <a:solidFill>
            <a:srgbClr val="0C4A60"/>
          </a:solidFill>
          <a:ln/>
        </p:spPr>
        <p:txBody>
          <a:bodyPr/>
          <a:lstStyle/>
          <a:p>
            <a:endParaRPr/>
          </a:p>
        </p:txBody>
      </p:sp>
      <p:sp>
        <p:nvSpPr>
          <p:cNvPr id="39" name="Text 37"/>
          <p:cNvSpPr/>
          <p:nvPr/>
        </p:nvSpPr>
        <p:spPr>
          <a:xfrm>
            <a:off x="5193792" y="5422392"/>
            <a:ext cx="402336" cy="402336"/>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300" dirty="0"/>
          </a:p>
        </p:txBody>
      </p:sp>
      <p:sp>
        <p:nvSpPr>
          <p:cNvPr id="40" name="Text 38"/>
          <p:cNvSpPr/>
          <p:nvPr/>
        </p:nvSpPr>
        <p:spPr>
          <a:xfrm>
            <a:off x="5779008" y="5340096"/>
            <a:ext cx="5669280" cy="292608"/>
          </a:xfrm>
          <a:prstGeom prst="rect">
            <a:avLst/>
          </a:prstGeom>
          <a:noFill/>
          <a:ln/>
        </p:spPr>
        <p:txBody>
          <a:bodyPr wrap="square" lIns="0" tIns="0" rIns="0" bIns="0" rtlCol="0" anchor="ctr"/>
          <a:lstStyle/>
          <a:p>
            <a:pPr marL="0" indent="0">
              <a:buNone/>
            </a:pPr>
            <a:r>
              <a:rPr lang="en-US" sz="1450" b="1" dirty="0">
                <a:solidFill>
                  <a:srgbClr val="0C4A60"/>
                </a:solidFill>
                <a:latin typeface="Calibri" pitchFamily="34" charset="0"/>
                <a:ea typeface="Calibri" pitchFamily="34" charset="-122"/>
                <a:cs typeface="Calibri" pitchFamily="34" charset="-120"/>
              </a:rPr>
              <a:t>Slow &amp; unreliable</a:t>
            </a:r>
            <a:endParaRPr lang="en-US" sz="1450" dirty="0"/>
          </a:p>
        </p:txBody>
      </p:sp>
      <p:sp>
        <p:nvSpPr>
          <p:cNvPr id="41" name="Text 39"/>
          <p:cNvSpPr/>
          <p:nvPr/>
        </p:nvSpPr>
        <p:spPr>
          <a:xfrm>
            <a:off x="5779008" y="5623560"/>
            <a:ext cx="5715000" cy="310896"/>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Hard to search, report, and no integrity checks.</a:t>
            </a:r>
            <a:endParaRPr lang="en-US" sz="1150" dirty="0"/>
          </a:p>
        </p:txBody>
      </p:sp>
      <p:sp>
        <p:nvSpPr>
          <p:cNvPr id="42" name="Text 40"/>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43" name="Text 41"/>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CHAPTER 2  ·  SAMPLE DATA (UNF)</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Our Case &amp; The Sample Data</a:t>
            </a:r>
            <a:endParaRPr lang="en-US" sz="2800" dirty="0"/>
          </a:p>
        </p:txBody>
      </p:sp>
      <p:sp>
        <p:nvSpPr>
          <p:cNvPr id="5" name="Shape 3"/>
          <p:cNvSpPr/>
          <p:nvPr/>
        </p:nvSpPr>
        <p:spPr>
          <a:xfrm>
            <a:off x="566928" y="1463040"/>
            <a:ext cx="4572000" cy="1828800"/>
          </a:xfrm>
          <a:prstGeom prst="roundRect">
            <a:avLst>
              <a:gd name="adj" fmla="val 4000"/>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Text 4"/>
          <p:cNvSpPr/>
          <p:nvPr/>
        </p:nvSpPr>
        <p:spPr>
          <a:xfrm>
            <a:off x="822960" y="1627632"/>
            <a:ext cx="411480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THE SAMPLE DATA</a:t>
            </a:r>
            <a:endParaRPr lang="en-US" sz="1200" dirty="0"/>
          </a:p>
        </p:txBody>
      </p:sp>
      <p:sp>
        <p:nvSpPr>
          <p:cNvPr id="7" name="Text 5"/>
          <p:cNvSpPr/>
          <p:nvPr/>
        </p:nvSpPr>
        <p:spPr>
          <a:xfrm>
            <a:off x="822960" y="1901952"/>
            <a:ext cx="4206240" cy="502920"/>
          </a:xfrm>
          <a:prstGeom prst="rect">
            <a:avLst/>
          </a:prstGeom>
          <a:noFill/>
          <a:ln/>
        </p:spPr>
        <p:txBody>
          <a:bodyPr wrap="square" lIns="0" tIns="0" rIns="0" bIns="0" rtlCol="0" anchor="ctr"/>
          <a:lstStyle/>
          <a:p>
            <a:pPr marL="0" indent="0">
              <a:buNone/>
            </a:pPr>
            <a:r>
              <a:rPr lang="en-US" sz="3000" b="1" dirty="0">
                <a:solidFill>
                  <a:srgbClr val="0C4A60"/>
                </a:solidFill>
              </a:rPr>
              <a:t>7</a:t>
            </a:r>
            <a:r>
              <a:rPr lang="en-US" sz="1300" dirty="0">
                <a:solidFill>
                  <a:srgbClr val="1E2E36"/>
                </a:solidFill>
              </a:rPr>
              <a:t>  sample reservations,  </a:t>
            </a:r>
            <a:r>
              <a:rPr lang="en-US" sz="3000" b="1" dirty="0">
                <a:solidFill>
                  <a:srgbClr val="0C4A60"/>
                </a:solidFill>
              </a:rPr>
              <a:t>18</a:t>
            </a:r>
            <a:r>
              <a:rPr lang="en-US" sz="1300" dirty="0">
                <a:solidFill>
                  <a:srgbClr val="1E2E36"/>
                </a:solidFill>
              </a:rPr>
              <a:t>  attributes</a:t>
            </a:r>
            <a:endParaRPr lang="en-US" sz="3000" dirty="0"/>
          </a:p>
        </p:txBody>
      </p:sp>
      <p:sp>
        <p:nvSpPr>
          <p:cNvPr id="8" name="Text 6"/>
          <p:cNvSpPr/>
          <p:nvPr/>
        </p:nvSpPr>
        <p:spPr>
          <a:xfrm>
            <a:off x="822960" y="2395728"/>
            <a:ext cx="4114800" cy="868680"/>
          </a:xfrm>
          <a:prstGeom prst="rect">
            <a:avLst/>
          </a:prstGeom>
          <a:noFill/>
          <a:ln/>
        </p:spPr>
        <p:txBody>
          <a:bodyPr wrap="square" lIns="0" tIns="0" rIns="0" bIns="0" rtlCol="0" anchor="ctr"/>
          <a:lstStyle/>
          <a:p>
            <a:pPr marL="0" indent="0">
              <a:buNone/>
            </a:pPr>
            <a:r>
              <a:rPr lang="en-US" sz="1150" dirty="0">
                <a:solidFill>
                  <a:srgbClr val="5C7984"/>
                </a:solidFill>
                <a:latin typeface="Calibri" pitchFamily="34" charset="0"/>
                <a:ea typeface="Calibri" pitchFamily="34" charset="-122"/>
                <a:cs typeface="Calibri" pitchFamily="34" charset="-120"/>
              </a:rPr>
              <a:t>Modelled on real hotel reservation data (Hotel Booking Demand dataset, Antonio et al., 2019). A small subset is used so each normalization step can be traced by hand.</a:t>
            </a:r>
            <a:endParaRPr lang="en-US" sz="1150" dirty="0"/>
          </a:p>
        </p:txBody>
      </p:sp>
      <p:sp>
        <p:nvSpPr>
          <p:cNvPr id="9" name="Shape 7"/>
          <p:cNvSpPr/>
          <p:nvPr/>
        </p:nvSpPr>
        <p:spPr>
          <a:xfrm>
            <a:off x="566928" y="3456432"/>
            <a:ext cx="4572000" cy="2514600"/>
          </a:xfrm>
          <a:prstGeom prst="roundRect">
            <a:avLst>
              <a:gd name="adj" fmla="val 2909"/>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0" name="Text 8"/>
          <p:cNvSpPr/>
          <p:nvPr/>
        </p:nvSpPr>
        <p:spPr>
          <a:xfrm>
            <a:off x="822960" y="3611880"/>
            <a:ext cx="411480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WHY IS IT “UN-NORMALIZED”?</a:t>
            </a:r>
            <a:endParaRPr lang="en-US" sz="1200" dirty="0"/>
          </a:p>
        </p:txBody>
      </p:sp>
      <p:sp>
        <p:nvSpPr>
          <p:cNvPr id="11" name="Text 9"/>
          <p:cNvSpPr/>
          <p:nvPr/>
        </p:nvSpPr>
        <p:spPr>
          <a:xfrm>
            <a:off x="822960" y="3886200"/>
            <a:ext cx="4114800" cy="77724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It contains repeating groups — one booking can have several rooms or services, so many values are stuffed into one cell.</a:t>
            </a:r>
            <a:endParaRPr lang="en-US" sz="1250" dirty="0"/>
          </a:p>
        </p:txBody>
      </p:sp>
      <p:sp>
        <p:nvSpPr>
          <p:cNvPr id="12" name="Shape 10"/>
          <p:cNvSpPr/>
          <p:nvPr/>
        </p:nvSpPr>
        <p:spPr>
          <a:xfrm>
            <a:off x="822960" y="4663440"/>
            <a:ext cx="4069080" cy="1097280"/>
          </a:xfrm>
          <a:prstGeom prst="roundRect">
            <a:avLst>
              <a:gd name="adj" fmla="val 5000"/>
            </a:avLst>
          </a:prstGeom>
          <a:solidFill>
            <a:srgbClr val="FFFFFF"/>
          </a:solidFill>
          <a:ln w="15875">
            <a:solidFill>
              <a:srgbClr val="B23A48"/>
            </a:solidFill>
            <a:prstDash val="solid"/>
          </a:ln>
        </p:spPr>
        <p:txBody>
          <a:bodyPr/>
          <a:lstStyle/>
          <a:p>
            <a:endParaRPr/>
          </a:p>
        </p:txBody>
      </p:sp>
      <p:sp>
        <p:nvSpPr>
          <p:cNvPr id="13" name="Text 11"/>
          <p:cNvSpPr/>
          <p:nvPr/>
        </p:nvSpPr>
        <p:spPr>
          <a:xfrm>
            <a:off x="960120" y="4754880"/>
            <a:ext cx="3840480" cy="274320"/>
          </a:xfrm>
          <a:prstGeom prst="rect">
            <a:avLst/>
          </a:prstGeom>
          <a:noFill/>
          <a:ln/>
        </p:spPr>
        <p:txBody>
          <a:bodyPr wrap="square" lIns="0" tIns="0" rIns="0" bIns="0" rtlCol="0" anchor="ctr"/>
          <a:lstStyle/>
          <a:p>
            <a:pPr marL="0" indent="0">
              <a:buNone/>
            </a:pPr>
            <a:r>
              <a:rPr lang="en-US" sz="1150" b="1" dirty="0">
                <a:solidFill>
                  <a:srgbClr val="0C4A60"/>
                </a:solidFill>
                <a:latin typeface="Calibri" pitchFamily="34" charset="0"/>
                <a:ea typeface="Calibri" pitchFamily="34" charset="-122"/>
                <a:cs typeface="Calibri" pitchFamily="34" charset="-120"/>
              </a:rPr>
              <a:t>Booking B002</a:t>
            </a:r>
            <a:endParaRPr lang="en-US" sz="1150" dirty="0"/>
          </a:p>
        </p:txBody>
      </p:sp>
      <p:sp>
        <p:nvSpPr>
          <p:cNvPr id="14" name="Text 12"/>
          <p:cNvSpPr/>
          <p:nvPr/>
        </p:nvSpPr>
        <p:spPr>
          <a:xfrm>
            <a:off x="960120" y="5010912"/>
            <a:ext cx="3840480" cy="274320"/>
          </a:xfrm>
          <a:prstGeom prst="rect">
            <a:avLst/>
          </a:prstGeom>
          <a:noFill/>
          <a:ln/>
        </p:spPr>
        <p:txBody>
          <a:bodyPr wrap="square" lIns="0" tIns="0" rIns="0" bIns="0" rtlCol="0" anchor="ctr"/>
          <a:lstStyle/>
          <a:p>
            <a:pPr marL="0" indent="0">
              <a:buNone/>
            </a:pPr>
            <a:r>
              <a:rPr lang="en-US" sz="1200" dirty="0">
                <a:solidFill>
                  <a:srgbClr val="1E2E36"/>
                </a:solidFill>
              </a:rPr>
              <a:t>RoomNo = </a:t>
            </a:r>
            <a:r>
              <a:rPr lang="en-US" sz="1200" b="1" dirty="0">
                <a:solidFill>
                  <a:srgbClr val="B23A48"/>
                </a:solidFill>
              </a:rPr>
              <a:t>201 ; 202</a:t>
            </a:r>
            <a:endParaRPr lang="en-US" sz="1200" dirty="0"/>
          </a:p>
        </p:txBody>
      </p:sp>
      <p:sp>
        <p:nvSpPr>
          <p:cNvPr id="15" name="Text 13"/>
          <p:cNvSpPr/>
          <p:nvPr/>
        </p:nvSpPr>
        <p:spPr>
          <a:xfrm>
            <a:off x="960120" y="5285232"/>
            <a:ext cx="3840480" cy="274320"/>
          </a:xfrm>
          <a:prstGeom prst="rect">
            <a:avLst/>
          </a:prstGeom>
          <a:noFill/>
          <a:ln/>
        </p:spPr>
        <p:txBody>
          <a:bodyPr wrap="square" lIns="0" tIns="0" rIns="0" bIns="0" rtlCol="0" anchor="ctr"/>
          <a:lstStyle/>
          <a:p>
            <a:pPr marL="0" indent="0">
              <a:buNone/>
            </a:pPr>
            <a:r>
              <a:rPr lang="en-US" sz="1050" i="1" dirty="0">
                <a:solidFill>
                  <a:srgbClr val="B23A48"/>
                </a:solidFill>
                <a:latin typeface="Calibri" pitchFamily="34" charset="0"/>
                <a:ea typeface="Calibri" pitchFamily="34" charset="-122"/>
                <a:cs typeface="Calibri" pitchFamily="34" charset="-120"/>
              </a:rPr>
              <a:t>✕  two values in a single cell</a:t>
            </a:r>
            <a:endParaRPr lang="en-US" sz="1050" dirty="0"/>
          </a:p>
        </p:txBody>
      </p:sp>
      <p:sp>
        <p:nvSpPr>
          <p:cNvPr id="16" name="Shape 14"/>
          <p:cNvSpPr/>
          <p:nvPr/>
        </p:nvSpPr>
        <p:spPr>
          <a:xfrm>
            <a:off x="5349240" y="1463040"/>
            <a:ext cx="6263640" cy="4507992"/>
          </a:xfrm>
          <a:prstGeom prst="roundRect">
            <a:avLst>
              <a:gd name="adj" fmla="val 162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7" name="Text 15"/>
          <p:cNvSpPr/>
          <p:nvPr/>
        </p:nvSpPr>
        <p:spPr>
          <a:xfrm>
            <a:off x="5577840" y="1627632"/>
            <a:ext cx="5852160" cy="274320"/>
          </a:xfrm>
          <a:prstGeom prst="rect">
            <a:avLst/>
          </a:prstGeom>
          <a:noFill/>
          <a:ln/>
        </p:spPr>
        <p:txBody>
          <a:bodyPr wrap="square" lIns="0" tIns="0" rIns="0" bIns="0" rtlCol="0" anchor="ctr"/>
          <a:lstStyle/>
          <a:p>
            <a:pPr marL="0" indent="0">
              <a:buNone/>
            </a:pPr>
            <a:r>
              <a:rPr lang="en-US" sz="1200" b="1" dirty="0">
                <a:solidFill>
                  <a:srgbClr val="B8860B"/>
                </a:solidFill>
                <a:latin typeface="Calibri" pitchFamily="34" charset="0"/>
                <a:ea typeface="Calibri" pitchFamily="34" charset="-122"/>
                <a:cs typeface="Calibri" pitchFamily="34" charset="-120"/>
              </a:rPr>
              <a:t>SAMPLE — UN-NORMALIZED TABLE (extract)</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577840" y="1975104"/>
          <a:ext cx="5806440" cy="914400"/>
        </p:xfrm>
        <a:graphic>
          <a:graphicData uri="http://schemas.openxmlformats.org/drawingml/2006/table">
            <a:tbl>
              <a:tblPr/>
              <a:tblGrid>
                <a:gridCol w="8686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420624">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Booking</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Guest</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Hotel</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RoomNo ▸</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Service ▸</a:t>
                      </a:r>
                      <a:endParaRPr lang="en-US" sz="105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0C4A60"/>
                    </a:solidFill>
                  </a:tcPr>
                </a:tc>
                <a:extLst>
                  <a:ext uri="{0D108BD9-81ED-4DB2-BD59-A6C34878D82A}">
                    <a16:rowId xmlns:a16="http://schemas.microsoft.com/office/drawing/2014/main" val="10000"/>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Andi Wijaya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Grand Jakarta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101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Breakfast; Spa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Bella Sari</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Bali Beach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201; 202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Breakfast; Transfer</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B003</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Andi Wijaya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Yogya Heritage</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301</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Breakfast</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B004</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Citra Dewi</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Bali Beach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203</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Spa; Laundry; Late C/O</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B005</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Doni Pratama</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Bandung High.</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B23A48"/>
                          </a:solidFill>
                          <a:latin typeface="Calibri" pitchFamily="34" charset="0"/>
                          <a:ea typeface="Calibri" pitchFamily="34" charset="-122"/>
                          <a:cs typeface="Calibri" pitchFamily="34" charset="-120"/>
                        </a:rPr>
                        <a:t>401; 402</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E36"/>
                          </a:solidFill>
                          <a:latin typeface="Calibri" pitchFamily="34" charset="0"/>
                          <a:ea typeface="Calibri" pitchFamily="34" charset="-122"/>
                          <a:cs typeface="Calibri" pitchFamily="34" charset="-120"/>
                        </a:rPr>
                        <a:t>Breakfast</a:t>
                      </a:r>
                      <a:endParaRPr lang="en-US" sz="1000" dirty="0">
                        <a:latin typeface="Calibri" charset="0"/>
                        <a:ea typeface="Calibri" charset="0"/>
                        <a:cs typeface="Calibri" charset="0"/>
                      </a:endParaRPr>
                    </a:p>
                  </a:txBody>
                  <a:tcPr anchor="ctr">
                    <a:lnL w="9525" cap="flat" cmpd="sng" algn="ctr">
                      <a:solidFill>
                        <a:srgbClr val="D2DEE3"/>
                      </a:solidFill>
                      <a:prstDash val="solid"/>
                      <a:round/>
                      <a:headEnd type="none" w="med" len="med"/>
                      <a:tailEnd type="none" w="med" len="med"/>
                    </a:lnL>
                    <a:lnR w="9525" cap="flat" cmpd="sng" algn="ctr">
                      <a:solidFill>
                        <a:srgbClr val="D2DEE3"/>
                      </a:solidFill>
                      <a:prstDash val="solid"/>
                      <a:round/>
                      <a:headEnd type="none" w="med" len="med"/>
                      <a:tailEnd type="none" w="med" len="med"/>
                    </a:lnR>
                    <a:lnT w="9525" cap="flat" cmpd="sng" algn="ctr">
                      <a:solidFill>
                        <a:srgbClr val="D2DEE3"/>
                      </a:solidFill>
                      <a:prstDash val="solid"/>
                      <a:round/>
                      <a:headEnd type="none" w="med" len="med"/>
                      <a:tailEnd type="none" w="med" len="med"/>
                    </a:lnT>
                    <a:lnB w="9525" cap="flat" cmpd="sng" algn="ctr">
                      <a:solidFill>
                        <a:srgbClr val="D2DE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6"/>
          <p:cNvSpPr/>
          <p:nvPr/>
        </p:nvSpPr>
        <p:spPr>
          <a:xfrm>
            <a:off x="5577840" y="4983480"/>
            <a:ext cx="5852160" cy="548640"/>
          </a:xfrm>
          <a:prstGeom prst="rect">
            <a:avLst/>
          </a:prstGeom>
          <a:noFill/>
          <a:ln/>
        </p:spPr>
        <p:txBody>
          <a:bodyPr wrap="square" lIns="0" tIns="0" rIns="0" bIns="0" rtlCol="0" anchor="ctr"/>
          <a:lstStyle/>
          <a:p>
            <a:pPr marL="0" indent="0">
              <a:buNone/>
            </a:pPr>
            <a:r>
              <a:rPr lang="en-US" sz="1050" i="1" dirty="0">
                <a:solidFill>
                  <a:srgbClr val="5C7984"/>
                </a:solidFill>
                <a:latin typeface="Calibri" pitchFamily="34" charset="0"/>
                <a:ea typeface="Calibri" pitchFamily="34" charset="-122"/>
                <a:cs typeface="Calibri" pitchFamily="34" charset="-120"/>
              </a:rPr>
              <a:t>▸  marks columns with repeating groups (multiple values).  The full table has 7 bookings and 18 attributes.</a:t>
            </a:r>
            <a:endParaRPr lang="en-US" sz="1050" dirty="0"/>
          </a:p>
        </p:txBody>
      </p:sp>
      <p:sp>
        <p:nvSpPr>
          <p:cNvPr id="20" name="Text 17"/>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21" name="Text 18"/>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CHAPTER 3  ·  ANALYSIS</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Anomalies &amp; Functional Dependencies</a:t>
            </a:r>
            <a:endParaRPr lang="en-US" sz="2800" dirty="0"/>
          </a:p>
        </p:txBody>
      </p:sp>
      <p:sp>
        <p:nvSpPr>
          <p:cNvPr id="5" name="Shape 3"/>
          <p:cNvSpPr/>
          <p:nvPr/>
        </p:nvSpPr>
        <p:spPr>
          <a:xfrm>
            <a:off x="566928"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6" name="Shape 4"/>
          <p:cNvSpPr/>
          <p:nvPr/>
        </p:nvSpPr>
        <p:spPr>
          <a:xfrm>
            <a:off x="566928" y="1481328"/>
            <a:ext cx="3456432" cy="457200"/>
          </a:xfrm>
          <a:prstGeom prst="rect">
            <a:avLst/>
          </a:prstGeom>
          <a:solidFill>
            <a:srgbClr val="0C4A60"/>
          </a:solidFill>
          <a:ln/>
        </p:spPr>
        <p:txBody>
          <a:bodyPr/>
          <a:lstStyle/>
          <a:p>
            <a:endParaRPr/>
          </a:p>
        </p:txBody>
      </p:sp>
      <p:sp>
        <p:nvSpPr>
          <p:cNvPr id="7" name="Text 5"/>
          <p:cNvSpPr/>
          <p:nvPr/>
        </p:nvSpPr>
        <p:spPr>
          <a:xfrm>
            <a:off x="566928"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INSERTION ANOMALY</a:t>
            </a:r>
            <a:endParaRPr lang="en-US" sz="1300" dirty="0"/>
          </a:p>
        </p:txBody>
      </p:sp>
      <p:sp>
        <p:nvSpPr>
          <p:cNvPr id="8" name="Text 6"/>
          <p:cNvSpPr/>
          <p:nvPr/>
        </p:nvSpPr>
        <p:spPr>
          <a:xfrm>
            <a:off x="768096"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Cannot add a new room type or service until a guest books it.</a:t>
            </a:r>
            <a:endParaRPr lang="en-US" sz="1250" dirty="0"/>
          </a:p>
        </p:txBody>
      </p:sp>
      <p:sp>
        <p:nvSpPr>
          <p:cNvPr id="9" name="Shape 7"/>
          <p:cNvSpPr/>
          <p:nvPr/>
        </p:nvSpPr>
        <p:spPr>
          <a:xfrm>
            <a:off x="768096"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10" name="Text 8"/>
          <p:cNvSpPr/>
          <p:nvPr/>
        </p:nvSpPr>
        <p:spPr>
          <a:xfrm>
            <a:off x="877824"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Example:  </a:t>
            </a:r>
            <a:r>
              <a:rPr lang="en-US" sz="1050" i="1" dirty="0">
                <a:solidFill>
                  <a:srgbClr val="6B5618"/>
                </a:solidFill>
                <a:latin typeface="Calibri" pitchFamily="34" charset="0"/>
                <a:ea typeface="Calibri" pitchFamily="34" charset="-122"/>
                <a:cs typeface="Calibri" pitchFamily="34" charset="-120"/>
              </a:rPr>
              <a:t>RT “infinity pool” cannot be stored yet.</a:t>
            </a:r>
            <a:endParaRPr lang="en-US" sz="1050" dirty="0"/>
          </a:p>
        </p:txBody>
      </p:sp>
      <p:sp>
        <p:nvSpPr>
          <p:cNvPr id="11" name="Shape 9"/>
          <p:cNvSpPr/>
          <p:nvPr/>
        </p:nvSpPr>
        <p:spPr>
          <a:xfrm>
            <a:off x="4279392"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2" name="Shape 10"/>
          <p:cNvSpPr/>
          <p:nvPr/>
        </p:nvSpPr>
        <p:spPr>
          <a:xfrm>
            <a:off x="4279392" y="1481328"/>
            <a:ext cx="3456432" cy="457200"/>
          </a:xfrm>
          <a:prstGeom prst="rect">
            <a:avLst/>
          </a:prstGeom>
          <a:solidFill>
            <a:srgbClr val="0C4A60"/>
          </a:solidFill>
          <a:ln/>
        </p:spPr>
        <p:txBody>
          <a:bodyPr/>
          <a:lstStyle/>
          <a:p>
            <a:endParaRPr/>
          </a:p>
        </p:txBody>
      </p:sp>
      <p:sp>
        <p:nvSpPr>
          <p:cNvPr id="13" name="Text 11"/>
          <p:cNvSpPr/>
          <p:nvPr/>
        </p:nvSpPr>
        <p:spPr>
          <a:xfrm>
            <a:off x="4279392"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UPDATE ANOMALY</a:t>
            </a:r>
            <a:endParaRPr lang="en-US" sz="1300" dirty="0"/>
          </a:p>
        </p:txBody>
      </p:sp>
      <p:sp>
        <p:nvSpPr>
          <p:cNvPr id="14" name="Text 12"/>
          <p:cNvSpPr/>
          <p:nvPr/>
        </p:nvSpPr>
        <p:spPr>
          <a:xfrm>
            <a:off x="4480560"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Guest data is duplicated; editing one row leaves the rest inconsistent.</a:t>
            </a:r>
            <a:endParaRPr lang="en-US" sz="1250" dirty="0"/>
          </a:p>
        </p:txBody>
      </p:sp>
      <p:sp>
        <p:nvSpPr>
          <p:cNvPr id="15" name="Shape 13"/>
          <p:cNvSpPr/>
          <p:nvPr/>
        </p:nvSpPr>
        <p:spPr>
          <a:xfrm>
            <a:off x="4480560"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16" name="Text 14"/>
          <p:cNvSpPr/>
          <p:nvPr/>
        </p:nvSpPr>
        <p:spPr>
          <a:xfrm>
            <a:off x="4590288"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Example:  </a:t>
            </a:r>
            <a:r>
              <a:rPr lang="en-US" sz="1050" i="1" dirty="0">
                <a:solidFill>
                  <a:srgbClr val="6B5618"/>
                </a:solidFill>
                <a:latin typeface="Calibri" pitchFamily="34" charset="0"/>
                <a:ea typeface="Calibri" pitchFamily="34" charset="-122"/>
                <a:cs typeface="Calibri" pitchFamily="34" charset="-120"/>
              </a:rPr>
              <a:t>Andi Wijaya appears in B001 &amp; B003.</a:t>
            </a:r>
            <a:endParaRPr lang="en-US" sz="1050" dirty="0"/>
          </a:p>
        </p:txBody>
      </p:sp>
      <p:sp>
        <p:nvSpPr>
          <p:cNvPr id="17" name="Shape 15"/>
          <p:cNvSpPr/>
          <p:nvPr/>
        </p:nvSpPr>
        <p:spPr>
          <a:xfrm>
            <a:off x="7991856" y="1481328"/>
            <a:ext cx="3456432" cy="2395728"/>
          </a:xfrm>
          <a:prstGeom prst="roundRect">
            <a:avLst>
              <a:gd name="adj" fmla="val 305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7991856" y="1481328"/>
            <a:ext cx="3456432" cy="457200"/>
          </a:xfrm>
          <a:prstGeom prst="rect">
            <a:avLst/>
          </a:prstGeom>
          <a:solidFill>
            <a:srgbClr val="0C4A60"/>
          </a:solidFill>
          <a:ln/>
        </p:spPr>
        <p:txBody>
          <a:bodyPr/>
          <a:lstStyle/>
          <a:p>
            <a:endParaRPr/>
          </a:p>
        </p:txBody>
      </p:sp>
      <p:sp>
        <p:nvSpPr>
          <p:cNvPr id="19" name="Text 17"/>
          <p:cNvSpPr/>
          <p:nvPr/>
        </p:nvSpPr>
        <p:spPr>
          <a:xfrm>
            <a:off x="7991856" y="1481328"/>
            <a:ext cx="34564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DELETION ANOMALY</a:t>
            </a:r>
            <a:endParaRPr lang="en-US" sz="1300" dirty="0"/>
          </a:p>
        </p:txBody>
      </p:sp>
      <p:sp>
        <p:nvSpPr>
          <p:cNvPr id="20" name="Text 18"/>
          <p:cNvSpPr/>
          <p:nvPr/>
        </p:nvSpPr>
        <p:spPr>
          <a:xfrm>
            <a:off x="8193024" y="2066544"/>
            <a:ext cx="3054096" cy="960120"/>
          </a:xfrm>
          <a:prstGeom prst="rect">
            <a:avLst/>
          </a:prstGeom>
          <a:noFill/>
          <a:ln/>
        </p:spPr>
        <p:txBody>
          <a:bodyPr wrap="square" lIns="0" tIns="0" rIns="0" bIns="0" rtlCol="0" anchor="ctr"/>
          <a:lstStyle/>
          <a:p>
            <a:pPr marL="0" indent="0">
              <a:buNone/>
            </a:pPr>
            <a:r>
              <a:rPr lang="en-US" sz="1250" dirty="0">
                <a:solidFill>
                  <a:srgbClr val="1E2E36"/>
                </a:solidFill>
                <a:latin typeface="Calibri" pitchFamily="34" charset="0"/>
                <a:ea typeface="Calibri" pitchFamily="34" charset="-122"/>
                <a:cs typeface="Calibri" pitchFamily="34" charset="-120"/>
              </a:rPr>
              <a:t>Deleting a booking can erase the only record of other data.</a:t>
            </a:r>
            <a:endParaRPr lang="en-US" sz="1250" dirty="0"/>
          </a:p>
        </p:txBody>
      </p:sp>
      <p:sp>
        <p:nvSpPr>
          <p:cNvPr id="21" name="Shape 19"/>
          <p:cNvSpPr/>
          <p:nvPr/>
        </p:nvSpPr>
        <p:spPr>
          <a:xfrm>
            <a:off x="8193024" y="3054096"/>
            <a:ext cx="3054096" cy="676656"/>
          </a:xfrm>
          <a:prstGeom prst="roundRect">
            <a:avLst>
              <a:gd name="adj" fmla="val 6757"/>
            </a:avLst>
          </a:prstGeom>
          <a:solidFill>
            <a:srgbClr val="FBEFD5"/>
          </a:solidFill>
          <a:ln w="9525">
            <a:solidFill>
              <a:srgbClr val="E6D2A0"/>
            </a:solidFill>
            <a:prstDash val="solid"/>
          </a:ln>
        </p:spPr>
        <p:txBody>
          <a:bodyPr/>
          <a:lstStyle/>
          <a:p>
            <a:endParaRPr/>
          </a:p>
        </p:txBody>
      </p:sp>
      <p:sp>
        <p:nvSpPr>
          <p:cNvPr id="22" name="Text 20"/>
          <p:cNvSpPr/>
          <p:nvPr/>
        </p:nvSpPr>
        <p:spPr>
          <a:xfrm>
            <a:off x="8302752" y="3108960"/>
            <a:ext cx="2852928" cy="566928"/>
          </a:xfrm>
          <a:prstGeom prst="rect">
            <a:avLst/>
          </a:prstGeom>
          <a:noFill/>
          <a:ln/>
        </p:spPr>
        <p:txBody>
          <a:bodyPr wrap="square" lIns="0" tIns="0" rIns="0" bIns="0" rtlCol="0" anchor="ctr"/>
          <a:lstStyle/>
          <a:p>
            <a:pPr marL="0" indent="0">
              <a:buNone/>
            </a:pPr>
            <a:r>
              <a:rPr lang="en-US" sz="1050" b="1" i="1" dirty="0">
                <a:solidFill>
                  <a:srgbClr val="B8860B"/>
                </a:solidFill>
                <a:latin typeface="Calibri" pitchFamily="34" charset="0"/>
                <a:ea typeface="Calibri" pitchFamily="34" charset="-122"/>
                <a:cs typeface="Calibri" pitchFamily="34" charset="-120"/>
              </a:rPr>
              <a:t>Example:  </a:t>
            </a:r>
            <a:r>
              <a:rPr lang="en-US" sz="1050" i="1" dirty="0">
                <a:solidFill>
                  <a:srgbClr val="6B5618"/>
                </a:solidFill>
                <a:latin typeface="Calibri" pitchFamily="34" charset="0"/>
                <a:ea typeface="Calibri" pitchFamily="34" charset="-122"/>
                <a:cs typeface="Calibri" pitchFamily="34" charset="-120"/>
              </a:rPr>
              <a:t>Delete B004 → lose the “Laundry” service.</a:t>
            </a:r>
            <a:endParaRPr lang="en-US" sz="1050" dirty="0"/>
          </a:p>
        </p:txBody>
      </p:sp>
      <p:sp>
        <p:nvSpPr>
          <p:cNvPr id="23" name="Shape 21"/>
          <p:cNvSpPr/>
          <p:nvPr/>
        </p:nvSpPr>
        <p:spPr>
          <a:xfrm>
            <a:off x="566928" y="4114800"/>
            <a:ext cx="11064240" cy="1874520"/>
          </a:xfrm>
          <a:prstGeom prst="roundRect">
            <a:avLst>
              <a:gd name="adj" fmla="val 3902"/>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4" name="Text 22"/>
          <p:cNvSpPr/>
          <p:nvPr/>
        </p:nvSpPr>
        <p:spPr>
          <a:xfrm>
            <a:off x="822960" y="4261104"/>
            <a:ext cx="10515600" cy="292608"/>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KEY FUNCTIONAL DEPENDENCIES   ( A → B  means A determines B )</a:t>
            </a:r>
            <a:endParaRPr lang="en-US" sz="1250" dirty="0"/>
          </a:p>
        </p:txBody>
      </p:sp>
      <p:sp>
        <p:nvSpPr>
          <p:cNvPr id="25" name="Shape 23"/>
          <p:cNvSpPr/>
          <p:nvPr/>
        </p:nvSpPr>
        <p:spPr>
          <a:xfrm>
            <a:off x="868680" y="4626864"/>
            <a:ext cx="109728" cy="109728"/>
          </a:xfrm>
          <a:prstGeom prst="ellipse">
            <a:avLst/>
          </a:prstGeom>
          <a:solidFill>
            <a:srgbClr val="B8860B"/>
          </a:solidFill>
          <a:ln/>
        </p:spPr>
        <p:txBody>
          <a:bodyPr/>
          <a:lstStyle/>
          <a:p>
            <a:endParaRPr/>
          </a:p>
        </p:txBody>
      </p:sp>
      <p:sp>
        <p:nvSpPr>
          <p:cNvPr id="26" name="Text 24"/>
          <p:cNvSpPr/>
          <p:nvPr/>
        </p:nvSpPr>
        <p:spPr>
          <a:xfrm>
            <a:off x="1078992" y="4526280"/>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BookingID → BookingDate, GuestID, HotelID, CheckIn, CheckOut</a:t>
            </a:r>
            <a:endParaRPr lang="en-US" sz="1150" dirty="0"/>
          </a:p>
        </p:txBody>
      </p:sp>
      <p:sp>
        <p:nvSpPr>
          <p:cNvPr id="27" name="Shape 25"/>
          <p:cNvSpPr/>
          <p:nvPr/>
        </p:nvSpPr>
        <p:spPr>
          <a:xfrm>
            <a:off x="6355080" y="4626864"/>
            <a:ext cx="109728" cy="109728"/>
          </a:xfrm>
          <a:prstGeom prst="ellipse">
            <a:avLst/>
          </a:prstGeom>
          <a:solidFill>
            <a:srgbClr val="B8860B"/>
          </a:solidFill>
          <a:ln/>
        </p:spPr>
        <p:txBody>
          <a:bodyPr/>
          <a:lstStyle/>
          <a:p>
            <a:endParaRPr/>
          </a:p>
        </p:txBody>
      </p:sp>
      <p:sp>
        <p:nvSpPr>
          <p:cNvPr id="28" name="Text 26"/>
          <p:cNvSpPr/>
          <p:nvPr/>
        </p:nvSpPr>
        <p:spPr>
          <a:xfrm>
            <a:off x="6565392" y="4526280"/>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GuestID → GuestName, GuestPhone, GuestEmail</a:t>
            </a:r>
            <a:endParaRPr lang="en-US" sz="1150" dirty="0"/>
          </a:p>
        </p:txBody>
      </p:sp>
      <p:sp>
        <p:nvSpPr>
          <p:cNvPr id="29" name="Shape 27"/>
          <p:cNvSpPr/>
          <p:nvPr/>
        </p:nvSpPr>
        <p:spPr>
          <a:xfrm>
            <a:off x="868680" y="5047488"/>
            <a:ext cx="109728" cy="109728"/>
          </a:xfrm>
          <a:prstGeom prst="ellipse">
            <a:avLst/>
          </a:prstGeom>
          <a:solidFill>
            <a:srgbClr val="B8860B"/>
          </a:solidFill>
          <a:ln/>
        </p:spPr>
        <p:txBody>
          <a:bodyPr/>
          <a:lstStyle/>
          <a:p>
            <a:endParaRPr/>
          </a:p>
        </p:txBody>
      </p:sp>
      <p:sp>
        <p:nvSpPr>
          <p:cNvPr id="30" name="Text 28"/>
          <p:cNvSpPr/>
          <p:nvPr/>
        </p:nvSpPr>
        <p:spPr>
          <a:xfrm>
            <a:off x="1078992" y="4946904"/>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HotelID → HotelName, HotelCity</a:t>
            </a:r>
            <a:endParaRPr lang="en-US" sz="1150" dirty="0"/>
          </a:p>
        </p:txBody>
      </p:sp>
      <p:sp>
        <p:nvSpPr>
          <p:cNvPr id="31" name="Shape 29"/>
          <p:cNvSpPr/>
          <p:nvPr/>
        </p:nvSpPr>
        <p:spPr>
          <a:xfrm>
            <a:off x="6355080" y="5047488"/>
            <a:ext cx="109728" cy="109728"/>
          </a:xfrm>
          <a:prstGeom prst="ellipse">
            <a:avLst/>
          </a:prstGeom>
          <a:solidFill>
            <a:srgbClr val="B8860B"/>
          </a:solidFill>
          <a:ln/>
        </p:spPr>
        <p:txBody>
          <a:bodyPr/>
          <a:lstStyle/>
          <a:p>
            <a:endParaRPr/>
          </a:p>
        </p:txBody>
      </p:sp>
      <p:sp>
        <p:nvSpPr>
          <p:cNvPr id="32" name="Text 30"/>
          <p:cNvSpPr/>
          <p:nvPr/>
        </p:nvSpPr>
        <p:spPr>
          <a:xfrm>
            <a:off x="6565392" y="4946904"/>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RoomNo → HotelID, RoomTypeID</a:t>
            </a:r>
            <a:endParaRPr lang="en-US" sz="1150" dirty="0"/>
          </a:p>
        </p:txBody>
      </p:sp>
      <p:sp>
        <p:nvSpPr>
          <p:cNvPr id="33" name="Shape 31"/>
          <p:cNvSpPr/>
          <p:nvPr/>
        </p:nvSpPr>
        <p:spPr>
          <a:xfrm>
            <a:off x="868680" y="5468112"/>
            <a:ext cx="109728" cy="109728"/>
          </a:xfrm>
          <a:prstGeom prst="ellipse">
            <a:avLst/>
          </a:prstGeom>
          <a:solidFill>
            <a:srgbClr val="B8860B"/>
          </a:solidFill>
          <a:ln/>
        </p:spPr>
        <p:txBody>
          <a:bodyPr/>
          <a:lstStyle/>
          <a:p>
            <a:endParaRPr/>
          </a:p>
        </p:txBody>
      </p:sp>
      <p:sp>
        <p:nvSpPr>
          <p:cNvPr id="34" name="Text 32"/>
          <p:cNvSpPr/>
          <p:nvPr/>
        </p:nvSpPr>
        <p:spPr>
          <a:xfrm>
            <a:off x="1078992" y="5367528"/>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RoomTypeID → RoomTypeName, PricePerNight</a:t>
            </a:r>
            <a:endParaRPr lang="en-US" sz="1150" dirty="0"/>
          </a:p>
        </p:txBody>
      </p:sp>
      <p:sp>
        <p:nvSpPr>
          <p:cNvPr id="35" name="Shape 33"/>
          <p:cNvSpPr/>
          <p:nvPr/>
        </p:nvSpPr>
        <p:spPr>
          <a:xfrm>
            <a:off x="6355080" y="5468112"/>
            <a:ext cx="109728" cy="109728"/>
          </a:xfrm>
          <a:prstGeom prst="ellipse">
            <a:avLst/>
          </a:prstGeom>
          <a:solidFill>
            <a:srgbClr val="B8860B"/>
          </a:solidFill>
          <a:ln/>
        </p:spPr>
        <p:txBody>
          <a:bodyPr/>
          <a:lstStyle/>
          <a:p>
            <a:endParaRPr/>
          </a:p>
        </p:txBody>
      </p:sp>
      <p:sp>
        <p:nvSpPr>
          <p:cNvPr id="36" name="Text 34"/>
          <p:cNvSpPr/>
          <p:nvPr/>
        </p:nvSpPr>
        <p:spPr>
          <a:xfrm>
            <a:off x="6565392" y="5367528"/>
            <a:ext cx="5212080" cy="310896"/>
          </a:xfrm>
          <a:prstGeom prst="rect">
            <a:avLst/>
          </a:prstGeom>
          <a:noFill/>
          <a:ln/>
        </p:spPr>
        <p:txBody>
          <a:bodyPr wrap="square" lIns="0" tIns="0" rIns="0" bIns="0" rtlCol="0" anchor="ctr"/>
          <a:lstStyle/>
          <a:p>
            <a:pPr marL="0" indent="0">
              <a:buNone/>
            </a:pPr>
            <a:r>
              <a:rPr lang="en-US" sz="1150" dirty="0">
                <a:solidFill>
                  <a:srgbClr val="1E2E36"/>
                </a:solidFill>
                <a:latin typeface="Calibri" pitchFamily="34" charset="0"/>
                <a:ea typeface="Calibri" pitchFamily="34" charset="-122"/>
                <a:cs typeface="Calibri" pitchFamily="34" charset="-120"/>
              </a:rPr>
              <a:t>ServiceID → ServiceName, ServicePrice</a:t>
            </a:r>
            <a:endParaRPr lang="en-US" sz="1150" dirty="0"/>
          </a:p>
        </p:txBody>
      </p:sp>
      <p:sp>
        <p:nvSpPr>
          <p:cNvPr id="37" name="Text 35"/>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38" name="Text 36"/>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CHAPTER 4  ·  METHOD</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The Solution: Normalization</a:t>
            </a:r>
            <a:endParaRPr lang="en-US" sz="2800" dirty="0"/>
          </a:p>
        </p:txBody>
      </p:sp>
      <p:sp>
        <p:nvSpPr>
          <p:cNvPr id="5" name="Text 3"/>
          <p:cNvSpPr/>
          <p:nvPr/>
        </p:nvSpPr>
        <p:spPr>
          <a:xfrm>
            <a:off x="868680" y="1371600"/>
            <a:ext cx="10607040" cy="502920"/>
          </a:xfrm>
          <a:prstGeom prst="rect">
            <a:avLst/>
          </a:prstGeom>
          <a:noFill/>
          <a:ln/>
        </p:spPr>
        <p:txBody>
          <a:bodyPr wrap="square" lIns="0" tIns="0" rIns="0" bIns="0" rtlCol="0" anchor="ctr"/>
          <a:lstStyle/>
          <a:p>
            <a:pPr marL="0" indent="0">
              <a:buNone/>
            </a:pPr>
            <a:r>
              <a:rPr lang="en-US" sz="1400" dirty="0">
                <a:solidFill>
                  <a:srgbClr val="5C7984"/>
                </a:solidFill>
                <a:latin typeface="Calibri" pitchFamily="34" charset="0"/>
                <a:ea typeface="Calibri" pitchFamily="34" charset="-122"/>
                <a:cs typeface="Calibri" pitchFamily="34" charset="-120"/>
              </a:rPr>
              <a:t>Normalization splits the one big table into smaller, well-structured tables — step by step — until every table is in Third Normal Form (3NF).</a:t>
            </a:r>
            <a:endParaRPr lang="en-US" sz="1400" dirty="0"/>
          </a:p>
        </p:txBody>
      </p:sp>
      <p:sp>
        <p:nvSpPr>
          <p:cNvPr id="6" name="Shape 4"/>
          <p:cNvSpPr/>
          <p:nvPr/>
        </p:nvSpPr>
        <p:spPr>
          <a:xfrm>
            <a:off x="566928"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7" name="Shape 5"/>
          <p:cNvSpPr/>
          <p:nvPr/>
        </p:nvSpPr>
        <p:spPr>
          <a:xfrm>
            <a:off x="566928" y="2148840"/>
            <a:ext cx="2615184" cy="822960"/>
          </a:xfrm>
          <a:prstGeom prst="rect">
            <a:avLst/>
          </a:prstGeom>
          <a:solidFill>
            <a:srgbClr val="8E9BA3"/>
          </a:solidFill>
          <a:ln/>
        </p:spPr>
        <p:txBody>
          <a:bodyPr/>
          <a:lstStyle/>
          <a:p>
            <a:endParaRPr/>
          </a:p>
        </p:txBody>
      </p:sp>
      <p:sp>
        <p:nvSpPr>
          <p:cNvPr id="8" name="Text 6"/>
          <p:cNvSpPr/>
          <p:nvPr/>
        </p:nvSpPr>
        <p:spPr>
          <a:xfrm>
            <a:off x="566928"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UNF</a:t>
            </a:r>
            <a:endParaRPr lang="en-US" sz="2600" dirty="0"/>
          </a:p>
        </p:txBody>
      </p:sp>
      <p:sp>
        <p:nvSpPr>
          <p:cNvPr id="9" name="Text 7"/>
          <p:cNvSpPr/>
          <p:nvPr/>
        </p:nvSpPr>
        <p:spPr>
          <a:xfrm>
            <a:off x="566928"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Un-Normalized</a:t>
            </a:r>
            <a:endParaRPr lang="en-US" sz="1050" dirty="0"/>
          </a:p>
        </p:txBody>
      </p:sp>
      <p:sp>
        <p:nvSpPr>
          <p:cNvPr id="10" name="Text 8"/>
          <p:cNvSpPr/>
          <p:nvPr/>
        </p:nvSpPr>
        <p:spPr>
          <a:xfrm>
            <a:off x="749808"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Starting point: one table with repeating groups.</a:t>
            </a:r>
            <a:endParaRPr lang="en-US" sz="1250" dirty="0"/>
          </a:p>
        </p:txBody>
      </p:sp>
      <p:sp>
        <p:nvSpPr>
          <p:cNvPr id="11" name="Shape 9"/>
          <p:cNvSpPr/>
          <p:nvPr/>
        </p:nvSpPr>
        <p:spPr>
          <a:xfrm>
            <a:off x="1069848"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12" name="Text 10"/>
          <p:cNvSpPr/>
          <p:nvPr/>
        </p:nvSpPr>
        <p:spPr>
          <a:xfrm>
            <a:off x="1069848"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1 table</a:t>
            </a:r>
            <a:endParaRPr lang="en-US" sz="1300" dirty="0"/>
          </a:p>
        </p:txBody>
      </p:sp>
      <p:sp>
        <p:nvSpPr>
          <p:cNvPr id="13" name="Shape 11"/>
          <p:cNvSpPr/>
          <p:nvPr/>
        </p:nvSpPr>
        <p:spPr>
          <a:xfrm>
            <a:off x="3136392" y="3474720"/>
            <a:ext cx="310896" cy="310896"/>
          </a:xfrm>
          <a:prstGeom prst="ellipse">
            <a:avLst/>
          </a:prstGeom>
          <a:solidFill>
            <a:srgbClr val="B8860B"/>
          </a:solidFill>
          <a:ln/>
        </p:spPr>
        <p:txBody>
          <a:bodyPr/>
          <a:lstStyle/>
          <a:p>
            <a:endParaRPr/>
          </a:p>
        </p:txBody>
      </p:sp>
      <p:sp>
        <p:nvSpPr>
          <p:cNvPr id="14" name="Text 12"/>
          <p:cNvSpPr/>
          <p:nvPr/>
        </p:nvSpPr>
        <p:spPr>
          <a:xfrm>
            <a:off x="3136392"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3383280"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6" name="Shape 14"/>
          <p:cNvSpPr/>
          <p:nvPr/>
        </p:nvSpPr>
        <p:spPr>
          <a:xfrm>
            <a:off x="3383280" y="2148840"/>
            <a:ext cx="2615184" cy="822960"/>
          </a:xfrm>
          <a:prstGeom prst="rect">
            <a:avLst/>
          </a:prstGeom>
          <a:solidFill>
            <a:srgbClr val="1C7293"/>
          </a:solidFill>
          <a:ln/>
        </p:spPr>
        <p:txBody>
          <a:bodyPr/>
          <a:lstStyle/>
          <a:p>
            <a:endParaRPr/>
          </a:p>
        </p:txBody>
      </p:sp>
      <p:sp>
        <p:nvSpPr>
          <p:cNvPr id="17" name="Text 15"/>
          <p:cNvSpPr/>
          <p:nvPr/>
        </p:nvSpPr>
        <p:spPr>
          <a:xfrm>
            <a:off x="3383280"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1NF</a:t>
            </a:r>
            <a:endParaRPr lang="en-US" sz="2600" dirty="0"/>
          </a:p>
        </p:txBody>
      </p:sp>
      <p:sp>
        <p:nvSpPr>
          <p:cNvPr id="18" name="Text 16"/>
          <p:cNvSpPr/>
          <p:nvPr/>
        </p:nvSpPr>
        <p:spPr>
          <a:xfrm>
            <a:off x="3383280"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First Normal Form</a:t>
            </a:r>
            <a:endParaRPr lang="en-US" sz="1050" dirty="0"/>
          </a:p>
        </p:txBody>
      </p:sp>
      <p:sp>
        <p:nvSpPr>
          <p:cNvPr id="19" name="Text 17"/>
          <p:cNvSpPr/>
          <p:nvPr/>
        </p:nvSpPr>
        <p:spPr>
          <a:xfrm>
            <a:off x="3566160"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Remove repeating groups — every cell holds one value.</a:t>
            </a:r>
            <a:endParaRPr lang="en-US" sz="1250" dirty="0"/>
          </a:p>
        </p:txBody>
      </p:sp>
      <p:sp>
        <p:nvSpPr>
          <p:cNvPr id="20" name="Shape 18"/>
          <p:cNvSpPr/>
          <p:nvPr/>
        </p:nvSpPr>
        <p:spPr>
          <a:xfrm>
            <a:off x="3886200"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21" name="Text 19"/>
          <p:cNvSpPr/>
          <p:nvPr/>
        </p:nvSpPr>
        <p:spPr>
          <a:xfrm>
            <a:off x="3886200"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3 tables</a:t>
            </a:r>
            <a:endParaRPr lang="en-US" sz="1300" dirty="0"/>
          </a:p>
        </p:txBody>
      </p:sp>
      <p:sp>
        <p:nvSpPr>
          <p:cNvPr id="22" name="Shape 20"/>
          <p:cNvSpPr/>
          <p:nvPr/>
        </p:nvSpPr>
        <p:spPr>
          <a:xfrm>
            <a:off x="5952744" y="3474720"/>
            <a:ext cx="310896" cy="310896"/>
          </a:xfrm>
          <a:prstGeom prst="ellipse">
            <a:avLst/>
          </a:prstGeom>
          <a:solidFill>
            <a:srgbClr val="B8860B"/>
          </a:solidFill>
          <a:ln/>
        </p:spPr>
        <p:txBody>
          <a:bodyPr/>
          <a:lstStyle/>
          <a:p>
            <a:endParaRPr/>
          </a:p>
        </p:txBody>
      </p:sp>
      <p:sp>
        <p:nvSpPr>
          <p:cNvPr id="23" name="Text 21"/>
          <p:cNvSpPr/>
          <p:nvPr/>
        </p:nvSpPr>
        <p:spPr>
          <a:xfrm>
            <a:off x="5952744"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6199632"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5" name="Shape 23"/>
          <p:cNvSpPr/>
          <p:nvPr/>
        </p:nvSpPr>
        <p:spPr>
          <a:xfrm>
            <a:off x="6199632" y="2148840"/>
            <a:ext cx="2615184" cy="822960"/>
          </a:xfrm>
          <a:prstGeom prst="rect">
            <a:avLst/>
          </a:prstGeom>
          <a:solidFill>
            <a:srgbClr val="1C7293"/>
          </a:solidFill>
          <a:ln/>
        </p:spPr>
        <p:txBody>
          <a:bodyPr/>
          <a:lstStyle/>
          <a:p>
            <a:endParaRPr/>
          </a:p>
        </p:txBody>
      </p:sp>
      <p:sp>
        <p:nvSpPr>
          <p:cNvPr id="26" name="Text 24"/>
          <p:cNvSpPr/>
          <p:nvPr/>
        </p:nvSpPr>
        <p:spPr>
          <a:xfrm>
            <a:off x="6199632"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2NF</a:t>
            </a:r>
            <a:endParaRPr lang="en-US" sz="2600" dirty="0"/>
          </a:p>
        </p:txBody>
      </p:sp>
      <p:sp>
        <p:nvSpPr>
          <p:cNvPr id="27" name="Text 25"/>
          <p:cNvSpPr/>
          <p:nvPr/>
        </p:nvSpPr>
        <p:spPr>
          <a:xfrm>
            <a:off x="6199632"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Second Normal Form</a:t>
            </a:r>
            <a:endParaRPr lang="en-US" sz="1050" dirty="0"/>
          </a:p>
        </p:txBody>
      </p:sp>
      <p:sp>
        <p:nvSpPr>
          <p:cNvPr id="28" name="Text 26"/>
          <p:cNvSpPr/>
          <p:nvPr/>
        </p:nvSpPr>
        <p:spPr>
          <a:xfrm>
            <a:off x="6382512"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Remove partial dependencies on a composite key.</a:t>
            </a:r>
            <a:endParaRPr lang="en-US" sz="1250" dirty="0"/>
          </a:p>
        </p:txBody>
      </p:sp>
      <p:sp>
        <p:nvSpPr>
          <p:cNvPr id="29" name="Shape 27"/>
          <p:cNvSpPr/>
          <p:nvPr/>
        </p:nvSpPr>
        <p:spPr>
          <a:xfrm>
            <a:off x="6702552"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30" name="Text 28"/>
          <p:cNvSpPr/>
          <p:nvPr/>
        </p:nvSpPr>
        <p:spPr>
          <a:xfrm>
            <a:off x="6702552"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5 tables</a:t>
            </a:r>
            <a:endParaRPr lang="en-US" sz="1300" dirty="0"/>
          </a:p>
        </p:txBody>
      </p:sp>
      <p:sp>
        <p:nvSpPr>
          <p:cNvPr id="31" name="Shape 29"/>
          <p:cNvSpPr/>
          <p:nvPr/>
        </p:nvSpPr>
        <p:spPr>
          <a:xfrm>
            <a:off x="8769096" y="3474720"/>
            <a:ext cx="310896" cy="310896"/>
          </a:xfrm>
          <a:prstGeom prst="ellipse">
            <a:avLst/>
          </a:prstGeom>
          <a:solidFill>
            <a:srgbClr val="B8860B"/>
          </a:solidFill>
          <a:ln/>
        </p:spPr>
        <p:txBody>
          <a:bodyPr/>
          <a:lstStyle/>
          <a:p>
            <a:endParaRPr/>
          </a:p>
        </p:txBody>
      </p:sp>
      <p:sp>
        <p:nvSpPr>
          <p:cNvPr id="32" name="Text 30"/>
          <p:cNvSpPr/>
          <p:nvPr/>
        </p:nvSpPr>
        <p:spPr>
          <a:xfrm>
            <a:off x="8769096" y="3447288"/>
            <a:ext cx="310896" cy="31089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3" name="Shape 31"/>
          <p:cNvSpPr/>
          <p:nvPr/>
        </p:nvSpPr>
        <p:spPr>
          <a:xfrm>
            <a:off x="9015984" y="2148840"/>
            <a:ext cx="2615184" cy="3246120"/>
          </a:xfrm>
          <a:prstGeom prst="roundRect">
            <a:avLst>
              <a:gd name="adj" fmla="val 2797"/>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4" name="Shape 32"/>
          <p:cNvSpPr/>
          <p:nvPr/>
        </p:nvSpPr>
        <p:spPr>
          <a:xfrm>
            <a:off x="9015984" y="2148840"/>
            <a:ext cx="2615184" cy="822960"/>
          </a:xfrm>
          <a:prstGeom prst="rect">
            <a:avLst/>
          </a:prstGeom>
          <a:solidFill>
            <a:srgbClr val="0C4A60"/>
          </a:solidFill>
          <a:ln/>
        </p:spPr>
        <p:txBody>
          <a:bodyPr/>
          <a:lstStyle/>
          <a:p>
            <a:endParaRPr/>
          </a:p>
        </p:txBody>
      </p:sp>
      <p:sp>
        <p:nvSpPr>
          <p:cNvPr id="35" name="Text 33"/>
          <p:cNvSpPr/>
          <p:nvPr/>
        </p:nvSpPr>
        <p:spPr>
          <a:xfrm>
            <a:off x="9015984" y="2203704"/>
            <a:ext cx="2615184"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3NF</a:t>
            </a:r>
            <a:endParaRPr lang="en-US" sz="2600" dirty="0"/>
          </a:p>
        </p:txBody>
      </p:sp>
      <p:sp>
        <p:nvSpPr>
          <p:cNvPr id="36" name="Text 34"/>
          <p:cNvSpPr/>
          <p:nvPr/>
        </p:nvSpPr>
        <p:spPr>
          <a:xfrm>
            <a:off x="9015984" y="2679192"/>
            <a:ext cx="2615184" cy="274320"/>
          </a:xfrm>
          <a:prstGeom prst="rect">
            <a:avLst/>
          </a:prstGeom>
          <a:noFill/>
          <a:ln/>
        </p:spPr>
        <p:txBody>
          <a:bodyPr wrap="square" lIns="0" tIns="0" rIns="0" bIns="0" rtlCol="0" anchor="ctr"/>
          <a:lstStyle/>
          <a:p>
            <a:pPr marL="0" indent="0" algn="ctr">
              <a:buNone/>
            </a:pPr>
            <a:r>
              <a:rPr lang="en-US" sz="1050" dirty="0">
                <a:solidFill>
                  <a:srgbClr val="EAF2F5"/>
                </a:solidFill>
                <a:latin typeface="Calibri" pitchFamily="34" charset="0"/>
                <a:ea typeface="Calibri" pitchFamily="34" charset="-122"/>
                <a:cs typeface="Calibri" pitchFamily="34" charset="-120"/>
              </a:rPr>
              <a:t>Third Normal Form</a:t>
            </a:r>
            <a:endParaRPr lang="en-US" sz="1050" dirty="0"/>
          </a:p>
        </p:txBody>
      </p:sp>
      <p:sp>
        <p:nvSpPr>
          <p:cNvPr id="37" name="Text 35"/>
          <p:cNvSpPr/>
          <p:nvPr/>
        </p:nvSpPr>
        <p:spPr>
          <a:xfrm>
            <a:off x="9198864" y="3154680"/>
            <a:ext cx="2249424" cy="1463040"/>
          </a:xfrm>
          <a:prstGeom prst="rect">
            <a:avLst/>
          </a:prstGeom>
          <a:noFill/>
          <a:ln/>
        </p:spPr>
        <p:txBody>
          <a:bodyPr wrap="square" lIns="0" tIns="0" rIns="0" bIns="0" rtlCol="0" anchor="ctr"/>
          <a:lstStyle/>
          <a:p>
            <a:pPr marL="0" indent="0" algn="ctr">
              <a:buNone/>
            </a:pPr>
            <a:r>
              <a:rPr lang="en-US" sz="1250" dirty="0">
                <a:solidFill>
                  <a:srgbClr val="1E2E36"/>
                </a:solidFill>
                <a:latin typeface="Calibri" pitchFamily="34" charset="0"/>
                <a:ea typeface="Calibri" pitchFamily="34" charset="-122"/>
                <a:cs typeface="Calibri" pitchFamily="34" charset="-120"/>
              </a:rPr>
              <a:t>Remove transitive dependencies between non-key fields.</a:t>
            </a:r>
            <a:endParaRPr lang="en-US" sz="1250" dirty="0"/>
          </a:p>
        </p:txBody>
      </p:sp>
      <p:sp>
        <p:nvSpPr>
          <p:cNvPr id="38" name="Shape 36"/>
          <p:cNvSpPr/>
          <p:nvPr/>
        </p:nvSpPr>
        <p:spPr>
          <a:xfrm>
            <a:off x="9518904" y="4754880"/>
            <a:ext cx="1609344" cy="457200"/>
          </a:xfrm>
          <a:prstGeom prst="roundRect">
            <a:avLst>
              <a:gd name="adj" fmla="val 50000"/>
            </a:avLst>
          </a:prstGeom>
          <a:solidFill>
            <a:srgbClr val="FBEFD5"/>
          </a:solidFill>
          <a:ln w="9525">
            <a:solidFill>
              <a:srgbClr val="E6D2A0"/>
            </a:solidFill>
            <a:prstDash val="solid"/>
          </a:ln>
        </p:spPr>
        <p:txBody>
          <a:bodyPr/>
          <a:lstStyle/>
          <a:p>
            <a:endParaRPr/>
          </a:p>
        </p:txBody>
      </p:sp>
      <p:sp>
        <p:nvSpPr>
          <p:cNvPr id="39" name="Text 37"/>
          <p:cNvSpPr/>
          <p:nvPr/>
        </p:nvSpPr>
        <p:spPr>
          <a:xfrm>
            <a:off x="9518904" y="4754880"/>
            <a:ext cx="1609344" cy="457200"/>
          </a:xfrm>
          <a:prstGeom prst="rect">
            <a:avLst/>
          </a:prstGeom>
          <a:noFill/>
          <a:ln/>
        </p:spPr>
        <p:txBody>
          <a:bodyPr wrap="square" lIns="0" tIns="0" rIns="0" bIns="0" rtlCol="0" anchor="ctr"/>
          <a:lstStyle/>
          <a:p>
            <a:pPr marL="0" indent="0" algn="ctr">
              <a:buNone/>
            </a:pPr>
            <a:r>
              <a:rPr lang="en-US" sz="1300" b="1" dirty="0">
                <a:solidFill>
                  <a:srgbClr val="B8860B"/>
                </a:solidFill>
                <a:latin typeface="Calibri" pitchFamily="34" charset="0"/>
                <a:ea typeface="Calibri" pitchFamily="34" charset="-122"/>
                <a:cs typeface="Calibri" pitchFamily="34" charset="-120"/>
              </a:rPr>
              <a:t>8 tables</a:t>
            </a:r>
            <a:endParaRPr lang="en-US" sz="1300" dirty="0"/>
          </a:p>
        </p:txBody>
      </p:sp>
      <p:sp>
        <p:nvSpPr>
          <p:cNvPr id="40" name="Text 38"/>
          <p:cNvSpPr/>
          <p:nvPr/>
        </p:nvSpPr>
        <p:spPr>
          <a:xfrm>
            <a:off x="566928" y="5623560"/>
            <a:ext cx="11064240" cy="365760"/>
          </a:xfrm>
          <a:prstGeom prst="rect">
            <a:avLst/>
          </a:prstGeom>
          <a:noFill/>
          <a:ln/>
        </p:spPr>
        <p:txBody>
          <a:bodyPr wrap="square" lIns="0" tIns="0" rIns="0" bIns="0" rtlCol="0" anchor="ctr"/>
          <a:lstStyle/>
          <a:p>
            <a:pPr marL="0" indent="0" algn="ctr">
              <a:buNone/>
            </a:pPr>
            <a:r>
              <a:rPr lang="en-US" sz="1250" i="1" dirty="0">
                <a:solidFill>
                  <a:srgbClr val="5C7984"/>
                </a:solidFill>
                <a:latin typeface="Calibri" pitchFamily="34" charset="0"/>
                <a:ea typeface="Calibri" pitchFamily="34" charset="-122"/>
                <a:cs typeface="Calibri" pitchFamily="34" charset="-120"/>
              </a:rPr>
              <a:t>Each step keeps the same data — it only re-organises it into a cleaner, safer structure.</a:t>
            </a:r>
            <a:endParaRPr lang="en-US" sz="1250" dirty="0"/>
          </a:p>
        </p:txBody>
      </p:sp>
      <p:sp>
        <p:nvSpPr>
          <p:cNvPr id="41" name="Text 39"/>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42" name="Text 40"/>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NORMALIZATION</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Step 1 — First Normal Form (1NF)</a:t>
            </a:r>
            <a:endParaRPr lang="en-US" sz="2800" dirty="0"/>
          </a:p>
        </p:txBody>
      </p:sp>
      <p:sp>
        <p:nvSpPr>
          <p:cNvPr id="5" name="Shape 3"/>
          <p:cNvSpPr/>
          <p:nvPr/>
        </p:nvSpPr>
        <p:spPr>
          <a:xfrm>
            <a:off x="10927080" y="457200"/>
            <a:ext cx="713232" cy="713232"/>
          </a:xfrm>
          <a:prstGeom prst="ellipse">
            <a:avLst/>
          </a:prstGeom>
          <a:solidFill>
            <a:srgbClr val="1C7293"/>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RULE:   </a:t>
            </a:r>
            <a:r>
              <a:rPr lang="en-US" sz="1400" dirty="0">
                <a:solidFill>
                  <a:srgbClr val="1E2E36"/>
                </a:solidFill>
                <a:latin typeface="Calibri" pitchFamily="34" charset="0"/>
                <a:ea typeface="Calibri" pitchFamily="34" charset="-122"/>
                <a:cs typeface="Calibri" pitchFamily="34" charset="-120"/>
              </a:rPr>
              <a:t>every cell must hold only ONE value — remove all repeating groups.</a:t>
            </a:r>
            <a:endParaRPr lang="en-US" sz="1400" dirty="0"/>
          </a:p>
        </p:txBody>
      </p:sp>
      <p:sp>
        <p:nvSpPr>
          <p:cNvPr id="9" name="Shape 7"/>
          <p:cNvSpPr/>
          <p:nvPr/>
        </p:nvSpPr>
        <p:spPr>
          <a:xfrm>
            <a:off x="566928" y="2286000"/>
            <a:ext cx="5349240" cy="2194560"/>
          </a:xfrm>
          <a:prstGeom prst="roundRect">
            <a:avLst>
              <a:gd name="adj" fmla="val 333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0" name="Text 8"/>
          <p:cNvSpPr/>
          <p:nvPr/>
        </p:nvSpPr>
        <p:spPr>
          <a:xfrm>
            <a:off x="777240" y="2395728"/>
            <a:ext cx="4937760" cy="274320"/>
          </a:xfrm>
          <a:prstGeom prst="rect">
            <a:avLst/>
          </a:prstGeom>
          <a:noFill/>
          <a:ln/>
        </p:spPr>
        <p:txBody>
          <a:bodyPr wrap="square" lIns="0" tIns="0" rIns="0" bIns="0" rtlCol="0" anchor="ctr"/>
          <a:lstStyle/>
          <a:p>
            <a:pPr marL="0" indent="0">
              <a:buNone/>
            </a:pPr>
            <a:r>
              <a:rPr lang="en-US" sz="1150" b="1" dirty="0">
                <a:solidFill>
                  <a:srgbClr val="B23A48"/>
                </a:solidFill>
                <a:latin typeface="Calibri" pitchFamily="34" charset="0"/>
                <a:ea typeface="Calibri" pitchFamily="34" charset="-122"/>
                <a:cs typeface="Calibri" pitchFamily="34" charset="-120"/>
              </a:rPr>
              <a:t>BEFORE  —  repeating group</a:t>
            </a:r>
            <a:endParaRPr lang="en-US" sz="1150" dirty="0"/>
          </a:p>
        </p:txBody>
      </p:sp>
      <p:sp>
        <p:nvSpPr>
          <p:cNvPr id="11" name="Shape 9"/>
          <p:cNvSpPr/>
          <p:nvPr/>
        </p:nvSpPr>
        <p:spPr>
          <a:xfrm>
            <a:off x="868680" y="2697480"/>
            <a:ext cx="2103120" cy="457200"/>
          </a:xfrm>
          <a:prstGeom prst="rect">
            <a:avLst/>
          </a:prstGeom>
          <a:solidFill>
            <a:srgbClr val="F7E9EA"/>
          </a:solidFill>
          <a:ln w="12700">
            <a:solidFill>
              <a:srgbClr val="B23A48"/>
            </a:solidFill>
            <a:prstDash val="solid"/>
          </a:ln>
        </p:spPr>
        <p:txBody>
          <a:bodyPr/>
          <a:lstStyle/>
          <a:p>
            <a:endParaRPr/>
          </a:p>
        </p:txBody>
      </p:sp>
      <p:sp>
        <p:nvSpPr>
          <p:cNvPr id="12" name="Text 10"/>
          <p:cNvSpPr/>
          <p:nvPr/>
        </p:nvSpPr>
        <p:spPr>
          <a:xfrm>
            <a:off x="868680" y="2697480"/>
            <a:ext cx="2103120" cy="457200"/>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13" name="Shape 11"/>
          <p:cNvSpPr/>
          <p:nvPr/>
        </p:nvSpPr>
        <p:spPr>
          <a:xfrm>
            <a:off x="2971800" y="2697480"/>
            <a:ext cx="2697480" cy="457200"/>
          </a:xfrm>
          <a:prstGeom prst="rect">
            <a:avLst/>
          </a:prstGeom>
          <a:solidFill>
            <a:srgbClr val="F7E9EA"/>
          </a:solidFill>
          <a:ln w="12700">
            <a:solidFill>
              <a:srgbClr val="B23A48"/>
            </a:solidFill>
            <a:prstDash val="solid"/>
          </a:ln>
        </p:spPr>
        <p:txBody>
          <a:bodyPr/>
          <a:lstStyle/>
          <a:p>
            <a:endParaRPr/>
          </a:p>
        </p:txBody>
      </p:sp>
      <p:sp>
        <p:nvSpPr>
          <p:cNvPr id="14" name="Text 12"/>
          <p:cNvSpPr/>
          <p:nvPr/>
        </p:nvSpPr>
        <p:spPr>
          <a:xfrm>
            <a:off x="2971800" y="2697480"/>
            <a:ext cx="2697480" cy="457200"/>
          </a:xfrm>
          <a:prstGeom prst="rect">
            <a:avLst/>
          </a:prstGeom>
          <a:noFill/>
          <a:ln/>
        </p:spPr>
        <p:txBody>
          <a:bodyPr wrap="square" lIns="0" tIns="0" rIns="0" bIns="0" rtlCol="0" anchor="ctr"/>
          <a:lstStyle/>
          <a:p>
            <a:pPr marL="0" indent="0" algn="ctr">
              <a:buNone/>
            </a:pPr>
            <a:r>
              <a:rPr lang="en-US" sz="1200" b="1" dirty="0">
                <a:solidFill>
                  <a:srgbClr val="B23A48"/>
                </a:solidFill>
                <a:latin typeface="Calibri" pitchFamily="34" charset="0"/>
                <a:ea typeface="Calibri" pitchFamily="34" charset="-122"/>
                <a:cs typeface="Calibri" pitchFamily="34" charset="-120"/>
              </a:rPr>
              <a:t>201 ; 202</a:t>
            </a:r>
            <a:endParaRPr lang="en-US" sz="1200" dirty="0"/>
          </a:p>
        </p:txBody>
      </p:sp>
      <p:sp>
        <p:nvSpPr>
          <p:cNvPr id="15" name="Text 13"/>
          <p:cNvSpPr/>
          <p:nvPr/>
        </p:nvSpPr>
        <p:spPr>
          <a:xfrm>
            <a:off x="868680" y="3291840"/>
            <a:ext cx="4800600" cy="868680"/>
          </a:xfrm>
          <a:prstGeom prst="rect">
            <a:avLst/>
          </a:prstGeom>
          <a:noFill/>
          <a:ln/>
        </p:spPr>
        <p:txBody>
          <a:bodyPr wrap="square" lIns="0" tIns="0" rIns="0" bIns="0" rtlCol="0" anchor="ctr"/>
          <a:lstStyle/>
          <a:p>
            <a:pPr marL="0" indent="0">
              <a:buNone/>
            </a:pPr>
            <a:r>
              <a:rPr lang="en-US" sz="1200" dirty="0">
                <a:solidFill>
                  <a:srgbClr val="5C7984"/>
                </a:solidFill>
                <a:latin typeface="Calibri" pitchFamily="34" charset="0"/>
                <a:ea typeface="Calibri" pitchFamily="34" charset="-122"/>
                <a:cs typeface="Calibri" pitchFamily="34" charset="-120"/>
              </a:rPr>
              <a:t>One booking row stores two rooms in a single cell — not allowed.</a:t>
            </a:r>
            <a:endParaRPr lang="en-US" sz="1200" dirty="0"/>
          </a:p>
        </p:txBody>
      </p:sp>
      <p:sp>
        <p:nvSpPr>
          <p:cNvPr id="16" name="Shape 14"/>
          <p:cNvSpPr/>
          <p:nvPr/>
        </p:nvSpPr>
        <p:spPr>
          <a:xfrm>
            <a:off x="6281928" y="2286000"/>
            <a:ext cx="5349240" cy="2194560"/>
          </a:xfrm>
          <a:prstGeom prst="roundRect">
            <a:avLst>
              <a:gd name="adj" fmla="val 3333"/>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7" name="Text 15"/>
          <p:cNvSpPr/>
          <p:nvPr/>
        </p:nvSpPr>
        <p:spPr>
          <a:xfrm>
            <a:off x="6492240" y="2395728"/>
            <a:ext cx="4937760" cy="274320"/>
          </a:xfrm>
          <a:prstGeom prst="rect">
            <a:avLst/>
          </a:prstGeom>
          <a:noFill/>
          <a:ln/>
        </p:spPr>
        <p:txBody>
          <a:bodyPr wrap="square" lIns="0" tIns="0" rIns="0" bIns="0" rtlCol="0" anchor="ctr"/>
          <a:lstStyle/>
          <a:p>
            <a:pPr marL="0" indent="0">
              <a:buNone/>
            </a:pPr>
            <a:r>
              <a:rPr lang="en-US" sz="1150" b="1" dirty="0">
                <a:solidFill>
                  <a:srgbClr val="2E7D54"/>
                </a:solidFill>
                <a:latin typeface="Calibri" pitchFamily="34" charset="0"/>
                <a:ea typeface="Calibri" pitchFamily="34" charset="-122"/>
                <a:cs typeface="Calibri" pitchFamily="34" charset="-120"/>
              </a:rPr>
              <a:t>AFTER  —  atomic values</a:t>
            </a:r>
            <a:endParaRPr lang="en-US" sz="1150" dirty="0"/>
          </a:p>
        </p:txBody>
      </p:sp>
      <p:sp>
        <p:nvSpPr>
          <p:cNvPr id="18" name="Shape 16"/>
          <p:cNvSpPr/>
          <p:nvPr/>
        </p:nvSpPr>
        <p:spPr>
          <a:xfrm>
            <a:off x="6583680" y="2697480"/>
            <a:ext cx="2103120" cy="420624"/>
          </a:xfrm>
          <a:prstGeom prst="rect">
            <a:avLst/>
          </a:prstGeom>
          <a:solidFill>
            <a:srgbClr val="E8F3EC"/>
          </a:solidFill>
          <a:ln w="12700">
            <a:solidFill>
              <a:srgbClr val="2E7D54"/>
            </a:solidFill>
            <a:prstDash val="solid"/>
          </a:ln>
        </p:spPr>
        <p:txBody>
          <a:bodyPr/>
          <a:lstStyle/>
          <a:p>
            <a:endParaRPr/>
          </a:p>
        </p:txBody>
      </p:sp>
      <p:sp>
        <p:nvSpPr>
          <p:cNvPr id="19" name="Text 17"/>
          <p:cNvSpPr/>
          <p:nvPr/>
        </p:nvSpPr>
        <p:spPr>
          <a:xfrm>
            <a:off x="6583680" y="2697480"/>
            <a:ext cx="2103120" cy="420624"/>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20" name="Shape 18"/>
          <p:cNvSpPr/>
          <p:nvPr/>
        </p:nvSpPr>
        <p:spPr>
          <a:xfrm>
            <a:off x="8686800" y="2697480"/>
            <a:ext cx="2697480" cy="420624"/>
          </a:xfrm>
          <a:prstGeom prst="rect">
            <a:avLst/>
          </a:prstGeom>
          <a:solidFill>
            <a:srgbClr val="E8F3EC"/>
          </a:solidFill>
          <a:ln w="12700">
            <a:solidFill>
              <a:srgbClr val="2E7D54"/>
            </a:solidFill>
            <a:prstDash val="solid"/>
          </a:ln>
        </p:spPr>
        <p:txBody>
          <a:bodyPr/>
          <a:lstStyle/>
          <a:p>
            <a:endParaRPr/>
          </a:p>
        </p:txBody>
      </p:sp>
      <p:sp>
        <p:nvSpPr>
          <p:cNvPr id="21" name="Text 19"/>
          <p:cNvSpPr/>
          <p:nvPr/>
        </p:nvSpPr>
        <p:spPr>
          <a:xfrm>
            <a:off x="8686800" y="2697480"/>
            <a:ext cx="2697480" cy="420624"/>
          </a:xfrm>
          <a:prstGeom prst="rect">
            <a:avLst/>
          </a:prstGeom>
          <a:noFill/>
          <a:ln/>
        </p:spPr>
        <p:txBody>
          <a:bodyPr wrap="square" lIns="0" tIns="0" rIns="0" bIns="0" rtlCol="0" anchor="ctr"/>
          <a:lstStyle/>
          <a:p>
            <a:pPr marL="0" indent="0" algn="r">
              <a:buNone/>
              <a:defRPr sz="900">
                <a:solidFill>
                  <a:srgbClr val="66747D"/>
                </a:solidFill>
                <a:latin typeface="Aptos"/>
              </a:defRPr>
            </a:pPr>
            <a:r>
              <a:t>7</a:t>
            </a:r>
            <a:endParaRPr lang="en-US" sz="1200" dirty="0"/>
          </a:p>
        </p:txBody>
      </p:sp>
      <p:sp>
        <p:nvSpPr>
          <p:cNvPr id="22" name="Shape 20"/>
          <p:cNvSpPr/>
          <p:nvPr/>
        </p:nvSpPr>
        <p:spPr>
          <a:xfrm>
            <a:off x="6583680" y="3209544"/>
            <a:ext cx="2103120" cy="420624"/>
          </a:xfrm>
          <a:prstGeom prst="rect">
            <a:avLst/>
          </a:prstGeom>
          <a:solidFill>
            <a:srgbClr val="E8F3EC"/>
          </a:solidFill>
          <a:ln w="12700">
            <a:solidFill>
              <a:srgbClr val="2E7D54"/>
            </a:solidFill>
            <a:prstDash val="solid"/>
          </a:ln>
        </p:spPr>
        <p:txBody>
          <a:bodyPr/>
          <a:lstStyle/>
          <a:p>
            <a:endParaRPr/>
          </a:p>
        </p:txBody>
      </p:sp>
      <p:sp>
        <p:nvSpPr>
          <p:cNvPr id="23" name="Text 21"/>
          <p:cNvSpPr/>
          <p:nvPr/>
        </p:nvSpPr>
        <p:spPr>
          <a:xfrm>
            <a:off x="6583680" y="3209544"/>
            <a:ext cx="2103120" cy="420624"/>
          </a:xfrm>
          <a:prstGeom prst="rect">
            <a:avLst/>
          </a:prstGeom>
          <a:noFill/>
          <a:ln/>
        </p:spPr>
        <p:txBody>
          <a:bodyPr wrap="square" lIns="0" tIns="0" rIns="0" bIns="0" rtlCol="0" anchor="ctr"/>
          <a:lstStyle/>
          <a:p>
            <a:pPr marL="0" indent="0" algn="ctr">
              <a:buNone/>
            </a:pPr>
            <a:r>
              <a:rPr lang="en-US" sz="1200" dirty="0">
                <a:solidFill>
                  <a:srgbClr val="1E2E36"/>
                </a:solidFill>
                <a:latin typeface="Calibri" pitchFamily="34" charset="0"/>
                <a:ea typeface="Calibri" pitchFamily="34" charset="-122"/>
                <a:cs typeface="Calibri" pitchFamily="34" charset="-120"/>
              </a:rPr>
              <a:t>B002</a:t>
            </a:r>
            <a:endParaRPr lang="en-US" sz="1200" dirty="0"/>
          </a:p>
        </p:txBody>
      </p:sp>
      <p:sp>
        <p:nvSpPr>
          <p:cNvPr id="24" name="Shape 22"/>
          <p:cNvSpPr/>
          <p:nvPr/>
        </p:nvSpPr>
        <p:spPr>
          <a:xfrm>
            <a:off x="8686800" y="3209544"/>
            <a:ext cx="2697480" cy="420624"/>
          </a:xfrm>
          <a:prstGeom prst="rect">
            <a:avLst/>
          </a:prstGeom>
          <a:solidFill>
            <a:srgbClr val="E8F3EC"/>
          </a:solidFill>
          <a:ln w="12700">
            <a:solidFill>
              <a:srgbClr val="2E7D54"/>
            </a:solidFill>
            <a:prstDash val="solid"/>
          </a:ln>
        </p:spPr>
        <p:txBody>
          <a:bodyPr/>
          <a:lstStyle/>
          <a:p>
            <a:endParaRPr/>
          </a:p>
        </p:txBody>
      </p:sp>
      <p:sp>
        <p:nvSpPr>
          <p:cNvPr id="25" name="Text 23"/>
          <p:cNvSpPr/>
          <p:nvPr/>
        </p:nvSpPr>
        <p:spPr>
          <a:xfrm>
            <a:off x="8686800" y="3209544"/>
            <a:ext cx="2697480" cy="420624"/>
          </a:xfrm>
          <a:prstGeom prst="rect">
            <a:avLst/>
          </a:prstGeom>
          <a:noFill/>
          <a:ln/>
        </p:spPr>
        <p:txBody>
          <a:bodyPr wrap="square" lIns="0" tIns="0" rIns="0" bIns="0" rtlCol="0" anchor="ctr"/>
          <a:lstStyle/>
          <a:p>
            <a:pPr marL="0" indent="0" algn="r">
              <a:buNone/>
              <a:defRPr sz="900">
                <a:solidFill>
                  <a:srgbClr val="66747D"/>
                </a:solidFill>
                <a:latin typeface="Aptos"/>
              </a:defRPr>
            </a:pPr>
            <a:r>
              <a:t>7</a:t>
            </a:r>
            <a:endParaRPr lang="en-US" sz="1200" dirty="0"/>
          </a:p>
        </p:txBody>
      </p:sp>
      <p:sp>
        <p:nvSpPr>
          <p:cNvPr id="26" name="Text 24"/>
          <p:cNvSpPr/>
          <p:nvPr/>
        </p:nvSpPr>
        <p:spPr>
          <a:xfrm>
            <a:off x="6583680" y="3822192"/>
            <a:ext cx="4800600" cy="548640"/>
          </a:xfrm>
          <a:prstGeom prst="rect">
            <a:avLst/>
          </a:prstGeom>
          <a:noFill/>
          <a:ln/>
        </p:spPr>
        <p:txBody>
          <a:bodyPr wrap="square" lIns="0" tIns="0" rIns="0" bIns="0" rtlCol="0" anchor="ctr"/>
          <a:lstStyle/>
          <a:p>
            <a:pPr marL="0" indent="0">
              <a:buNone/>
            </a:pPr>
            <a:r>
              <a:rPr lang="en-US" sz="1200" dirty="0">
                <a:solidFill>
                  <a:srgbClr val="5C7984"/>
                </a:solidFill>
                <a:latin typeface="Calibri" pitchFamily="34" charset="0"/>
                <a:ea typeface="Calibri" pitchFamily="34" charset="-122"/>
                <a:cs typeface="Calibri" pitchFamily="34" charset="-120"/>
              </a:rPr>
              <a:t>Each value gets its own row — now every cell is atomic.</a:t>
            </a:r>
            <a:endParaRPr lang="en-US" sz="1200" dirty="0"/>
          </a:p>
        </p:txBody>
      </p:sp>
      <p:sp>
        <p:nvSpPr>
          <p:cNvPr id="27" name="Text 25"/>
          <p:cNvSpPr/>
          <p:nvPr/>
        </p:nvSpPr>
        <p:spPr>
          <a:xfrm>
            <a:off x="640080" y="4663440"/>
            <a:ext cx="10058400" cy="320040"/>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RESULT  —  the table is split into 3 relations:</a:t>
            </a:r>
            <a:endParaRPr lang="en-US" sz="1300" dirty="0"/>
          </a:p>
        </p:txBody>
      </p:sp>
      <p:sp>
        <p:nvSpPr>
          <p:cNvPr id="28" name="Shape 26"/>
          <p:cNvSpPr/>
          <p:nvPr/>
        </p:nvSpPr>
        <p:spPr>
          <a:xfrm>
            <a:off x="566928"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9" name="Text 27"/>
          <p:cNvSpPr/>
          <p:nvPr/>
        </p:nvSpPr>
        <p:spPr>
          <a:xfrm>
            <a:off x="749808"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Booking_1NF</a:t>
            </a:r>
            <a:endParaRPr lang="en-US" sz="1250" dirty="0"/>
          </a:p>
        </p:txBody>
      </p:sp>
      <p:sp>
        <p:nvSpPr>
          <p:cNvPr id="30" name="Text 28"/>
          <p:cNvSpPr/>
          <p:nvPr/>
        </p:nvSpPr>
        <p:spPr>
          <a:xfrm>
            <a:off x="749808"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BookingDate, GuestID… CheckIn, CheckOut</a:t>
            </a:r>
            <a:endParaRPr lang="en-US" sz="980" dirty="0"/>
          </a:p>
        </p:txBody>
      </p:sp>
      <p:sp>
        <p:nvSpPr>
          <p:cNvPr id="31" name="Shape 29"/>
          <p:cNvSpPr/>
          <p:nvPr/>
        </p:nvSpPr>
        <p:spPr>
          <a:xfrm>
            <a:off x="4279392"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2" name="Text 30"/>
          <p:cNvSpPr/>
          <p:nvPr/>
        </p:nvSpPr>
        <p:spPr>
          <a:xfrm>
            <a:off x="4462272"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BookingRoom_1NF</a:t>
            </a:r>
            <a:endParaRPr lang="en-US" sz="1250" dirty="0"/>
          </a:p>
        </p:txBody>
      </p:sp>
      <p:sp>
        <p:nvSpPr>
          <p:cNvPr id="33" name="Text 31"/>
          <p:cNvSpPr/>
          <p:nvPr/>
        </p:nvSpPr>
        <p:spPr>
          <a:xfrm>
            <a:off x="4462272"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RoomNo, RoomTypeID, RoomTypeName, Price</a:t>
            </a:r>
            <a:endParaRPr lang="en-US" sz="980" dirty="0"/>
          </a:p>
        </p:txBody>
      </p:sp>
      <p:sp>
        <p:nvSpPr>
          <p:cNvPr id="34" name="Shape 32"/>
          <p:cNvSpPr/>
          <p:nvPr/>
        </p:nvSpPr>
        <p:spPr>
          <a:xfrm>
            <a:off x="7991856" y="5029200"/>
            <a:ext cx="3456432" cy="914400"/>
          </a:xfrm>
          <a:prstGeom prst="roundRect">
            <a:avLst>
              <a:gd name="adj" fmla="val 8000"/>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5" name="Text 33"/>
          <p:cNvSpPr/>
          <p:nvPr/>
        </p:nvSpPr>
        <p:spPr>
          <a:xfrm>
            <a:off x="8174736" y="5102352"/>
            <a:ext cx="3108960" cy="310896"/>
          </a:xfrm>
          <a:prstGeom prst="rect">
            <a:avLst/>
          </a:prstGeom>
          <a:noFill/>
          <a:ln/>
        </p:spPr>
        <p:txBody>
          <a:bodyPr wrap="square" lIns="0" tIns="0" rIns="0" bIns="0" rtlCol="0" anchor="ctr"/>
          <a:lstStyle/>
          <a:p>
            <a:pPr marL="0" indent="0">
              <a:buNone/>
            </a:pPr>
            <a:r>
              <a:rPr lang="en-US" sz="1250" b="1" dirty="0">
                <a:solidFill>
                  <a:srgbClr val="1C7293"/>
                </a:solidFill>
                <a:latin typeface="Calibri" pitchFamily="34" charset="0"/>
                <a:ea typeface="Calibri" pitchFamily="34" charset="-122"/>
                <a:cs typeface="Calibri" pitchFamily="34" charset="-120"/>
              </a:rPr>
              <a:t>BookingService_1NF</a:t>
            </a:r>
            <a:endParaRPr lang="en-US" sz="1250" dirty="0"/>
          </a:p>
        </p:txBody>
      </p:sp>
      <p:sp>
        <p:nvSpPr>
          <p:cNvPr id="36" name="Text 34"/>
          <p:cNvSpPr/>
          <p:nvPr/>
        </p:nvSpPr>
        <p:spPr>
          <a:xfrm>
            <a:off x="8174736" y="5394960"/>
            <a:ext cx="3127248" cy="502920"/>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ServiceID, ServiceName, ServicePrice</a:t>
            </a:r>
            <a:endParaRPr lang="en-US" sz="980" dirty="0"/>
          </a:p>
        </p:txBody>
      </p:sp>
      <p:sp>
        <p:nvSpPr>
          <p:cNvPr id="37" name="Text 35"/>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38" name="Text 36"/>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NORMALIZATION</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Step 2 — Second Normal Form (2NF)</a:t>
            </a:r>
            <a:endParaRPr lang="en-US" sz="2800" dirty="0"/>
          </a:p>
        </p:txBody>
      </p:sp>
      <p:sp>
        <p:nvSpPr>
          <p:cNvPr id="5" name="Shape 3"/>
          <p:cNvSpPr/>
          <p:nvPr/>
        </p:nvSpPr>
        <p:spPr>
          <a:xfrm>
            <a:off x="10927080" y="457200"/>
            <a:ext cx="713232" cy="713232"/>
          </a:xfrm>
          <a:prstGeom prst="ellipse">
            <a:avLst/>
          </a:prstGeom>
          <a:solidFill>
            <a:srgbClr val="1C7293"/>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RULE:   </a:t>
            </a:r>
            <a:r>
              <a:rPr lang="en-US" sz="1400" dirty="0">
                <a:solidFill>
                  <a:srgbClr val="1E2E36"/>
                </a:solidFill>
                <a:latin typeface="Calibri" pitchFamily="34" charset="0"/>
                <a:ea typeface="Calibri" pitchFamily="34" charset="-122"/>
                <a:cs typeface="Calibri" pitchFamily="34" charset="-120"/>
              </a:rPr>
              <a:t>already in 1NF, and every non-key attribute depends on the WHOLE primary key — not just part of it.</a:t>
            </a:r>
            <a:endParaRPr lang="en-US" sz="1400" dirty="0"/>
          </a:p>
        </p:txBody>
      </p:sp>
      <p:sp>
        <p:nvSpPr>
          <p:cNvPr id="9" name="Text 7"/>
          <p:cNvSpPr/>
          <p:nvPr/>
        </p:nvSpPr>
        <p:spPr>
          <a:xfrm>
            <a:off x="640080" y="2240280"/>
            <a:ext cx="10058400" cy="292608"/>
          </a:xfrm>
          <a:prstGeom prst="rect">
            <a:avLst/>
          </a:prstGeom>
          <a:noFill/>
          <a:ln/>
        </p:spPr>
        <p:txBody>
          <a:bodyPr wrap="square" lIns="0" tIns="0" rIns="0" bIns="0" rtlCol="0" anchor="ctr"/>
          <a:lstStyle/>
          <a:p>
            <a:pPr marL="0" indent="0">
              <a:buNone/>
            </a:pPr>
            <a:r>
              <a:rPr lang="en-US" sz="1250" b="1" dirty="0">
                <a:solidFill>
                  <a:srgbClr val="B8860B"/>
                </a:solidFill>
                <a:latin typeface="Calibri" pitchFamily="34" charset="0"/>
                <a:ea typeface="Calibri" pitchFamily="34" charset="-122"/>
                <a:cs typeface="Calibri" pitchFamily="34" charset="-120"/>
              </a:rPr>
              <a:t>THE PROBLEM — PARTIAL DEPENDENCY</a:t>
            </a:r>
            <a:endParaRPr lang="en-US" sz="1250" dirty="0"/>
          </a:p>
        </p:txBody>
      </p:sp>
      <p:sp>
        <p:nvSpPr>
          <p:cNvPr id="10" name="Shape 8"/>
          <p:cNvSpPr/>
          <p:nvPr/>
        </p:nvSpPr>
        <p:spPr>
          <a:xfrm>
            <a:off x="566928" y="2560320"/>
            <a:ext cx="11064240" cy="1234440"/>
          </a:xfrm>
          <a:prstGeom prst="roundRect">
            <a:avLst>
              <a:gd name="adj" fmla="val 592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1" name="Text 9"/>
          <p:cNvSpPr/>
          <p:nvPr/>
        </p:nvSpPr>
        <p:spPr>
          <a:xfrm>
            <a:off x="868680" y="2651760"/>
            <a:ext cx="10515600" cy="1051560"/>
          </a:xfrm>
          <a:prstGeom prst="rect">
            <a:avLst/>
          </a:prstGeom>
          <a:noFill/>
          <a:ln/>
        </p:spPr>
        <p:txBody>
          <a:bodyPr wrap="square" lIns="0" tIns="0" rIns="0" bIns="0" rtlCol="0" anchor="ctr"/>
          <a:lstStyle/>
          <a:p>
            <a:pPr marL="0" indent="0">
              <a:lnSpc>
                <a:spcPct val="110000"/>
              </a:lnSpc>
              <a:buNone/>
            </a:pPr>
            <a:r>
              <a:rPr lang="en-US" sz="1300" dirty="0">
                <a:solidFill>
                  <a:srgbClr val="1E2E36"/>
                </a:solidFill>
                <a:latin typeface="Calibri" pitchFamily="34" charset="0"/>
                <a:ea typeface="Calibri" pitchFamily="34" charset="-122"/>
                <a:cs typeface="Calibri" pitchFamily="34" charset="-120"/>
              </a:rPr>
              <a:t>In  BookingRoom_1NF  the key is  </a:t>
            </a:r>
            <a:r>
              <a:rPr lang="en-US" sz="1300" b="1" dirty="0">
                <a:solidFill>
                  <a:srgbClr val="0C4A60"/>
                </a:solidFill>
                <a:latin typeface="Calibri" pitchFamily="34" charset="0"/>
                <a:ea typeface="Calibri" pitchFamily="34" charset="-122"/>
                <a:cs typeface="Calibri" pitchFamily="34" charset="-120"/>
              </a:rPr>
              <a:t>{BookingID, RoomNo}</a:t>
            </a:r>
            <a:r>
              <a:rPr lang="en-US" sz="1300" dirty="0">
                <a:solidFill>
                  <a:srgbClr val="1E2E36"/>
                </a:solidFill>
                <a:latin typeface="Calibri" pitchFamily="34" charset="0"/>
                <a:ea typeface="Calibri" pitchFamily="34" charset="-122"/>
                <a:cs typeface="Calibri" pitchFamily="34" charset="-120"/>
              </a:rPr>
              <a:t>.  But  RoomTypeID, RoomTypeName and Price  depend only on  </a:t>
            </a:r>
            <a:r>
              <a:rPr lang="en-US" sz="1300" b="1" dirty="0">
                <a:solidFill>
                  <a:srgbClr val="B23A48"/>
                </a:solidFill>
                <a:latin typeface="Calibri" pitchFamily="34" charset="0"/>
                <a:ea typeface="Calibri" pitchFamily="34" charset="-122"/>
                <a:cs typeface="Calibri" pitchFamily="34" charset="-120"/>
              </a:rPr>
              <a:t>RoomNo</a:t>
            </a:r>
            <a:r>
              <a:rPr lang="en-US" sz="1300" dirty="0">
                <a:solidFill>
                  <a:srgbClr val="1E2E36"/>
                </a:solidFill>
                <a:latin typeface="Calibri" pitchFamily="34" charset="0"/>
                <a:ea typeface="Calibri" pitchFamily="34" charset="-122"/>
                <a:cs typeface="Calibri" pitchFamily="34" charset="-120"/>
              </a:rPr>
              <a:t>  — only part of the key. The same happens with services depending only on ServiceID.</a:t>
            </a:r>
            <a:endParaRPr lang="en-US" sz="1300" dirty="0"/>
          </a:p>
        </p:txBody>
      </p:sp>
      <p:sp>
        <p:nvSpPr>
          <p:cNvPr id="12" name="Text 10"/>
          <p:cNvSpPr/>
          <p:nvPr/>
        </p:nvSpPr>
        <p:spPr>
          <a:xfrm>
            <a:off x="640080" y="4023360"/>
            <a:ext cx="10789920" cy="310896"/>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THE FIX — move partially-dependent fields into their own tables  →  5 relations</a:t>
            </a:r>
            <a:endParaRPr lang="en-US" sz="1300" dirty="0"/>
          </a:p>
        </p:txBody>
      </p:sp>
      <p:sp>
        <p:nvSpPr>
          <p:cNvPr id="13" name="Shape 11"/>
          <p:cNvSpPr/>
          <p:nvPr/>
        </p:nvSpPr>
        <p:spPr>
          <a:xfrm>
            <a:off x="566928"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4" name="Shape 12"/>
          <p:cNvSpPr/>
          <p:nvPr/>
        </p:nvSpPr>
        <p:spPr>
          <a:xfrm>
            <a:off x="566928" y="4389120"/>
            <a:ext cx="109728" cy="713232"/>
          </a:xfrm>
          <a:prstGeom prst="rect">
            <a:avLst/>
          </a:prstGeom>
          <a:solidFill>
            <a:srgbClr val="8E9BA3"/>
          </a:solidFill>
          <a:ln/>
        </p:spPr>
        <p:txBody>
          <a:bodyPr/>
          <a:lstStyle/>
          <a:p>
            <a:endParaRPr/>
          </a:p>
        </p:txBody>
      </p:sp>
      <p:sp>
        <p:nvSpPr>
          <p:cNvPr id="15" name="Text 13"/>
          <p:cNvSpPr/>
          <p:nvPr/>
        </p:nvSpPr>
        <p:spPr>
          <a:xfrm>
            <a:off x="822960"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Booking_2NF</a:t>
            </a:r>
            <a:endParaRPr lang="en-US" sz="1250" dirty="0"/>
          </a:p>
        </p:txBody>
      </p:sp>
      <p:sp>
        <p:nvSpPr>
          <p:cNvPr id="16" name="Text 14"/>
          <p:cNvSpPr/>
          <p:nvPr/>
        </p:nvSpPr>
        <p:spPr>
          <a:xfrm>
            <a:off x="822960"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unchanged — single-field key</a:t>
            </a:r>
            <a:endParaRPr lang="en-US" sz="980" dirty="0"/>
          </a:p>
        </p:txBody>
      </p:sp>
      <p:sp>
        <p:nvSpPr>
          <p:cNvPr id="17" name="Shape 15"/>
          <p:cNvSpPr/>
          <p:nvPr/>
        </p:nvSpPr>
        <p:spPr>
          <a:xfrm>
            <a:off x="4279392"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4279392" y="4389120"/>
            <a:ext cx="109728" cy="713232"/>
          </a:xfrm>
          <a:prstGeom prst="rect">
            <a:avLst/>
          </a:prstGeom>
          <a:solidFill>
            <a:srgbClr val="1C7293"/>
          </a:solidFill>
          <a:ln/>
        </p:spPr>
        <p:txBody>
          <a:bodyPr/>
          <a:lstStyle/>
          <a:p>
            <a:endParaRPr/>
          </a:p>
        </p:txBody>
      </p:sp>
      <p:sp>
        <p:nvSpPr>
          <p:cNvPr id="19" name="Text 17"/>
          <p:cNvSpPr/>
          <p:nvPr/>
        </p:nvSpPr>
        <p:spPr>
          <a:xfrm>
            <a:off x="4535424"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BookingRoom_2NF</a:t>
            </a:r>
            <a:endParaRPr lang="en-US" sz="1250" dirty="0"/>
          </a:p>
        </p:txBody>
      </p:sp>
      <p:sp>
        <p:nvSpPr>
          <p:cNvPr id="20" name="Text 18"/>
          <p:cNvSpPr/>
          <p:nvPr/>
        </p:nvSpPr>
        <p:spPr>
          <a:xfrm>
            <a:off x="4535424"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RoomNo  (link only)</a:t>
            </a:r>
            <a:endParaRPr lang="en-US" sz="980" dirty="0"/>
          </a:p>
        </p:txBody>
      </p:sp>
      <p:sp>
        <p:nvSpPr>
          <p:cNvPr id="21" name="Shape 19"/>
          <p:cNvSpPr/>
          <p:nvPr/>
        </p:nvSpPr>
        <p:spPr>
          <a:xfrm>
            <a:off x="7991856" y="4389120"/>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2" name="Shape 20"/>
          <p:cNvSpPr/>
          <p:nvPr/>
        </p:nvSpPr>
        <p:spPr>
          <a:xfrm>
            <a:off x="7991856" y="4389120"/>
            <a:ext cx="109728" cy="713232"/>
          </a:xfrm>
          <a:prstGeom prst="rect">
            <a:avLst/>
          </a:prstGeom>
          <a:solidFill>
            <a:srgbClr val="B8860B"/>
          </a:solidFill>
          <a:ln/>
        </p:spPr>
        <p:txBody>
          <a:bodyPr/>
          <a:lstStyle/>
          <a:p>
            <a:endParaRPr/>
          </a:p>
        </p:txBody>
      </p:sp>
      <p:sp>
        <p:nvSpPr>
          <p:cNvPr id="23" name="Text 21"/>
          <p:cNvSpPr/>
          <p:nvPr/>
        </p:nvSpPr>
        <p:spPr>
          <a:xfrm>
            <a:off x="8247888" y="4453128"/>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Room_2NF</a:t>
            </a:r>
            <a:endParaRPr lang="en-US" sz="1250" dirty="0"/>
          </a:p>
        </p:txBody>
      </p:sp>
      <p:sp>
        <p:nvSpPr>
          <p:cNvPr id="24" name="Text 22"/>
          <p:cNvSpPr/>
          <p:nvPr/>
        </p:nvSpPr>
        <p:spPr>
          <a:xfrm>
            <a:off x="8247888" y="4736592"/>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RoomNo, HotelID, RoomTypeID, RoomTypeName, Price</a:t>
            </a:r>
            <a:endParaRPr lang="en-US" sz="980" dirty="0"/>
          </a:p>
        </p:txBody>
      </p:sp>
      <p:sp>
        <p:nvSpPr>
          <p:cNvPr id="25" name="Shape 23"/>
          <p:cNvSpPr/>
          <p:nvPr/>
        </p:nvSpPr>
        <p:spPr>
          <a:xfrm>
            <a:off x="566928" y="5230368"/>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6" name="Shape 24"/>
          <p:cNvSpPr/>
          <p:nvPr/>
        </p:nvSpPr>
        <p:spPr>
          <a:xfrm>
            <a:off x="566928" y="5230368"/>
            <a:ext cx="109728" cy="713232"/>
          </a:xfrm>
          <a:prstGeom prst="rect">
            <a:avLst/>
          </a:prstGeom>
          <a:solidFill>
            <a:srgbClr val="1C7293"/>
          </a:solidFill>
          <a:ln/>
        </p:spPr>
        <p:txBody>
          <a:bodyPr/>
          <a:lstStyle/>
          <a:p>
            <a:endParaRPr/>
          </a:p>
        </p:txBody>
      </p:sp>
      <p:sp>
        <p:nvSpPr>
          <p:cNvPr id="27" name="Text 25"/>
          <p:cNvSpPr/>
          <p:nvPr/>
        </p:nvSpPr>
        <p:spPr>
          <a:xfrm>
            <a:off x="822960" y="5294376"/>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BookingService_2NF</a:t>
            </a:r>
            <a:endParaRPr lang="en-US" sz="1250" dirty="0"/>
          </a:p>
        </p:txBody>
      </p:sp>
      <p:sp>
        <p:nvSpPr>
          <p:cNvPr id="28" name="Text 26"/>
          <p:cNvSpPr/>
          <p:nvPr/>
        </p:nvSpPr>
        <p:spPr>
          <a:xfrm>
            <a:off x="822960" y="5577840"/>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BookingID, ServiceID  (link only)</a:t>
            </a:r>
            <a:endParaRPr lang="en-US" sz="980" dirty="0"/>
          </a:p>
        </p:txBody>
      </p:sp>
      <p:sp>
        <p:nvSpPr>
          <p:cNvPr id="29" name="Shape 27"/>
          <p:cNvSpPr/>
          <p:nvPr/>
        </p:nvSpPr>
        <p:spPr>
          <a:xfrm>
            <a:off x="4279392" y="5230368"/>
            <a:ext cx="3456432" cy="713232"/>
          </a:xfrm>
          <a:prstGeom prst="roundRect">
            <a:avLst>
              <a:gd name="adj" fmla="val 10256"/>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0" name="Shape 28"/>
          <p:cNvSpPr/>
          <p:nvPr/>
        </p:nvSpPr>
        <p:spPr>
          <a:xfrm>
            <a:off x="4279392" y="5230368"/>
            <a:ext cx="109728" cy="713232"/>
          </a:xfrm>
          <a:prstGeom prst="rect">
            <a:avLst/>
          </a:prstGeom>
          <a:solidFill>
            <a:srgbClr val="B8860B"/>
          </a:solidFill>
          <a:ln/>
        </p:spPr>
        <p:txBody>
          <a:bodyPr/>
          <a:lstStyle/>
          <a:p>
            <a:endParaRPr/>
          </a:p>
        </p:txBody>
      </p:sp>
      <p:sp>
        <p:nvSpPr>
          <p:cNvPr id="31" name="Text 29"/>
          <p:cNvSpPr/>
          <p:nvPr/>
        </p:nvSpPr>
        <p:spPr>
          <a:xfrm>
            <a:off x="4535424" y="5294376"/>
            <a:ext cx="3108960" cy="292608"/>
          </a:xfrm>
          <a:prstGeom prst="rect">
            <a:avLst/>
          </a:prstGeom>
          <a:noFill/>
          <a:ln/>
        </p:spPr>
        <p:txBody>
          <a:bodyPr wrap="square" lIns="0" tIns="0" rIns="0" bIns="0" rtlCol="0" anchor="ctr"/>
          <a:lstStyle/>
          <a:p>
            <a:pPr marL="0" indent="0">
              <a:buNone/>
            </a:pPr>
            <a:r>
              <a:rPr lang="en-US" sz="1250" b="1" dirty="0">
                <a:solidFill>
                  <a:srgbClr val="0C4A60"/>
                </a:solidFill>
                <a:latin typeface="Calibri" pitchFamily="34" charset="0"/>
                <a:ea typeface="Calibri" pitchFamily="34" charset="-122"/>
                <a:cs typeface="Calibri" pitchFamily="34" charset="-120"/>
              </a:rPr>
              <a:t>Service_2NF</a:t>
            </a:r>
            <a:endParaRPr lang="en-US" sz="1250" dirty="0"/>
          </a:p>
        </p:txBody>
      </p:sp>
      <p:sp>
        <p:nvSpPr>
          <p:cNvPr id="32" name="Text 30"/>
          <p:cNvSpPr/>
          <p:nvPr/>
        </p:nvSpPr>
        <p:spPr>
          <a:xfrm>
            <a:off x="4535424" y="5577840"/>
            <a:ext cx="3127248" cy="310896"/>
          </a:xfrm>
          <a:prstGeom prst="rect">
            <a:avLst/>
          </a:prstGeom>
          <a:noFill/>
          <a:ln/>
        </p:spPr>
        <p:txBody>
          <a:bodyPr wrap="square" lIns="0" tIns="0" rIns="0" bIns="0" rtlCol="0" anchor="ctr"/>
          <a:lstStyle/>
          <a:p>
            <a:pPr marL="0" indent="0">
              <a:buNone/>
            </a:pPr>
            <a:r>
              <a:rPr lang="en-US" sz="980" dirty="0">
                <a:solidFill>
                  <a:srgbClr val="5C7984"/>
                </a:solidFill>
                <a:latin typeface="Calibri" pitchFamily="34" charset="0"/>
                <a:ea typeface="Calibri" pitchFamily="34" charset="-122"/>
                <a:cs typeface="Calibri" pitchFamily="34" charset="-120"/>
              </a:rPr>
              <a:t>ServiceID, ServiceName, ServicePrice</a:t>
            </a:r>
            <a:endParaRPr lang="en-US" sz="980" dirty="0"/>
          </a:p>
        </p:txBody>
      </p:sp>
      <p:sp>
        <p:nvSpPr>
          <p:cNvPr id="33" name="Text 31"/>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34" name="Text 32"/>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75488"/>
            <a:ext cx="182880" cy="420624"/>
          </a:xfrm>
          <a:prstGeom prst="rect">
            <a:avLst/>
          </a:prstGeom>
          <a:solidFill>
            <a:srgbClr val="B8860B"/>
          </a:solidFill>
          <a:ln/>
        </p:spPr>
        <p:txBody>
          <a:bodyPr/>
          <a:lstStyle/>
          <a:p>
            <a:endParaRPr/>
          </a:p>
        </p:txBody>
      </p:sp>
      <p:sp>
        <p:nvSpPr>
          <p:cNvPr id="3" name="Text 1"/>
          <p:cNvSpPr/>
          <p:nvPr/>
        </p:nvSpPr>
        <p:spPr>
          <a:xfrm>
            <a:off x="868680" y="365760"/>
            <a:ext cx="10515600"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NORMALIZATION</a:t>
            </a:r>
            <a:endParaRPr lang="en-US" sz="1200" dirty="0"/>
          </a:p>
        </p:txBody>
      </p:sp>
      <p:sp>
        <p:nvSpPr>
          <p:cNvPr id="4" name="Text 2"/>
          <p:cNvSpPr/>
          <p:nvPr/>
        </p:nvSpPr>
        <p:spPr>
          <a:xfrm>
            <a:off x="868680" y="603504"/>
            <a:ext cx="10698480" cy="566928"/>
          </a:xfrm>
          <a:prstGeom prst="rect">
            <a:avLst/>
          </a:prstGeom>
          <a:noFill/>
          <a:ln/>
        </p:spPr>
        <p:txBody>
          <a:bodyPr wrap="square" lIns="0" tIns="0" rIns="0" bIns="0" rtlCol="0" anchor="ctr"/>
          <a:lstStyle/>
          <a:p>
            <a:pPr marL="0" indent="0">
              <a:buNone/>
            </a:pPr>
            <a:r>
              <a:rPr lang="en-US" sz="2800" b="1" dirty="0">
                <a:solidFill>
                  <a:srgbClr val="0C4A60"/>
                </a:solidFill>
                <a:latin typeface="Calibri" pitchFamily="34" charset="0"/>
                <a:ea typeface="Calibri" pitchFamily="34" charset="-122"/>
                <a:cs typeface="Calibri" pitchFamily="34" charset="-120"/>
              </a:rPr>
              <a:t>Step 3 — Third Normal Form (3NF)</a:t>
            </a:r>
            <a:endParaRPr lang="en-US" sz="2800" dirty="0"/>
          </a:p>
        </p:txBody>
      </p:sp>
      <p:sp>
        <p:nvSpPr>
          <p:cNvPr id="5" name="Shape 3"/>
          <p:cNvSpPr/>
          <p:nvPr/>
        </p:nvSpPr>
        <p:spPr>
          <a:xfrm>
            <a:off x="10927080" y="457200"/>
            <a:ext cx="713232" cy="713232"/>
          </a:xfrm>
          <a:prstGeom prst="ellipse">
            <a:avLst/>
          </a:prstGeom>
          <a:solidFill>
            <a:srgbClr val="0C4A60"/>
          </a:solidFill>
          <a:ln/>
        </p:spPr>
        <p:txBody>
          <a:bodyPr/>
          <a:lstStyle/>
          <a:p>
            <a:endParaRPr/>
          </a:p>
        </p:txBody>
      </p:sp>
      <p:sp>
        <p:nvSpPr>
          <p:cNvPr id="6" name="Text 4"/>
          <p:cNvSpPr/>
          <p:nvPr/>
        </p:nvSpPr>
        <p:spPr>
          <a:xfrm>
            <a:off x="10927080" y="457200"/>
            <a:ext cx="713232" cy="713232"/>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3NF</a:t>
            </a:r>
            <a:endParaRPr lang="en-US" sz="1900" dirty="0"/>
          </a:p>
        </p:txBody>
      </p:sp>
      <p:sp>
        <p:nvSpPr>
          <p:cNvPr id="7" name="Shape 5"/>
          <p:cNvSpPr/>
          <p:nvPr/>
        </p:nvSpPr>
        <p:spPr>
          <a:xfrm>
            <a:off x="566928" y="1417320"/>
            <a:ext cx="11064240" cy="640080"/>
          </a:xfrm>
          <a:prstGeom prst="roundRect">
            <a:avLst>
              <a:gd name="adj" fmla="val 8571"/>
            </a:avLst>
          </a:prstGeom>
          <a:solidFill>
            <a:srgbClr val="E7F1F4"/>
          </a:solidFill>
          <a:ln w="12700">
            <a:solidFill>
              <a:srgbClr val="C9DDE3"/>
            </a:solidFill>
            <a:prstDash val="solid"/>
          </a:ln>
        </p:spPr>
        <p:txBody>
          <a:bodyPr/>
          <a:lstStyle/>
          <a:p>
            <a:endParaRPr/>
          </a:p>
        </p:txBody>
      </p:sp>
      <p:sp>
        <p:nvSpPr>
          <p:cNvPr id="8" name="Text 6"/>
          <p:cNvSpPr/>
          <p:nvPr/>
        </p:nvSpPr>
        <p:spPr>
          <a:xfrm>
            <a:off x="868680" y="1417320"/>
            <a:ext cx="10515600" cy="64008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RULE:   </a:t>
            </a:r>
            <a:r>
              <a:rPr lang="en-US" sz="1400" dirty="0">
                <a:solidFill>
                  <a:srgbClr val="1E2E36"/>
                </a:solidFill>
                <a:latin typeface="Calibri" pitchFamily="34" charset="0"/>
                <a:ea typeface="Calibri" pitchFamily="34" charset="-122"/>
                <a:cs typeface="Calibri" pitchFamily="34" charset="-120"/>
              </a:rPr>
              <a:t>already in 2NF, and no non-key attribute depends on ANOTHER non-key attribute (transitive dependency).</a:t>
            </a:r>
            <a:endParaRPr lang="en-US" sz="1400" dirty="0"/>
          </a:p>
        </p:txBody>
      </p:sp>
      <p:sp>
        <p:nvSpPr>
          <p:cNvPr id="9" name="Text 7"/>
          <p:cNvSpPr/>
          <p:nvPr/>
        </p:nvSpPr>
        <p:spPr>
          <a:xfrm>
            <a:off x="640080" y="2240280"/>
            <a:ext cx="10058400" cy="292608"/>
          </a:xfrm>
          <a:prstGeom prst="rect">
            <a:avLst/>
          </a:prstGeom>
          <a:noFill/>
          <a:ln/>
        </p:spPr>
        <p:txBody>
          <a:bodyPr wrap="square" lIns="0" tIns="0" rIns="0" bIns="0" rtlCol="0" anchor="ctr"/>
          <a:lstStyle/>
          <a:p>
            <a:pPr marL="0" indent="0">
              <a:buNone/>
            </a:pPr>
            <a:r>
              <a:rPr lang="en-US" sz="1250" b="1" dirty="0">
                <a:solidFill>
                  <a:srgbClr val="B8860B"/>
                </a:solidFill>
                <a:latin typeface="Calibri" pitchFamily="34" charset="0"/>
                <a:ea typeface="Calibri" pitchFamily="34" charset="-122"/>
                <a:cs typeface="Calibri" pitchFamily="34" charset="-120"/>
              </a:rPr>
              <a:t>THE PROBLEM — TRANSITIVE DEPENDENCY</a:t>
            </a:r>
            <a:endParaRPr lang="en-US" sz="1250" dirty="0"/>
          </a:p>
        </p:txBody>
      </p:sp>
      <p:sp>
        <p:nvSpPr>
          <p:cNvPr id="10" name="Shape 8"/>
          <p:cNvSpPr/>
          <p:nvPr/>
        </p:nvSpPr>
        <p:spPr>
          <a:xfrm>
            <a:off x="566928" y="2560320"/>
            <a:ext cx="11064240" cy="914400"/>
          </a:xfrm>
          <a:prstGeom prst="roundRect">
            <a:avLst>
              <a:gd name="adj" fmla="val 8000"/>
            </a:avLst>
          </a:prstGeom>
          <a:solidFill>
            <a:srgbClr val="FFFFFF"/>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1" name="Text 9"/>
          <p:cNvSpPr/>
          <p:nvPr/>
        </p:nvSpPr>
        <p:spPr>
          <a:xfrm>
            <a:off x="868680" y="2560320"/>
            <a:ext cx="10515600" cy="914400"/>
          </a:xfrm>
          <a:prstGeom prst="rect">
            <a:avLst/>
          </a:prstGeom>
          <a:noFill/>
          <a:ln/>
        </p:spPr>
        <p:txBody>
          <a:bodyPr wrap="square" lIns="0" tIns="0" rIns="0" bIns="0" rtlCol="0" anchor="ctr"/>
          <a:lstStyle/>
          <a:p>
            <a:r>
              <a:t>BookingID → GuestID → GuestName, GuestPhone, GuestEmail          RoomNo → HotelID &amp; RoomTypeID → Price</a:t>
            </a:r>
          </a:p>
        </p:txBody>
      </p:sp>
      <p:sp>
        <p:nvSpPr>
          <p:cNvPr id="12" name="Text 10"/>
          <p:cNvSpPr/>
          <p:nvPr/>
        </p:nvSpPr>
        <p:spPr>
          <a:xfrm>
            <a:off x="640080" y="3657600"/>
            <a:ext cx="10789920" cy="310896"/>
          </a:xfrm>
          <a:prstGeom prst="rect">
            <a:avLst/>
          </a:prstGeom>
          <a:noFill/>
          <a:ln/>
        </p:spPr>
        <p:txBody>
          <a:bodyPr wrap="square" lIns="0" tIns="0" rIns="0" bIns="0" rtlCol="0" anchor="ctr"/>
          <a:lstStyle/>
          <a:p>
            <a:pPr marL="0" indent="0">
              <a:buNone/>
            </a:pPr>
            <a:r>
              <a:rPr lang="en-US" sz="1300" b="1" dirty="0">
                <a:solidFill>
                  <a:srgbClr val="0C4A60"/>
                </a:solidFill>
                <a:latin typeface="Calibri" pitchFamily="34" charset="0"/>
                <a:ea typeface="Calibri" pitchFamily="34" charset="-122"/>
                <a:cs typeface="Calibri" pitchFamily="34" charset="-120"/>
              </a:rPr>
              <a:t>THE FIX — move each entity into its own table  →  final 8 tables in 3NF</a:t>
            </a:r>
            <a:endParaRPr lang="en-US" sz="1300" dirty="0"/>
          </a:p>
        </p:txBody>
      </p:sp>
      <p:sp>
        <p:nvSpPr>
          <p:cNvPr id="13" name="Shape 11"/>
          <p:cNvSpPr/>
          <p:nvPr/>
        </p:nvSpPr>
        <p:spPr>
          <a:xfrm>
            <a:off x="566928"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4" name="Shape 12"/>
          <p:cNvSpPr/>
          <p:nvPr/>
        </p:nvSpPr>
        <p:spPr>
          <a:xfrm>
            <a:off x="713232" y="4261104"/>
            <a:ext cx="365760" cy="365760"/>
          </a:xfrm>
          <a:prstGeom prst="ellipse">
            <a:avLst/>
          </a:prstGeom>
          <a:solidFill>
            <a:srgbClr val="1C7293"/>
          </a:solidFill>
          <a:ln/>
        </p:spPr>
        <p:txBody>
          <a:bodyPr/>
          <a:lstStyle/>
          <a:p>
            <a:endParaRPr/>
          </a:p>
        </p:txBody>
      </p:sp>
      <p:sp>
        <p:nvSpPr>
          <p:cNvPr id="15" name="Text 13"/>
          <p:cNvSpPr/>
          <p:nvPr/>
        </p:nvSpPr>
        <p:spPr>
          <a:xfrm>
            <a:off x="713232"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16" name="Text 14"/>
          <p:cNvSpPr/>
          <p:nvPr/>
        </p:nvSpPr>
        <p:spPr>
          <a:xfrm>
            <a:off x="1170432"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Guest</a:t>
            </a:r>
            <a:endParaRPr lang="en-US" sz="1350" dirty="0"/>
          </a:p>
        </p:txBody>
      </p:sp>
      <p:sp>
        <p:nvSpPr>
          <p:cNvPr id="17" name="Shape 15"/>
          <p:cNvSpPr/>
          <p:nvPr/>
        </p:nvSpPr>
        <p:spPr>
          <a:xfrm>
            <a:off x="3364992"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18" name="Shape 16"/>
          <p:cNvSpPr/>
          <p:nvPr/>
        </p:nvSpPr>
        <p:spPr>
          <a:xfrm>
            <a:off x="3511296" y="4261104"/>
            <a:ext cx="365760" cy="365760"/>
          </a:xfrm>
          <a:prstGeom prst="ellipse">
            <a:avLst/>
          </a:prstGeom>
          <a:solidFill>
            <a:srgbClr val="1C7293"/>
          </a:solidFill>
          <a:ln/>
        </p:spPr>
        <p:txBody>
          <a:bodyPr/>
          <a:lstStyle/>
          <a:p>
            <a:endParaRPr/>
          </a:p>
        </p:txBody>
      </p:sp>
      <p:sp>
        <p:nvSpPr>
          <p:cNvPr id="19" name="Text 17"/>
          <p:cNvSpPr/>
          <p:nvPr/>
        </p:nvSpPr>
        <p:spPr>
          <a:xfrm>
            <a:off x="3511296"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20" name="Text 18"/>
          <p:cNvSpPr/>
          <p:nvPr/>
        </p:nvSpPr>
        <p:spPr>
          <a:xfrm>
            <a:off x="3968496"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Hotel</a:t>
            </a:r>
            <a:endParaRPr lang="en-US" sz="1350" dirty="0"/>
          </a:p>
        </p:txBody>
      </p:sp>
      <p:sp>
        <p:nvSpPr>
          <p:cNvPr id="21" name="Shape 19"/>
          <p:cNvSpPr/>
          <p:nvPr/>
        </p:nvSpPr>
        <p:spPr>
          <a:xfrm>
            <a:off x="6163056"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2" name="Shape 20"/>
          <p:cNvSpPr/>
          <p:nvPr/>
        </p:nvSpPr>
        <p:spPr>
          <a:xfrm>
            <a:off x="6309360" y="4261104"/>
            <a:ext cx="365760" cy="365760"/>
          </a:xfrm>
          <a:prstGeom prst="ellipse">
            <a:avLst/>
          </a:prstGeom>
          <a:solidFill>
            <a:srgbClr val="1C7293"/>
          </a:solidFill>
          <a:ln/>
        </p:spPr>
        <p:txBody>
          <a:bodyPr/>
          <a:lstStyle/>
          <a:p>
            <a:endParaRPr/>
          </a:p>
        </p:txBody>
      </p:sp>
      <p:sp>
        <p:nvSpPr>
          <p:cNvPr id="23" name="Text 21"/>
          <p:cNvSpPr/>
          <p:nvPr/>
        </p:nvSpPr>
        <p:spPr>
          <a:xfrm>
            <a:off x="6309360"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24" name="Text 22"/>
          <p:cNvSpPr/>
          <p:nvPr/>
        </p:nvSpPr>
        <p:spPr>
          <a:xfrm>
            <a:off x="6766560"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RoomType</a:t>
            </a:r>
            <a:endParaRPr lang="en-US" sz="1350" dirty="0"/>
          </a:p>
        </p:txBody>
      </p:sp>
      <p:sp>
        <p:nvSpPr>
          <p:cNvPr id="25" name="Shape 23"/>
          <p:cNvSpPr/>
          <p:nvPr/>
        </p:nvSpPr>
        <p:spPr>
          <a:xfrm>
            <a:off x="8961120" y="40690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26" name="Shape 24"/>
          <p:cNvSpPr/>
          <p:nvPr/>
        </p:nvSpPr>
        <p:spPr>
          <a:xfrm>
            <a:off x="9107424" y="4261104"/>
            <a:ext cx="365760" cy="365760"/>
          </a:xfrm>
          <a:prstGeom prst="ellipse">
            <a:avLst/>
          </a:prstGeom>
          <a:solidFill>
            <a:srgbClr val="1C7293"/>
          </a:solidFill>
          <a:ln/>
        </p:spPr>
        <p:txBody>
          <a:bodyPr/>
          <a:lstStyle/>
          <a:p>
            <a:endParaRPr/>
          </a:p>
        </p:txBody>
      </p:sp>
      <p:sp>
        <p:nvSpPr>
          <p:cNvPr id="27" name="Text 25"/>
          <p:cNvSpPr/>
          <p:nvPr/>
        </p:nvSpPr>
        <p:spPr>
          <a:xfrm>
            <a:off x="9107424" y="42611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28" name="Text 26"/>
          <p:cNvSpPr/>
          <p:nvPr/>
        </p:nvSpPr>
        <p:spPr>
          <a:xfrm>
            <a:off x="9564624" y="40690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Room</a:t>
            </a:r>
            <a:endParaRPr lang="en-US" sz="1350" dirty="0"/>
          </a:p>
        </p:txBody>
      </p:sp>
      <p:sp>
        <p:nvSpPr>
          <p:cNvPr id="29" name="Shape 27"/>
          <p:cNvSpPr/>
          <p:nvPr/>
        </p:nvSpPr>
        <p:spPr>
          <a:xfrm>
            <a:off x="566928" y="49834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0" name="Shape 28"/>
          <p:cNvSpPr/>
          <p:nvPr/>
        </p:nvSpPr>
        <p:spPr>
          <a:xfrm>
            <a:off x="713232" y="5175504"/>
            <a:ext cx="365760" cy="365760"/>
          </a:xfrm>
          <a:prstGeom prst="ellipse">
            <a:avLst/>
          </a:prstGeom>
          <a:solidFill>
            <a:srgbClr val="1C7293"/>
          </a:solidFill>
          <a:ln/>
        </p:spPr>
        <p:txBody>
          <a:bodyPr/>
          <a:lstStyle/>
          <a:p>
            <a:endParaRPr/>
          </a:p>
        </p:txBody>
      </p:sp>
      <p:sp>
        <p:nvSpPr>
          <p:cNvPr id="31" name="Text 29"/>
          <p:cNvSpPr/>
          <p:nvPr/>
        </p:nvSpPr>
        <p:spPr>
          <a:xfrm>
            <a:off x="713232"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32" name="Text 30"/>
          <p:cNvSpPr/>
          <p:nvPr/>
        </p:nvSpPr>
        <p:spPr>
          <a:xfrm>
            <a:off x="1170432"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Service</a:t>
            </a:r>
            <a:endParaRPr lang="en-US" sz="1350" dirty="0"/>
          </a:p>
        </p:txBody>
      </p:sp>
      <p:sp>
        <p:nvSpPr>
          <p:cNvPr id="33" name="Shape 31"/>
          <p:cNvSpPr/>
          <p:nvPr/>
        </p:nvSpPr>
        <p:spPr>
          <a:xfrm>
            <a:off x="3364992" y="4983480"/>
            <a:ext cx="2596896" cy="749808"/>
          </a:xfrm>
          <a:prstGeom prst="roundRect">
            <a:avLst>
              <a:gd name="adj" fmla="val 9756"/>
            </a:avLst>
          </a:prstGeom>
          <a:solidFill>
            <a:srgbClr val="E7F1F4"/>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4" name="Shape 32"/>
          <p:cNvSpPr/>
          <p:nvPr/>
        </p:nvSpPr>
        <p:spPr>
          <a:xfrm>
            <a:off x="3511296" y="5175504"/>
            <a:ext cx="365760" cy="365760"/>
          </a:xfrm>
          <a:prstGeom prst="ellipse">
            <a:avLst/>
          </a:prstGeom>
          <a:solidFill>
            <a:srgbClr val="1C7293"/>
          </a:solidFill>
          <a:ln/>
        </p:spPr>
        <p:txBody>
          <a:bodyPr/>
          <a:lstStyle/>
          <a:p>
            <a:endParaRPr/>
          </a:p>
        </p:txBody>
      </p:sp>
      <p:sp>
        <p:nvSpPr>
          <p:cNvPr id="35" name="Text 33"/>
          <p:cNvSpPr/>
          <p:nvPr/>
        </p:nvSpPr>
        <p:spPr>
          <a:xfrm>
            <a:off x="3511296"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36" name="Text 34"/>
          <p:cNvSpPr/>
          <p:nvPr/>
        </p:nvSpPr>
        <p:spPr>
          <a:xfrm>
            <a:off x="3968496"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a:t>
            </a:r>
            <a:endParaRPr lang="en-US" sz="1350" dirty="0"/>
          </a:p>
        </p:txBody>
      </p:sp>
      <p:sp>
        <p:nvSpPr>
          <p:cNvPr id="37" name="Shape 35"/>
          <p:cNvSpPr/>
          <p:nvPr/>
        </p:nvSpPr>
        <p:spPr>
          <a:xfrm>
            <a:off x="6163056" y="4983480"/>
            <a:ext cx="2596896" cy="749808"/>
          </a:xfrm>
          <a:prstGeom prst="roundRect">
            <a:avLst>
              <a:gd name="adj" fmla="val 9756"/>
            </a:avLst>
          </a:prstGeom>
          <a:solidFill>
            <a:srgbClr val="FBEFD5"/>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38" name="Shape 36"/>
          <p:cNvSpPr/>
          <p:nvPr/>
        </p:nvSpPr>
        <p:spPr>
          <a:xfrm>
            <a:off x="6309360" y="5175504"/>
            <a:ext cx="365760" cy="365760"/>
          </a:xfrm>
          <a:prstGeom prst="ellipse">
            <a:avLst/>
          </a:prstGeom>
          <a:solidFill>
            <a:srgbClr val="B8860B"/>
          </a:solidFill>
          <a:ln/>
        </p:spPr>
        <p:txBody>
          <a:bodyPr/>
          <a:lstStyle/>
          <a:p>
            <a:endParaRPr/>
          </a:p>
        </p:txBody>
      </p:sp>
      <p:sp>
        <p:nvSpPr>
          <p:cNvPr id="39" name="Text 37"/>
          <p:cNvSpPr/>
          <p:nvPr/>
        </p:nvSpPr>
        <p:spPr>
          <a:xfrm>
            <a:off x="6309360"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40" name="Text 38"/>
          <p:cNvSpPr/>
          <p:nvPr/>
        </p:nvSpPr>
        <p:spPr>
          <a:xfrm>
            <a:off x="6766560"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BookingRoom</a:t>
            </a:r>
            <a:endParaRPr lang="en-US" sz="1350" dirty="0"/>
          </a:p>
        </p:txBody>
      </p:sp>
      <p:sp>
        <p:nvSpPr>
          <p:cNvPr id="41" name="Shape 39"/>
          <p:cNvSpPr/>
          <p:nvPr/>
        </p:nvSpPr>
        <p:spPr>
          <a:xfrm>
            <a:off x="8961120" y="4983480"/>
            <a:ext cx="2596896" cy="749808"/>
          </a:xfrm>
          <a:prstGeom prst="roundRect">
            <a:avLst>
              <a:gd name="adj" fmla="val 9756"/>
            </a:avLst>
          </a:prstGeom>
          <a:solidFill>
            <a:srgbClr val="FBEFD5"/>
          </a:solidFill>
          <a:ln w="12700">
            <a:solidFill>
              <a:srgbClr val="DCE6EA"/>
            </a:solidFill>
            <a:prstDash val="solid"/>
          </a:ln>
          <a:effectLst>
            <a:outerShdw blurRad="88900" dist="38100" dir="8100000" algn="bl" rotWithShape="0">
              <a:srgbClr val="0C2A36">
                <a:alpha val="16000"/>
              </a:srgbClr>
            </a:outerShdw>
          </a:effectLst>
        </p:spPr>
        <p:txBody>
          <a:bodyPr/>
          <a:lstStyle/>
          <a:p>
            <a:endParaRPr/>
          </a:p>
        </p:txBody>
      </p:sp>
      <p:sp>
        <p:nvSpPr>
          <p:cNvPr id="42" name="Shape 40"/>
          <p:cNvSpPr/>
          <p:nvPr/>
        </p:nvSpPr>
        <p:spPr>
          <a:xfrm>
            <a:off x="9107424" y="5175504"/>
            <a:ext cx="365760" cy="365760"/>
          </a:xfrm>
          <a:prstGeom prst="ellipse">
            <a:avLst/>
          </a:prstGeom>
          <a:solidFill>
            <a:srgbClr val="B8860B"/>
          </a:solidFill>
          <a:ln/>
        </p:spPr>
        <p:txBody>
          <a:bodyPr/>
          <a:lstStyle/>
          <a:p>
            <a:endParaRPr/>
          </a:p>
        </p:txBody>
      </p:sp>
      <p:sp>
        <p:nvSpPr>
          <p:cNvPr id="43" name="Text 41"/>
          <p:cNvSpPr/>
          <p:nvPr/>
        </p:nvSpPr>
        <p:spPr>
          <a:xfrm>
            <a:off x="9107424" y="5175504"/>
            <a:ext cx="365760" cy="36576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300" dirty="0"/>
          </a:p>
        </p:txBody>
      </p:sp>
      <p:sp>
        <p:nvSpPr>
          <p:cNvPr id="44" name="Text 42"/>
          <p:cNvSpPr/>
          <p:nvPr/>
        </p:nvSpPr>
        <p:spPr>
          <a:xfrm>
            <a:off x="9564624" y="4983480"/>
            <a:ext cx="1920240" cy="749808"/>
          </a:xfrm>
          <a:prstGeom prst="rect">
            <a:avLst/>
          </a:prstGeom>
          <a:noFill/>
          <a:ln/>
        </p:spPr>
        <p:txBody>
          <a:bodyPr wrap="square" lIns="0" tIns="0" rIns="0" bIns="0" rtlCol="0" anchor="ctr"/>
          <a:lstStyle/>
          <a:p>
            <a:pPr marL="0" indent="0">
              <a:buNone/>
            </a:pPr>
            <a:r>
              <a:rPr lang="en-US" sz="1350" b="1" dirty="0">
                <a:solidFill>
                  <a:srgbClr val="0C4A60"/>
                </a:solidFill>
                <a:latin typeface="Calibri" pitchFamily="34" charset="0"/>
                <a:ea typeface="Calibri" pitchFamily="34" charset="-122"/>
                <a:cs typeface="Calibri" pitchFamily="34" charset="-120"/>
              </a:rPr>
              <a:t>BookingService</a:t>
            </a:r>
            <a:endParaRPr lang="en-US" sz="1350" dirty="0"/>
          </a:p>
        </p:txBody>
      </p:sp>
      <p:sp>
        <p:nvSpPr>
          <p:cNvPr id="45" name="Text 43"/>
          <p:cNvSpPr/>
          <p:nvPr/>
        </p:nvSpPr>
        <p:spPr>
          <a:xfrm>
            <a:off x="566928" y="5943600"/>
            <a:ext cx="11064240" cy="320040"/>
          </a:xfrm>
          <a:prstGeom prst="rect">
            <a:avLst/>
          </a:prstGeom>
          <a:noFill/>
          <a:ln/>
        </p:spPr>
        <p:txBody>
          <a:bodyPr wrap="square" lIns="0" tIns="0" rIns="0" bIns="0" rtlCol="0" anchor="ctr"/>
          <a:lstStyle/>
          <a:p>
            <a:pPr marL="0" indent="0" algn="ctr">
              <a:buNone/>
            </a:pPr>
            <a:r>
              <a:rPr lang="en-US" sz="1050" i="1" dirty="0">
                <a:solidFill>
                  <a:srgbClr val="5C7984"/>
                </a:solidFill>
                <a:latin typeface="Calibri" pitchFamily="34" charset="0"/>
                <a:ea typeface="Calibri" pitchFamily="34" charset="-122"/>
                <a:cs typeface="Calibri" pitchFamily="34" charset="-120"/>
              </a:rPr>
              <a:t>Blue = main entity tables    ·    Gold = junction tables that resolve many-to-many links</a:t>
            </a:r>
            <a:endParaRPr lang="en-US" sz="1050" dirty="0"/>
          </a:p>
        </p:txBody>
      </p:sp>
      <p:sp>
        <p:nvSpPr>
          <p:cNvPr id="46" name="Text 44"/>
          <p:cNvSpPr/>
          <p:nvPr/>
        </p:nvSpPr>
        <p:spPr>
          <a:xfrm>
            <a:off x="566928" y="6437376"/>
            <a:ext cx="6400800" cy="274320"/>
          </a:xfrm>
          <a:prstGeom prst="rect">
            <a:avLst/>
          </a:prstGeom>
          <a:noFill/>
          <a:ln/>
        </p:spPr>
        <p:txBody>
          <a:bodyPr wrap="square" lIns="0" tIns="0" rIns="0" bIns="0" rtlCol="0" anchor="ctr"/>
          <a:lstStyle/>
          <a:p>
            <a:pPr marL="0" indent="0">
              <a:buNone/>
            </a:pPr>
            <a:r>
              <a:rPr lang="en-US" sz="900" dirty="0">
                <a:solidFill>
                  <a:srgbClr val="5C7984"/>
                </a:solidFill>
                <a:latin typeface="Calibri" pitchFamily="34" charset="0"/>
                <a:ea typeface="Calibri" pitchFamily="34" charset="-122"/>
                <a:cs typeface="Calibri" pitchFamily="34" charset="-120"/>
              </a:rPr>
              <a:t>SejutaStay Hotel Booking Database</a:t>
            </a:r>
            <a:endParaRPr lang="en-US" sz="900" dirty="0"/>
          </a:p>
        </p:txBody>
      </p:sp>
      <p:sp>
        <p:nvSpPr>
          <p:cNvPr id="47" name="Text 45"/>
          <p:cNvSpPr/>
          <p:nvPr/>
        </p:nvSpPr>
        <p:spPr>
          <a:xfrm>
            <a:off x="11430000" y="6437376"/>
            <a:ext cx="365760" cy="274320"/>
          </a:xfrm>
          <a:prstGeom prst="rect">
            <a:avLst/>
          </a:prstGeom>
          <a:noFill/>
          <a:ln/>
        </p:spPr>
        <p:txBody>
          <a:bodyPr wrap="square" lIns="0" tIns="0" rIns="0" bIns="0" rtlCol="0" anchor="ctr"/>
          <a:lstStyle/>
          <a:p>
            <a:pPr marL="0" indent="0" algn="r">
              <a:buNone/>
              <a:defRPr sz="900">
                <a:solidFill>
                  <a:srgbClr val="66747D"/>
                </a:solidFill>
                <a:latin typeface="Aptos"/>
              </a:defRPr>
            </a:pPr>
            <a: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4" name="TextBox 3"/>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10</a:t>
            </a:r>
          </a:p>
        </p:txBody>
      </p:sp>
      <p:pic>
        <p:nvPicPr>
          <p:cNvPr id="8" name="Picture 7">
            <a:extLst>
              <a:ext uri="{FF2B5EF4-FFF2-40B4-BE49-F238E27FC236}">
                <a16:creationId xmlns:a16="http://schemas.microsoft.com/office/drawing/2014/main" id="{5601BC40-0C29-CECA-28C4-5885C7F3CBEE}"/>
              </a:ext>
            </a:extLst>
          </p:cNvPr>
          <p:cNvPicPr>
            <a:picLocks noChangeAspect="1"/>
          </p:cNvPicPr>
          <p:nvPr/>
        </p:nvPicPr>
        <p:blipFill>
          <a:blip r:embed="rId3"/>
          <a:stretch>
            <a:fillRect/>
          </a:stretch>
        </p:blipFill>
        <p:spPr>
          <a:xfrm>
            <a:off x="1001971" y="0"/>
            <a:ext cx="9430068" cy="6629624"/>
          </a:xfrm>
          <a:prstGeom prst="rect">
            <a:avLst/>
          </a:prstGeom>
        </p:spPr>
      </p:pic>
      <p:sp>
        <p:nvSpPr>
          <p:cNvPr id="10" name="TextBox 9">
            <a:extLst>
              <a:ext uri="{FF2B5EF4-FFF2-40B4-BE49-F238E27FC236}">
                <a16:creationId xmlns:a16="http://schemas.microsoft.com/office/drawing/2014/main" id="{1DFB765B-4C8E-8595-261A-29A153B11565}"/>
              </a:ext>
            </a:extLst>
          </p:cNvPr>
          <p:cNvSpPr txBox="1"/>
          <p:nvPr/>
        </p:nvSpPr>
        <p:spPr>
          <a:xfrm>
            <a:off x="309252" y="316222"/>
            <a:ext cx="6097002" cy="369332"/>
          </a:xfrm>
          <a:prstGeom prst="rect">
            <a:avLst/>
          </a:prstGeom>
          <a:noFill/>
        </p:spPr>
        <p:txBody>
          <a:bodyPr wrap="square">
            <a:spAutoFit/>
          </a:bodyPr>
          <a:lstStyle/>
          <a:p>
            <a:r>
              <a:rPr lang="en-US" sz="1800" b="1" dirty="0">
                <a:solidFill>
                  <a:srgbClr val="0C4A60"/>
                </a:solidFill>
                <a:latin typeface="Calibri" pitchFamily="34" charset="0"/>
                <a:ea typeface="Calibri" pitchFamily="34" charset="-122"/>
                <a:cs typeface="Calibri" pitchFamily="34" charset="-120"/>
              </a:rPr>
              <a:t>8 Tables in 3NF</a:t>
            </a:r>
            <a:endParaRPr lang="id-ID"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BUSINESS IMPACT</a:t>
            </a:r>
          </a:p>
          <a:p>
            <a:pPr>
              <a:defRPr sz="2800" b="1">
                <a:solidFill>
                  <a:srgbClr val="162D38"/>
                </a:solidFill>
                <a:latin typeface="Aptos"/>
              </a:defRPr>
            </a:pPr>
            <a:r>
              <a:t>Who Benefits From the Database?</a:t>
            </a:r>
          </a:p>
        </p:txBody>
      </p:sp>
      <p:sp>
        <p:nvSpPr>
          <p:cNvPr id="4" name="Rounded Rectangle 3"/>
          <p:cNvSpPr/>
          <p:nvPr/>
        </p:nvSpPr>
        <p:spPr>
          <a:xfrm>
            <a:off x="731520" y="1600200"/>
            <a:ext cx="3337560" cy="3383280"/>
          </a:xfrm>
          <a:prstGeom prst="roundRect">
            <a:avLst/>
          </a:prstGeom>
          <a:solidFill>
            <a:srgbClr val="DDEDF2"/>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64792"/>
            <a:ext cx="2971800" cy="411480"/>
          </a:xfrm>
          <a:prstGeom prst="rect">
            <a:avLst/>
          </a:prstGeom>
          <a:noFill/>
        </p:spPr>
        <p:txBody>
          <a:bodyPr wrap="none">
            <a:spAutoFit/>
          </a:bodyPr>
          <a:lstStyle/>
          <a:p>
            <a:pPr>
              <a:defRPr sz="1800" b="1">
                <a:solidFill>
                  <a:srgbClr val="00536D"/>
                </a:solidFill>
                <a:latin typeface="Aptos"/>
              </a:defRPr>
            </a:pPr>
            <a:r>
              <a:t>Front-desk Staff</a:t>
            </a:r>
          </a:p>
        </p:txBody>
      </p:sp>
      <p:sp>
        <p:nvSpPr>
          <p:cNvPr id="6" name="TextBox 5"/>
          <p:cNvSpPr txBox="1"/>
          <p:nvPr/>
        </p:nvSpPr>
        <p:spPr>
          <a:xfrm>
            <a:off x="914400" y="2286000"/>
            <a:ext cx="2971800" cy="2606040"/>
          </a:xfrm>
          <a:prstGeom prst="rect">
            <a:avLst/>
          </a:prstGeom>
          <a:noFill/>
        </p:spPr>
        <p:txBody>
          <a:bodyPr wrap="square">
            <a:spAutoFit/>
          </a:bodyPr>
          <a:lstStyle/>
          <a:p>
            <a:pPr>
              <a:defRPr sz="1500">
                <a:solidFill>
                  <a:srgbClr val="162D38"/>
                </a:solidFill>
                <a:latin typeface="Aptos"/>
              </a:defRPr>
            </a:pPr>
            <a:r>
              <a:t>• Faster booking search</a:t>
            </a:r>
          </a:p>
          <a:p>
            <a:pPr>
              <a:defRPr sz="1500">
                <a:solidFill>
                  <a:srgbClr val="162D38"/>
                </a:solidFill>
                <a:latin typeface="Aptos"/>
              </a:defRPr>
            </a:pPr>
            <a:r>
              <a:t>• Less repeated typing</a:t>
            </a:r>
          </a:p>
          <a:p>
            <a:pPr>
              <a:defRPr sz="1500">
                <a:solidFill>
                  <a:srgbClr val="162D38"/>
                </a:solidFill>
                <a:latin typeface="Aptos"/>
              </a:defRPr>
            </a:pPr>
            <a:r>
              <a:t>• Fewer wrong room/service records</a:t>
            </a:r>
          </a:p>
        </p:txBody>
      </p:sp>
      <p:sp>
        <p:nvSpPr>
          <p:cNvPr id="7" name="Rounded Rectangle 6"/>
          <p:cNvSpPr/>
          <p:nvPr/>
        </p:nvSpPr>
        <p:spPr>
          <a:xfrm>
            <a:off x="4434840" y="1600200"/>
            <a:ext cx="3337560" cy="3383280"/>
          </a:xfrm>
          <a:prstGeom prst="roundRect">
            <a:avLst/>
          </a:prstGeom>
          <a:solidFill>
            <a:srgbClr val="F9EED3"/>
          </a:solidFill>
          <a:ln w="15240">
            <a:solidFill>
              <a:srgbClr val="CA8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17720" y="1764792"/>
            <a:ext cx="2971800" cy="411480"/>
          </a:xfrm>
          <a:prstGeom prst="rect">
            <a:avLst/>
          </a:prstGeom>
          <a:noFill/>
        </p:spPr>
        <p:txBody>
          <a:bodyPr wrap="none">
            <a:spAutoFit/>
          </a:bodyPr>
          <a:lstStyle/>
          <a:p>
            <a:pPr>
              <a:defRPr sz="1800" b="1">
                <a:solidFill>
                  <a:srgbClr val="00536D"/>
                </a:solidFill>
                <a:latin typeface="Aptos"/>
              </a:defRPr>
            </a:pPr>
            <a:r>
              <a:t>Hotel Management</a:t>
            </a:r>
          </a:p>
        </p:txBody>
      </p:sp>
      <p:sp>
        <p:nvSpPr>
          <p:cNvPr id="9" name="TextBox 8"/>
          <p:cNvSpPr txBox="1"/>
          <p:nvPr/>
        </p:nvSpPr>
        <p:spPr>
          <a:xfrm>
            <a:off x="4617720" y="2286000"/>
            <a:ext cx="2971800" cy="2606040"/>
          </a:xfrm>
          <a:prstGeom prst="rect">
            <a:avLst/>
          </a:prstGeom>
          <a:noFill/>
        </p:spPr>
        <p:txBody>
          <a:bodyPr wrap="square">
            <a:spAutoFit/>
          </a:bodyPr>
          <a:lstStyle/>
          <a:p>
            <a:pPr>
              <a:defRPr sz="1500">
                <a:solidFill>
                  <a:srgbClr val="162D38"/>
                </a:solidFill>
                <a:latin typeface="Aptos"/>
              </a:defRPr>
            </a:pPr>
            <a:r>
              <a:t>• Cleaner occupancy reports</a:t>
            </a:r>
          </a:p>
          <a:p>
            <a:pPr>
              <a:defRPr sz="1500">
                <a:solidFill>
                  <a:srgbClr val="162D38"/>
                </a:solidFill>
                <a:latin typeface="Aptos"/>
              </a:defRPr>
            </a:pPr>
            <a:r>
              <a:t>• More reliable revenue data</a:t>
            </a:r>
          </a:p>
          <a:p>
            <a:pPr>
              <a:defRPr sz="1500">
                <a:solidFill>
                  <a:srgbClr val="162D38"/>
                </a:solidFill>
                <a:latin typeface="Aptos"/>
              </a:defRPr>
            </a:pPr>
            <a:r>
              <a:t>• Easier branch-level analysis</a:t>
            </a:r>
          </a:p>
        </p:txBody>
      </p:sp>
      <p:sp>
        <p:nvSpPr>
          <p:cNvPr id="10" name="Rounded Rectangle 9"/>
          <p:cNvSpPr/>
          <p:nvPr/>
        </p:nvSpPr>
        <p:spPr>
          <a:xfrm>
            <a:off x="8138160" y="1600200"/>
            <a:ext cx="3337560" cy="3383280"/>
          </a:xfrm>
          <a:prstGeom prst="roundRect">
            <a:avLst/>
          </a:prstGeom>
          <a:solidFill>
            <a:srgbClr val="DDEDF2"/>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764792"/>
            <a:ext cx="2971800" cy="411480"/>
          </a:xfrm>
          <a:prstGeom prst="rect">
            <a:avLst/>
          </a:prstGeom>
          <a:noFill/>
        </p:spPr>
        <p:txBody>
          <a:bodyPr wrap="none">
            <a:spAutoFit/>
          </a:bodyPr>
          <a:lstStyle/>
          <a:p>
            <a:pPr>
              <a:defRPr sz="1800" b="1">
                <a:solidFill>
                  <a:srgbClr val="00536D"/>
                </a:solidFill>
                <a:latin typeface="Aptos"/>
              </a:defRPr>
            </a:pPr>
            <a:r>
              <a:t>Guests</a:t>
            </a:r>
          </a:p>
        </p:txBody>
      </p:sp>
      <p:sp>
        <p:nvSpPr>
          <p:cNvPr id="12" name="TextBox 11"/>
          <p:cNvSpPr txBox="1"/>
          <p:nvPr/>
        </p:nvSpPr>
        <p:spPr>
          <a:xfrm>
            <a:off x="8321040" y="2286000"/>
            <a:ext cx="2971800" cy="2606040"/>
          </a:xfrm>
          <a:prstGeom prst="rect">
            <a:avLst/>
          </a:prstGeom>
          <a:noFill/>
        </p:spPr>
        <p:txBody>
          <a:bodyPr wrap="square">
            <a:spAutoFit/>
          </a:bodyPr>
          <a:lstStyle/>
          <a:p>
            <a:pPr>
              <a:defRPr sz="1500">
                <a:solidFill>
                  <a:srgbClr val="162D38"/>
                </a:solidFill>
                <a:latin typeface="Aptos"/>
              </a:defRPr>
            </a:pPr>
            <a:r>
              <a:t>• Faster service</a:t>
            </a:r>
          </a:p>
          <a:p>
            <a:pPr>
              <a:defRPr sz="1500">
                <a:solidFill>
                  <a:srgbClr val="162D38"/>
                </a:solidFill>
                <a:latin typeface="Aptos"/>
              </a:defRPr>
            </a:pPr>
            <a:r>
              <a:t>• Correct booking details</a:t>
            </a:r>
          </a:p>
          <a:p>
            <a:pPr>
              <a:defRPr sz="1500">
                <a:solidFill>
                  <a:srgbClr val="162D38"/>
                </a:solidFill>
                <a:latin typeface="Aptos"/>
              </a:defRPr>
            </a:pPr>
            <a:r>
              <a:t>• Better check-in experience</a:t>
            </a:r>
          </a:p>
        </p:txBody>
      </p:sp>
      <p:sp>
        <p:nvSpPr>
          <p:cNvPr id="13" name="TextBox 12"/>
          <p:cNvSpPr txBox="1"/>
          <p:nvPr/>
        </p:nvSpPr>
        <p:spPr>
          <a:xfrm>
            <a:off x="1097280" y="5486400"/>
            <a:ext cx="10058400" cy="457200"/>
          </a:xfrm>
          <a:prstGeom prst="rect">
            <a:avLst/>
          </a:prstGeom>
          <a:noFill/>
        </p:spPr>
        <p:txBody>
          <a:bodyPr wrap="square">
            <a:normAutofit fontScale="92500"/>
          </a:bodyPr>
          <a:lstStyle/>
          <a:p>
            <a:pPr algn="ctr">
              <a:defRPr sz="1700" b="1">
                <a:solidFill>
                  <a:srgbClr val="00536D"/>
                </a:solidFill>
                <a:latin typeface="Aptos"/>
              </a:defRPr>
            </a:pPr>
            <a:r>
              <a:t>A normalized database is not only cleaner technically — it improves daily operations for the hotel network.</a:t>
            </a:r>
          </a:p>
        </p:txBody>
      </p:sp>
      <p:sp>
        <p:nvSpPr>
          <p:cNvPr id="14" name="TextBox 13"/>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15" name="TextBox 14"/>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BEFORE vs AFTER</a:t>
            </a:r>
          </a:p>
          <a:p>
            <a:pPr>
              <a:defRPr sz="2800" b="1">
                <a:solidFill>
                  <a:srgbClr val="162D38"/>
                </a:solidFill>
                <a:latin typeface="Aptos"/>
              </a:defRPr>
            </a:pPr>
            <a:r>
              <a:t>From One Big Table to 8 Clean 3NF Tables</a:t>
            </a:r>
          </a:p>
        </p:txBody>
      </p:sp>
      <p:sp>
        <p:nvSpPr>
          <p:cNvPr id="4" name="Rounded Rectangle 3"/>
          <p:cNvSpPr/>
          <p:nvPr/>
        </p:nvSpPr>
        <p:spPr>
          <a:xfrm>
            <a:off x="777240" y="1371600"/>
            <a:ext cx="5166360" cy="4206240"/>
          </a:xfrm>
          <a:prstGeom prst="roundRect">
            <a:avLst/>
          </a:prstGeom>
          <a:solidFill>
            <a:srgbClr val="FFF0F0"/>
          </a:solidFill>
          <a:ln>
            <a:solidFill>
              <a:srgbClr val="AE3A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63640" y="1371600"/>
            <a:ext cx="5166360" cy="4206240"/>
          </a:xfrm>
          <a:prstGeom prst="roundRect">
            <a:avLst/>
          </a:prstGeom>
          <a:solidFill>
            <a:srgbClr val="EBF9F1"/>
          </a:solidFill>
          <a:ln>
            <a:solidFill>
              <a:srgbClr val="378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645920"/>
            <a:ext cx="4663440" cy="411480"/>
          </a:xfrm>
          <a:prstGeom prst="rect">
            <a:avLst/>
          </a:prstGeom>
          <a:noFill/>
        </p:spPr>
        <p:txBody>
          <a:bodyPr wrap="square">
            <a:normAutofit lnSpcReduction="10000"/>
          </a:bodyPr>
          <a:lstStyle/>
          <a:p>
            <a:pPr algn="ctr">
              <a:defRPr sz="2200" b="1">
                <a:solidFill>
                  <a:srgbClr val="AE3A37"/>
                </a:solidFill>
                <a:latin typeface="Aptos"/>
              </a:defRPr>
            </a:pPr>
            <a:r>
              <a:t>BEFORE</a:t>
            </a:r>
          </a:p>
        </p:txBody>
      </p:sp>
      <p:sp>
        <p:nvSpPr>
          <p:cNvPr id="7" name="TextBox 6"/>
          <p:cNvSpPr txBox="1"/>
          <p:nvPr/>
        </p:nvSpPr>
        <p:spPr>
          <a:xfrm>
            <a:off x="1143000" y="2240280"/>
            <a:ext cx="4389120" cy="2468880"/>
          </a:xfrm>
          <a:prstGeom prst="rect">
            <a:avLst/>
          </a:prstGeom>
          <a:noFill/>
        </p:spPr>
        <p:txBody>
          <a:bodyPr wrap="square">
            <a:normAutofit/>
          </a:bodyPr>
          <a:lstStyle/>
          <a:p>
            <a:pPr algn="l">
              <a:defRPr sz="1600" b="0">
                <a:solidFill>
                  <a:srgbClr val="162D38"/>
                </a:solidFill>
                <a:latin typeface="Aptos"/>
              </a:defRPr>
            </a:pPr>
            <a:r>
              <a:t>One BookingRecord table</a:t>
            </a:r>
            <a:br/>
            <a:br/>
            <a:r>
              <a:t>• Guest, hotel, room, and service data mixed together</a:t>
            </a:r>
            <a:br/>
            <a:r>
              <a:t>• Repeated values</a:t>
            </a:r>
            <a:br/>
            <a:r>
              <a:t>• Insertion, update, and deletion anomalies</a:t>
            </a:r>
            <a:br/>
            <a:r>
              <a:t>• Harder to query reliably</a:t>
            </a:r>
          </a:p>
        </p:txBody>
      </p:sp>
      <p:sp>
        <p:nvSpPr>
          <p:cNvPr id="8" name="TextBox 7"/>
          <p:cNvSpPr txBox="1"/>
          <p:nvPr/>
        </p:nvSpPr>
        <p:spPr>
          <a:xfrm>
            <a:off x="6492240" y="1645920"/>
            <a:ext cx="4663440" cy="411480"/>
          </a:xfrm>
          <a:prstGeom prst="rect">
            <a:avLst/>
          </a:prstGeom>
          <a:noFill/>
        </p:spPr>
        <p:txBody>
          <a:bodyPr wrap="square">
            <a:normAutofit lnSpcReduction="10000"/>
          </a:bodyPr>
          <a:lstStyle/>
          <a:p>
            <a:pPr algn="ctr">
              <a:defRPr sz="2200" b="1">
                <a:solidFill>
                  <a:srgbClr val="378755"/>
                </a:solidFill>
                <a:latin typeface="Aptos"/>
              </a:defRPr>
            </a:pPr>
            <a:r>
              <a:t>AFTER</a:t>
            </a:r>
          </a:p>
        </p:txBody>
      </p:sp>
      <p:sp>
        <p:nvSpPr>
          <p:cNvPr id="9" name="TextBox 8"/>
          <p:cNvSpPr txBox="1"/>
          <p:nvPr/>
        </p:nvSpPr>
        <p:spPr>
          <a:xfrm>
            <a:off x="6629400" y="2240280"/>
            <a:ext cx="4389120" cy="2468880"/>
          </a:xfrm>
          <a:prstGeom prst="rect">
            <a:avLst/>
          </a:prstGeom>
          <a:noFill/>
        </p:spPr>
        <p:txBody>
          <a:bodyPr wrap="square">
            <a:normAutofit/>
          </a:bodyPr>
          <a:lstStyle/>
          <a:p>
            <a:pPr algn="l">
              <a:defRPr sz="1600" b="0">
                <a:solidFill>
                  <a:srgbClr val="162D38"/>
                </a:solidFill>
                <a:latin typeface="Aptos"/>
              </a:defRPr>
            </a:pPr>
            <a:r>
              <a:t>8 tables in 3NF</a:t>
            </a:r>
            <a:br/>
            <a:br/>
            <a:r>
              <a:t>• Separate Guest, Hotel, Room, RoomType, Service, Booking tables</a:t>
            </a:r>
            <a:br/>
            <a:r>
              <a:t>• PK/FK relationships</a:t>
            </a:r>
            <a:br/>
            <a:r>
              <a:t>• Less redundancy</a:t>
            </a:r>
            <a:br/>
            <a:r>
              <a:t>• Easier JOIN queries and validation</a:t>
            </a:r>
          </a:p>
        </p:txBody>
      </p:sp>
      <p:sp>
        <p:nvSpPr>
          <p:cNvPr id="10" name="TextBox 9"/>
          <p:cNvSpPr txBox="1"/>
          <p:nvPr/>
        </p:nvSpPr>
        <p:spPr>
          <a:xfrm>
            <a:off x="1188720" y="5806440"/>
            <a:ext cx="9784080" cy="411480"/>
          </a:xfrm>
          <a:prstGeom prst="rect">
            <a:avLst/>
          </a:prstGeom>
          <a:noFill/>
        </p:spPr>
        <p:txBody>
          <a:bodyPr wrap="square">
            <a:normAutofit/>
          </a:bodyPr>
          <a:lstStyle/>
          <a:p>
            <a:pPr algn="ctr">
              <a:defRPr sz="1700" b="1">
                <a:solidFill>
                  <a:srgbClr val="00536D"/>
                </a:solidFill>
                <a:latin typeface="Aptos"/>
              </a:defRPr>
            </a:pPr>
            <a:r>
              <a:t>Normalization keeps the same data, but reorganizes it into a safer and more scalable structure.</a:t>
            </a:r>
          </a:p>
        </p:txBody>
      </p:sp>
      <p:sp>
        <p:nvSpPr>
          <p:cNvPr id="11" name="TextBox 10"/>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12" name="TextBox 11"/>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MYSQL RESULT</a:t>
            </a:r>
          </a:p>
          <a:p>
            <a:pPr>
              <a:defRPr sz="2800" b="1">
                <a:solidFill>
                  <a:srgbClr val="162D38"/>
                </a:solidFill>
                <a:latin typeface="Aptos"/>
              </a:defRPr>
            </a:pPr>
            <a:r>
              <a:t>Implementation Proof &amp; Final Outcome</a:t>
            </a:r>
          </a:p>
        </p:txBody>
      </p:sp>
      <p:sp>
        <p:nvSpPr>
          <p:cNvPr id="4" name="TextBox 3"/>
          <p:cNvSpPr txBox="1"/>
          <p:nvPr/>
        </p:nvSpPr>
        <p:spPr>
          <a:xfrm>
            <a:off x="7772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CREATE TABLE + FK</a:t>
            </a:r>
          </a:p>
        </p:txBody>
      </p:sp>
      <p:sp>
        <p:nvSpPr>
          <p:cNvPr id="5" name="Rounded Rectangle 4"/>
          <p:cNvSpPr/>
          <p:nvPr/>
        </p:nvSpPr>
        <p:spPr>
          <a:xfrm>
            <a:off x="6858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73351"/>
            <a:ext cx="3108960" cy="1645920"/>
          </a:xfrm>
          <a:prstGeom prst="rect">
            <a:avLst/>
          </a:prstGeom>
          <a:noFill/>
        </p:spPr>
        <p:txBody>
          <a:bodyPr wrap="square">
            <a:spAutoFit/>
          </a:bodyPr>
          <a:lstStyle/>
          <a:p>
            <a:pPr>
              <a:defRPr sz="1100">
                <a:solidFill>
                  <a:srgbClr val="162D38"/>
                </a:solidFill>
                <a:latin typeface="Aptos"/>
              </a:defRPr>
            </a:pPr>
            <a:r>
              <a:t>CREATE TABLE Room (</a:t>
            </a:r>
          </a:p>
          <a:p>
            <a:pPr>
              <a:defRPr sz="1100">
                <a:solidFill>
                  <a:srgbClr val="162D38"/>
                </a:solidFill>
                <a:latin typeface="Aptos"/>
              </a:defRPr>
            </a:pPr>
            <a:r>
              <a:t>  RoomNo INT PRIMARY KEY,</a:t>
            </a:r>
          </a:p>
          <a:p>
            <a:pPr>
              <a:defRPr sz="1100">
                <a:solidFill>
                  <a:srgbClr val="162D38"/>
                </a:solidFill>
                <a:latin typeface="Aptos"/>
              </a:defRPr>
            </a:pPr>
            <a:r>
              <a:t>  HotelID VARCHAR(5),</a:t>
            </a:r>
          </a:p>
          <a:p>
            <a:pPr>
              <a:defRPr sz="1100">
                <a:solidFill>
                  <a:srgbClr val="162D38"/>
                </a:solidFill>
                <a:latin typeface="Aptos"/>
              </a:defRPr>
            </a:pPr>
            <a:r>
              <a:t>  RoomTypeID VARCHAR(5),</a:t>
            </a:r>
          </a:p>
          <a:p>
            <a:pPr>
              <a:defRPr sz="1100">
                <a:solidFill>
                  <a:srgbClr val="162D38"/>
                </a:solidFill>
                <a:latin typeface="Aptos"/>
              </a:defRPr>
            </a:pPr>
            <a:r>
              <a:t>  FOREIGN KEY (HotelID)</a:t>
            </a:r>
          </a:p>
          <a:p>
            <a:pPr>
              <a:defRPr sz="1100">
                <a:solidFill>
                  <a:srgbClr val="162D38"/>
                </a:solidFill>
                <a:latin typeface="Aptos"/>
              </a:defRPr>
            </a:pPr>
            <a:r>
              <a:t>    REFERENCES Hotel(HotelID)</a:t>
            </a:r>
          </a:p>
          <a:p>
            <a:pPr>
              <a:defRPr sz="1100">
                <a:solidFill>
                  <a:srgbClr val="162D38"/>
                </a:solidFill>
                <a:latin typeface="Aptos"/>
              </a:defRPr>
            </a:pPr>
            <a:r>
              <a:t>);</a:t>
            </a:r>
          </a:p>
        </p:txBody>
      </p:sp>
      <p:sp>
        <p:nvSpPr>
          <p:cNvPr id="7" name="TextBox 6"/>
          <p:cNvSpPr txBox="1"/>
          <p:nvPr/>
        </p:nvSpPr>
        <p:spPr>
          <a:xfrm>
            <a:off x="44348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JOIN Verification</a:t>
            </a:r>
          </a:p>
        </p:txBody>
      </p:sp>
      <p:sp>
        <p:nvSpPr>
          <p:cNvPr id="8" name="Rounded Rectangle 7"/>
          <p:cNvSpPr/>
          <p:nvPr/>
        </p:nvSpPr>
        <p:spPr>
          <a:xfrm>
            <a:off x="43434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26280" y="1673351"/>
            <a:ext cx="3108960" cy="1645920"/>
          </a:xfrm>
          <a:prstGeom prst="rect">
            <a:avLst/>
          </a:prstGeom>
          <a:noFill/>
        </p:spPr>
        <p:txBody>
          <a:bodyPr wrap="square">
            <a:spAutoFit/>
          </a:bodyPr>
          <a:lstStyle/>
          <a:p>
            <a:pPr>
              <a:defRPr sz="1100">
                <a:solidFill>
                  <a:srgbClr val="162D38"/>
                </a:solidFill>
                <a:latin typeface="Aptos"/>
              </a:defRPr>
            </a:pPr>
            <a:r>
              <a:t>SELECT b.BookingID,</a:t>
            </a:r>
          </a:p>
          <a:p>
            <a:pPr>
              <a:defRPr sz="1100">
                <a:solidFill>
                  <a:srgbClr val="162D38"/>
                </a:solidFill>
                <a:latin typeface="Aptos"/>
              </a:defRPr>
            </a:pPr>
            <a:r>
              <a:t>       g.GuestName,</a:t>
            </a:r>
          </a:p>
          <a:p>
            <a:pPr>
              <a:defRPr sz="1100">
                <a:solidFill>
                  <a:srgbClr val="162D38"/>
                </a:solidFill>
                <a:latin typeface="Aptos"/>
              </a:defRPr>
            </a:pPr>
            <a:r>
              <a:t>       h.HotelName,</a:t>
            </a:r>
          </a:p>
          <a:p>
            <a:pPr>
              <a:defRPr sz="1100">
                <a:solidFill>
                  <a:srgbClr val="162D38"/>
                </a:solidFill>
                <a:latin typeface="Aptos"/>
              </a:defRPr>
            </a:pPr>
            <a:r>
              <a:t>       r.RoomNo</a:t>
            </a:r>
          </a:p>
          <a:p>
            <a:pPr>
              <a:defRPr sz="1100">
                <a:solidFill>
                  <a:srgbClr val="162D38"/>
                </a:solidFill>
                <a:latin typeface="Aptos"/>
              </a:defRPr>
            </a:pPr>
            <a:r>
              <a:t>FROM Booking b</a:t>
            </a:r>
          </a:p>
          <a:p>
            <a:pPr>
              <a:defRPr sz="1100">
                <a:solidFill>
                  <a:srgbClr val="162D38"/>
                </a:solidFill>
                <a:latin typeface="Aptos"/>
              </a:defRPr>
            </a:pPr>
            <a:r>
              <a:t>JOIN Guest g ...</a:t>
            </a:r>
          </a:p>
          <a:p>
            <a:pPr>
              <a:defRPr sz="1100">
                <a:solidFill>
                  <a:srgbClr val="162D38"/>
                </a:solidFill>
                <a:latin typeface="Aptos"/>
              </a:defRPr>
            </a:pPr>
            <a:r>
              <a:t>JOIN Room r ...;</a:t>
            </a:r>
          </a:p>
        </p:txBody>
      </p:sp>
      <p:sp>
        <p:nvSpPr>
          <p:cNvPr id="10" name="TextBox 9"/>
          <p:cNvSpPr txBox="1"/>
          <p:nvPr/>
        </p:nvSpPr>
        <p:spPr>
          <a:xfrm>
            <a:off x="80924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Row Count Check</a:t>
            </a:r>
          </a:p>
        </p:txBody>
      </p:sp>
      <p:sp>
        <p:nvSpPr>
          <p:cNvPr id="11" name="Rounded Rectangle 10"/>
          <p:cNvSpPr/>
          <p:nvPr/>
        </p:nvSpPr>
        <p:spPr>
          <a:xfrm>
            <a:off x="80010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83879" y="1673351"/>
            <a:ext cx="3108960" cy="1645920"/>
          </a:xfrm>
          <a:prstGeom prst="rect">
            <a:avLst/>
          </a:prstGeom>
          <a:noFill/>
        </p:spPr>
        <p:txBody>
          <a:bodyPr wrap="square">
            <a:spAutoFit/>
          </a:bodyPr>
          <a:lstStyle/>
          <a:p>
            <a:pPr>
              <a:defRPr sz="1100">
                <a:solidFill>
                  <a:srgbClr val="162D38"/>
                </a:solidFill>
                <a:latin typeface="Aptos"/>
              </a:defRPr>
            </a:pPr>
            <a:r>
              <a:t>Guest = 6</a:t>
            </a:r>
          </a:p>
          <a:p>
            <a:pPr>
              <a:defRPr sz="1100">
                <a:solidFill>
                  <a:srgbClr val="162D38"/>
                </a:solidFill>
                <a:latin typeface="Aptos"/>
              </a:defRPr>
            </a:pPr>
            <a:r>
              <a:t>Hotel = 5</a:t>
            </a:r>
          </a:p>
          <a:p>
            <a:pPr>
              <a:defRPr sz="1100">
                <a:solidFill>
                  <a:srgbClr val="162D38"/>
                </a:solidFill>
                <a:latin typeface="Aptos"/>
              </a:defRPr>
            </a:pPr>
            <a:r>
              <a:t>RoomType = 5</a:t>
            </a:r>
          </a:p>
          <a:p>
            <a:pPr>
              <a:defRPr sz="1100">
                <a:solidFill>
                  <a:srgbClr val="162D38"/>
                </a:solidFill>
                <a:latin typeface="Aptos"/>
              </a:defRPr>
            </a:pPr>
            <a:r>
              <a:t>Service = 5</a:t>
            </a:r>
          </a:p>
          <a:p>
            <a:pPr>
              <a:defRPr sz="1100">
                <a:solidFill>
                  <a:srgbClr val="162D38"/>
                </a:solidFill>
                <a:latin typeface="Aptos"/>
              </a:defRPr>
            </a:pPr>
            <a:r>
              <a:t>Room = 9</a:t>
            </a:r>
          </a:p>
          <a:p>
            <a:pPr>
              <a:defRPr sz="1100">
                <a:solidFill>
                  <a:srgbClr val="162D38"/>
                </a:solidFill>
                <a:latin typeface="Aptos"/>
              </a:defRPr>
            </a:pPr>
            <a:r>
              <a:t>Booking = 7</a:t>
            </a:r>
          </a:p>
          <a:p>
            <a:pPr>
              <a:defRPr sz="1100">
                <a:solidFill>
                  <a:srgbClr val="162D38"/>
                </a:solidFill>
                <a:latin typeface="Aptos"/>
              </a:defRPr>
            </a:pPr>
            <a:r>
              <a:t>BookingRoom = 9</a:t>
            </a:r>
          </a:p>
          <a:p>
            <a:pPr>
              <a:defRPr sz="1100">
                <a:solidFill>
                  <a:srgbClr val="162D38"/>
                </a:solidFill>
                <a:latin typeface="Aptos"/>
              </a:defRPr>
            </a:pPr>
            <a:r>
              <a:t>BookingService = 12</a:t>
            </a:r>
          </a:p>
        </p:txBody>
      </p:sp>
      <p:sp>
        <p:nvSpPr>
          <p:cNvPr id="14" name="TextBox 13"/>
          <p:cNvSpPr txBox="1"/>
          <p:nvPr/>
        </p:nvSpPr>
        <p:spPr>
          <a:xfrm>
            <a:off x="1058731" y="3524724"/>
            <a:ext cx="2910293" cy="535212"/>
          </a:xfrm>
          <a:prstGeom prst="rect">
            <a:avLst/>
          </a:prstGeom>
          <a:noFill/>
        </p:spPr>
        <p:txBody>
          <a:bodyPr wrap="square">
            <a:normAutofit fontScale="92500" lnSpcReduction="10000"/>
          </a:bodyPr>
          <a:lstStyle/>
          <a:p>
            <a:pPr>
              <a:defRPr sz="1700" b="1">
                <a:solidFill>
                  <a:srgbClr val="00536D"/>
                </a:solidFill>
                <a:latin typeface="Aptos"/>
              </a:defRPr>
            </a:pPr>
            <a:r>
              <a:rPr lang="en-US" sz="1700" b="1" dirty="0"/>
              <a:t>phpMyAdmin screenshot run code(row count check)</a:t>
            </a:r>
            <a:endParaRPr dirty="0"/>
          </a:p>
        </p:txBody>
      </p:sp>
      <p:sp>
        <p:nvSpPr>
          <p:cNvPr id="15" name="TextBox 14"/>
          <p:cNvSpPr txBox="1"/>
          <p:nvPr/>
        </p:nvSpPr>
        <p:spPr>
          <a:xfrm>
            <a:off x="1097280" y="4617720"/>
            <a:ext cx="9966960" cy="365760"/>
          </a:xfrm>
          <a:prstGeom prst="rect">
            <a:avLst/>
          </a:prstGeom>
          <a:noFill/>
        </p:spPr>
        <p:txBody>
          <a:bodyPr wrap="square">
            <a:normAutofit/>
          </a:bodyPr>
          <a:lstStyle/>
          <a:p>
            <a:pPr algn="l">
              <a:defRPr sz="1500" b="1">
                <a:solidFill>
                  <a:srgbClr val="162D38"/>
                </a:solidFill>
                <a:latin typeface="Aptos"/>
              </a:defRPr>
            </a:pPr>
            <a:endParaRPr dirty="0"/>
          </a:p>
        </p:txBody>
      </p:sp>
      <p:sp>
        <p:nvSpPr>
          <p:cNvPr id="17" name="TextBox 16"/>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18" name="TextBox 17"/>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13</a:t>
            </a:r>
          </a:p>
        </p:txBody>
      </p:sp>
      <p:pic>
        <p:nvPicPr>
          <p:cNvPr id="20" name="Picture 19">
            <a:extLst>
              <a:ext uri="{FF2B5EF4-FFF2-40B4-BE49-F238E27FC236}">
                <a16:creationId xmlns:a16="http://schemas.microsoft.com/office/drawing/2014/main" id="{680369F5-8679-F264-79A0-17C9D60E7B1C}"/>
              </a:ext>
            </a:extLst>
          </p:cNvPr>
          <p:cNvPicPr>
            <a:picLocks noChangeAspect="1"/>
          </p:cNvPicPr>
          <p:nvPr/>
        </p:nvPicPr>
        <p:blipFill>
          <a:blip r:embed="rId3"/>
          <a:stretch>
            <a:fillRect/>
          </a:stretch>
        </p:blipFill>
        <p:spPr>
          <a:xfrm>
            <a:off x="1250226" y="4124307"/>
            <a:ext cx="2910294" cy="2057687"/>
          </a:xfrm>
          <a:prstGeom prst="rect">
            <a:avLst/>
          </a:prstGeom>
        </p:spPr>
      </p:pic>
      <p:sp>
        <p:nvSpPr>
          <p:cNvPr id="22" name="TextBox 21">
            <a:extLst>
              <a:ext uri="{FF2B5EF4-FFF2-40B4-BE49-F238E27FC236}">
                <a16:creationId xmlns:a16="http://schemas.microsoft.com/office/drawing/2014/main" id="{523999F8-AF5F-6E62-49A5-D3A39D2094DE}"/>
              </a:ext>
            </a:extLst>
          </p:cNvPr>
          <p:cNvSpPr txBox="1"/>
          <p:nvPr/>
        </p:nvSpPr>
        <p:spPr>
          <a:xfrm>
            <a:off x="6903720" y="3593591"/>
            <a:ext cx="2194560" cy="320040"/>
          </a:xfrm>
          <a:prstGeom prst="rect">
            <a:avLst/>
          </a:prstGeom>
          <a:noFill/>
        </p:spPr>
        <p:txBody>
          <a:bodyPr wrap="square">
            <a:normAutofit fontScale="92500" lnSpcReduction="10000"/>
          </a:bodyPr>
          <a:lstStyle/>
          <a:p>
            <a:pPr>
              <a:defRPr sz="1700" b="1">
                <a:solidFill>
                  <a:srgbClr val="00536D"/>
                </a:solidFill>
                <a:latin typeface="Aptos"/>
              </a:defRPr>
            </a:pPr>
            <a:r>
              <a:rPr lang="en-US" sz="1700" b="1" dirty="0"/>
              <a:t>Result</a:t>
            </a:r>
            <a:endParaRPr dirty="0"/>
          </a:p>
        </p:txBody>
      </p:sp>
      <p:pic>
        <p:nvPicPr>
          <p:cNvPr id="24" name="Picture 23">
            <a:extLst>
              <a:ext uri="{FF2B5EF4-FFF2-40B4-BE49-F238E27FC236}">
                <a16:creationId xmlns:a16="http://schemas.microsoft.com/office/drawing/2014/main" id="{943536DA-F57F-91A2-D4C6-409A0F188D13}"/>
              </a:ext>
            </a:extLst>
          </p:cNvPr>
          <p:cNvPicPr>
            <a:picLocks noChangeAspect="1"/>
          </p:cNvPicPr>
          <p:nvPr/>
        </p:nvPicPr>
        <p:blipFill>
          <a:blip r:embed="rId4"/>
          <a:stretch>
            <a:fillRect/>
          </a:stretch>
        </p:blipFill>
        <p:spPr>
          <a:xfrm>
            <a:off x="6946400" y="3913631"/>
            <a:ext cx="2217920" cy="23859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DD566F4-FDC3-C5CE-A54F-7D268CCB46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4D87D5-765F-5A15-6C1C-80F40A60EAD5}"/>
              </a:ext>
            </a:extLst>
          </p:cNvPr>
          <p:cNvSpPr/>
          <p:nvPr/>
        </p:nvSpPr>
        <p:spPr>
          <a:xfrm>
            <a:off x="502920" y="475488"/>
            <a:ext cx="146304" cy="438912"/>
          </a:xfrm>
          <a:prstGeom prst="rect">
            <a:avLst/>
          </a:prstGeom>
          <a:solidFill>
            <a:srgbClr val="005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02E349F-D883-6B3A-90B8-E4995A7D4A77}"/>
              </a:ext>
            </a:extLst>
          </p:cNvPr>
          <p:cNvSpPr txBox="1"/>
          <p:nvPr/>
        </p:nvSpPr>
        <p:spPr>
          <a:xfrm>
            <a:off x="868680" y="384048"/>
            <a:ext cx="10698480" cy="685800"/>
          </a:xfrm>
          <a:prstGeom prst="rect">
            <a:avLst/>
          </a:prstGeom>
          <a:noFill/>
        </p:spPr>
        <p:txBody>
          <a:bodyPr wrap="none" lIns="0" tIns="0" rIns="0" bIns="0">
            <a:spAutoFit/>
          </a:bodyPr>
          <a:lstStyle/>
          <a:p>
            <a:pPr>
              <a:defRPr sz="1200" b="1">
                <a:solidFill>
                  <a:srgbClr val="00536D"/>
                </a:solidFill>
                <a:latin typeface="Aptos"/>
              </a:defRPr>
            </a:pPr>
            <a:r>
              <a:t>MYSQL RESULT</a:t>
            </a:r>
          </a:p>
          <a:p>
            <a:pPr>
              <a:defRPr sz="2800" b="1">
                <a:solidFill>
                  <a:srgbClr val="162D38"/>
                </a:solidFill>
                <a:latin typeface="Aptos"/>
              </a:defRPr>
            </a:pPr>
            <a:r>
              <a:t>Implementation Proof &amp; Final Outcome</a:t>
            </a:r>
          </a:p>
        </p:txBody>
      </p:sp>
      <p:sp>
        <p:nvSpPr>
          <p:cNvPr id="4" name="TextBox 3">
            <a:extLst>
              <a:ext uri="{FF2B5EF4-FFF2-40B4-BE49-F238E27FC236}">
                <a16:creationId xmlns:a16="http://schemas.microsoft.com/office/drawing/2014/main" id="{08CD902B-074A-A458-1887-0FCE9D415898}"/>
              </a:ext>
            </a:extLst>
          </p:cNvPr>
          <p:cNvSpPr txBox="1"/>
          <p:nvPr/>
        </p:nvSpPr>
        <p:spPr>
          <a:xfrm>
            <a:off x="7772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CREATE TABLE + FK</a:t>
            </a:r>
          </a:p>
        </p:txBody>
      </p:sp>
      <p:sp>
        <p:nvSpPr>
          <p:cNvPr id="5" name="Rounded Rectangle 4">
            <a:extLst>
              <a:ext uri="{FF2B5EF4-FFF2-40B4-BE49-F238E27FC236}">
                <a16:creationId xmlns:a16="http://schemas.microsoft.com/office/drawing/2014/main" id="{97DCACA8-A90D-642E-9E3F-EEABD4FE2DFD}"/>
              </a:ext>
            </a:extLst>
          </p:cNvPr>
          <p:cNvSpPr/>
          <p:nvPr/>
        </p:nvSpPr>
        <p:spPr>
          <a:xfrm>
            <a:off x="6858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A6E40EC-79AC-BD30-770D-929B60A933B2}"/>
              </a:ext>
            </a:extLst>
          </p:cNvPr>
          <p:cNvSpPr txBox="1"/>
          <p:nvPr/>
        </p:nvSpPr>
        <p:spPr>
          <a:xfrm>
            <a:off x="868680" y="1673351"/>
            <a:ext cx="3108960" cy="1645920"/>
          </a:xfrm>
          <a:prstGeom prst="rect">
            <a:avLst/>
          </a:prstGeom>
          <a:noFill/>
        </p:spPr>
        <p:txBody>
          <a:bodyPr wrap="square">
            <a:spAutoFit/>
          </a:bodyPr>
          <a:lstStyle/>
          <a:p>
            <a:pPr>
              <a:defRPr sz="1100">
                <a:solidFill>
                  <a:srgbClr val="162D38"/>
                </a:solidFill>
                <a:latin typeface="Aptos"/>
              </a:defRPr>
            </a:pPr>
            <a:r>
              <a:t>CREATE TABLE Room (</a:t>
            </a:r>
          </a:p>
          <a:p>
            <a:pPr>
              <a:defRPr sz="1100">
                <a:solidFill>
                  <a:srgbClr val="162D38"/>
                </a:solidFill>
                <a:latin typeface="Aptos"/>
              </a:defRPr>
            </a:pPr>
            <a:r>
              <a:t>  RoomNo INT PRIMARY KEY,</a:t>
            </a:r>
          </a:p>
          <a:p>
            <a:pPr>
              <a:defRPr sz="1100">
                <a:solidFill>
                  <a:srgbClr val="162D38"/>
                </a:solidFill>
                <a:latin typeface="Aptos"/>
              </a:defRPr>
            </a:pPr>
            <a:r>
              <a:t>  HotelID VARCHAR(5),</a:t>
            </a:r>
          </a:p>
          <a:p>
            <a:pPr>
              <a:defRPr sz="1100">
                <a:solidFill>
                  <a:srgbClr val="162D38"/>
                </a:solidFill>
                <a:latin typeface="Aptos"/>
              </a:defRPr>
            </a:pPr>
            <a:r>
              <a:t>  RoomTypeID VARCHAR(5),</a:t>
            </a:r>
          </a:p>
          <a:p>
            <a:pPr>
              <a:defRPr sz="1100">
                <a:solidFill>
                  <a:srgbClr val="162D38"/>
                </a:solidFill>
                <a:latin typeface="Aptos"/>
              </a:defRPr>
            </a:pPr>
            <a:r>
              <a:t>  FOREIGN KEY (HotelID)</a:t>
            </a:r>
          </a:p>
          <a:p>
            <a:pPr>
              <a:defRPr sz="1100">
                <a:solidFill>
                  <a:srgbClr val="162D38"/>
                </a:solidFill>
                <a:latin typeface="Aptos"/>
              </a:defRPr>
            </a:pPr>
            <a:r>
              <a:t>    REFERENCES Hotel(HotelID)</a:t>
            </a:r>
          </a:p>
          <a:p>
            <a:pPr>
              <a:defRPr sz="1100">
                <a:solidFill>
                  <a:srgbClr val="162D38"/>
                </a:solidFill>
                <a:latin typeface="Aptos"/>
              </a:defRPr>
            </a:pPr>
            <a:r>
              <a:t>);</a:t>
            </a:r>
          </a:p>
        </p:txBody>
      </p:sp>
      <p:sp>
        <p:nvSpPr>
          <p:cNvPr id="7" name="TextBox 6">
            <a:extLst>
              <a:ext uri="{FF2B5EF4-FFF2-40B4-BE49-F238E27FC236}">
                <a16:creationId xmlns:a16="http://schemas.microsoft.com/office/drawing/2014/main" id="{18A703AB-36F3-065B-5590-8091152331CB}"/>
              </a:ext>
            </a:extLst>
          </p:cNvPr>
          <p:cNvSpPr txBox="1"/>
          <p:nvPr/>
        </p:nvSpPr>
        <p:spPr>
          <a:xfrm>
            <a:off x="44348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JOIN Verification</a:t>
            </a:r>
          </a:p>
        </p:txBody>
      </p:sp>
      <p:sp>
        <p:nvSpPr>
          <p:cNvPr id="8" name="Rounded Rectangle 7">
            <a:extLst>
              <a:ext uri="{FF2B5EF4-FFF2-40B4-BE49-F238E27FC236}">
                <a16:creationId xmlns:a16="http://schemas.microsoft.com/office/drawing/2014/main" id="{CC443EF5-45CE-2D4E-3732-FB4A116BA973}"/>
              </a:ext>
            </a:extLst>
          </p:cNvPr>
          <p:cNvSpPr/>
          <p:nvPr/>
        </p:nvSpPr>
        <p:spPr>
          <a:xfrm>
            <a:off x="43434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CFBE600-A20A-B227-4E3E-C1A7E582D02F}"/>
              </a:ext>
            </a:extLst>
          </p:cNvPr>
          <p:cNvSpPr txBox="1"/>
          <p:nvPr/>
        </p:nvSpPr>
        <p:spPr>
          <a:xfrm>
            <a:off x="4526280" y="1673351"/>
            <a:ext cx="3108960" cy="1645920"/>
          </a:xfrm>
          <a:prstGeom prst="rect">
            <a:avLst/>
          </a:prstGeom>
          <a:noFill/>
        </p:spPr>
        <p:txBody>
          <a:bodyPr wrap="square">
            <a:spAutoFit/>
          </a:bodyPr>
          <a:lstStyle/>
          <a:p>
            <a:pPr>
              <a:defRPr sz="1100">
                <a:solidFill>
                  <a:srgbClr val="162D38"/>
                </a:solidFill>
                <a:latin typeface="Aptos"/>
              </a:defRPr>
            </a:pPr>
            <a:r>
              <a:t>SELECT b.BookingID,</a:t>
            </a:r>
          </a:p>
          <a:p>
            <a:pPr>
              <a:defRPr sz="1100">
                <a:solidFill>
                  <a:srgbClr val="162D38"/>
                </a:solidFill>
                <a:latin typeface="Aptos"/>
              </a:defRPr>
            </a:pPr>
            <a:r>
              <a:t>       g.GuestName,</a:t>
            </a:r>
          </a:p>
          <a:p>
            <a:pPr>
              <a:defRPr sz="1100">
                <a:solidFill>
                  <a:srgbClr val="162D38"/>
                </a:solidFill>
                <a:latin typeface="Aptos"/>
              </a:defRPr>
            </a:pPr>
            <a:r>
              <a:t>       h.HotelName,</a:t>
            </a:r>
          </a:p>
          <a:p>
            <a:pPr>
              <a:defRPr sz="1100">
                <a:solidFill>
                  <a:srgbClr val="162D38"/>
                </a:solidFill>
                <a:latin typeface="Aptos"/>
              </a:defRPr>
            </a:pPr>
            <a:r>
              <a:t>       r.RoomNo</a:t>
            </a:r>
          </a:p>
          <a:p>
            <a:pPr>
              <a:defRPr sz="1100">
                <a:solidFill>
                  <a:srgbClr val="162D38"/>
                </a:solidFill>
                <a:latin typeface="Aptos"/>
              </a:defRPr>
            </a:pPr>
            <a:r>
              <a:t>FROM Booking b</a:t>
            </a:r>
          </a:p>
          <a:p>
            <a:pPr>
              <a:defRPr sz="1100">
                <a:solidFill>
                  <a:srgbClr val="162D38"/>
                </a:solidFill>
                <a:latin typeface="Aptos"/>
              </a:defRPr>
            </a:pPr>
            <a:r>
              <a:t>JOIN Guest g ...</a:t>
            </a:r>
          </a:p>
          <a:p>
            <a:pPr>
              <a:defRPr sz="1100">
                <a:solidFill>
                  <a:srgbClr val="162D38"/>
                </a:solidFill>
                <a:latin typeface="Aptos"/>
              </a:defRPr>
            </a:pPr>
            <a:r>
              <a:t>JOIN Room r ...;</a:t>
            </a:r>
          </a:p>
        </p:txBody>
      </p:sp>
      <p:sp>
        <p:nvSpPr>
          <p:cNvPr id="10" name="TextBox 9">
            <a:extLst>
              <a:ext uri="{FF2B5EF4-FFF2-40B4-BE49-F238E27FC236}">
                <a16:creationId xmlns:a16="http://schemas.microsoft.com/office/drawing/2014/main" id="{AAA2DE50-6DA1-EADD-0028-D0E53CB1AEB5}"/>
              </a:ext>
            </a:extLst>
          </p:cNvPr>
          <p:cNvSpPr txBox="1"/>
          <p:nvPr/>
        </p:nvSpPr>
        <p:spPr>
          <a:xfrm>
            <a:off x="8092440" y="1234440"/>
            <a:ext cx="3291840" cy="274320"/>
          </a:xfrm>
          <a:prstGeom prst="rect">
            <a:avLst/>
          </a:prstGeom>
          <a:noFill/>
        </p:spPr>
        <p:txBody>
          <a:bodyPr wrap="square">
            <a:normAutofit lnSpcReduction="10000"/>
          </a:bodyPr>
          <a:lstStyle/>
          <a:p>
            <a:pPr algn="l">
              <a:defRPr sz="1300" b="1">
                <a:solidFill>
                  <a:srgbClr val="00536D"/>
                </a:solidFill>
                <a:latin typeface="Aptos"/>
              </a:defRPr>
            </a:pPr>
            <a:r>
              <a:t>Row Count Check</a:t>
            </a:r>
          </a:p>
        </p:txBody>
      </p:sp>
      <p:sp>
        <p:nvSpPr>
          <p:cNvPr id="11" name="Rounded Rectangle 10">
            <a:extLst>
              <a:ext uri="{FF2B5EF4-FFF2-40B4-BE49-F238E27FC236}">
                <a16:creationId xmlns:a16="http://schemas.microsoft.com/office/drawing/2014/main" id="{7DDE0BB4-52E0-0CF4-90AF-20D39D9824F2}"/>
              </a:ext>
            </a:extLst>
          </p:cNvPr>
          <p:cNvSpPr/>
          <p:nvPr/>
        </p:nvSpPr>
        <p:spPr>
          <a:xfrm>
            <a:off x="8001000" y="1536192"/>
            <a:ext cx="3474720" cy="1920240"/>
          </a:xfrm>
          <a:prstGeom prst="roundRect">
            <a:avLst/>
          </a:prstGeom>
          <a:solidFill>
            <a:srgbClr val="F5F7F8"/>
          </a:solidFill>
          <a:ln w="15240">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FE59C84-BEF6-1AB4-739B-ECADFD45A46A}"/>
              </a:ext>
            </a:extLst>
          </p:cNvPr>
          <p:cNvSpPr txBox="1"/>
          <p:nvPr/>
        </p:nvSpPr>
        <p:spPr>
          <a:xfrm>
            <a:off x="8183879" y="1673351"/>
            <a:ext cx="3108960" cy="1645920"/>
          </a:xfrm>
          <a:prstGeom prst="rect">
            <a:avLst/>
          </a:prstGeom>
          <a:noFill/>
        </p:spPr>
        <p:txBody>
          <a:bodyPr wrap="square">
            <a:spAutoFit/>
          </a:bodyPr>
          <a:lstStyle/>
          <a:p>
            <a:pPr>
              <a:defRPr sz="1100">
                <a:solidFill>
                  <a:srgbClr val="162D38"/>
                </a:solidFill>
                <a:latin typeface="Aptos"/>
              </a:defRPr>
            </a:pPr>
            <a:r>
              <a:t>Guest = 6</a:t>
            </a:r>
          </a:p>
          <a:p>
            <a:pPr>
              <a:defRPr sz="1100">
                <a:solidFill>
                  <a:srgbClr val="162D38"/>
                </a:solidFill>
                <a:latin typeface="Aptos"/>
              </a:defRPr>
            </a:pPr>
            <a:r>
              <a:t>Hotel = 5</a:t>
            </a:r>
          </a:p>
          <a:p>
            <a:pPr>
              <a:defRPr sz="1100">
                <a:solidFill>
                  <a:srgbClr val="162D38"/>
                </a:solidFill>
                <a:latin typeface="Aptos"/>
              </a:defRPr>
            </a:pPr>
            <a:r>
              <a:t>RoomType = 5</a:t>
            </a:r>
          </a:p>
          <a:p>
            <a:pPr>
              <a:defRPr sz="1100">
                <a:solidFill>
                  <a:srgbClr val="162D38"/>
                </a:solidFill>
                <a:latin typeface="Aptos"/>
              </a:defRPr>
            </a:pPr>
            <a:r>
              <a:t>Service = 5</a:t>
            </a:r>
          </a:p>
          <a:p>
            <a:pPr>
              <a:defRPr sz="1100">
                <a:solidFill>
                  <a:srgbClr val="162D38"/>
                </a:solidFill>
                <a:latin typeface="Aptos"/>
              </a:defRPr>
            </a:pPr>
            <a:r>
              <a:t>Room = 9</a:t>
            </a:r>
          </a:p>
          <a:p>
            <a:pPr>
              <a:defRPr sz="1100">
                <a:solidFill>
                  <a:srgbClr val="162D38"/>
                </a:solidFill>
                <a:latin typeface="Aptos"/>
              </a:defRPr>
            </a:pPr>
            <a:r>
              <a:t>Booking = 7</a:t>
            </a:r>
          </a:p>
          <a:p>
            <a:pPr>
              <a:defRPr sz="1100">
                <a:solidFill>
                  <a:srgbClr val="162D38"/>
                </a:solidFill>
                <a:latin typeface="Aptos"/>
              </a:defRPr>
            </a:pPr>
            <a:r>
              <a:t>BookingRoom = 9</a:t>
            </a:r>
          </a:p>
          <a:p>
            <a:pPr>
              <a:defRPr sz="1100">
                <a:solidFill>
                  <a:srgbClr val="162D38"/>
                </a:solidFill>
                <a:latin typeface="Aptos"/>
              </a:defRPr>
            </a:pPr>
            <a:r>
              <a:t>BookingService = 12</a:t>
            </a:r>
          </a:p>
        </p:txBody>
      </p:sp>
      <p:sp>
        <p:nvSpPr>
          <p:cNvPr id="13" name="Rounded Rectangle 12">
            <a:extLst>
              <a:ext uri="{FF2B5EF4-FFF2-40B4-BE49-F238E27FC236}">
                <a16:creationId xmlns:a16="http://schemas.microsoft.com/office/drawing/2014/main" id="{B851F237-0DA7-9D22-5241-6315E398FA13}"/>
              </a:ext>
            </a:extLst>
          </p:cNvPr>
          <p:cNvSpPr/>
          <p:nvPr/>
        </p:nvSpPr>
        <p:spPr>
          <a:xfrm>
            <a:off x="868680" y="3977639"/>
            <a:ext cx="10424160" cy="1508760"/>
          </a:xfrm>
          <a:prstGeom prst="roundRect">
            <a:avLst/>
          </a:prstGeom>
          <a:solidFill>
            <a:srgbClr val="DDEDF2"/>
          </a:solidFill>
          <a:ln>
            <a:solidFill>
              <a:srgbClr val="005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9E8B20C-7823-32AB-540C-117370D452E0}"/>
              </a:ext>
            </a:extLst>
          </p:cNvPr>
          <p:cNvSpPr txBox="1"/>
          <p:nvPr/>
        </p:nvSpPr>
        <p:spPr>
          <a:xfrm>
            <a:off x="1097280" y="4160520"/>
            <a:ext cx="2194560" cy="320040"/>
          </a:xfrm>
          <a:prstGeom prst="rect">
            <a:avLst/>
          </a:prstGeom>
          <a:noFill/>
        </p:spPr>
        <p:txBody>
          <a:bodyPr wrap="square">
            <a:normAutofit fontScale="92500" lnSpcReduction="10000"/>
          </a:bodyPr>
          <a:lstStyle/>
          <a:p>
            <a:pPr algn="l">
              <a:defRPr sz="1700" b="1">
                <a:solidFill>
                  <a:srgbClr val="00536D"/>
                </a:solidFill>
                <a:latin typeface="Aptos"/>
              </a:defRPr>
            </a:pPr>
            <a:r>
              <a:t>Final Outcome</a:t>
            </a:r>
          </a:p>
        </p:txBody>
      </p:sp>
      <p:sp>
        <p:nvSpPr>
          <p:cNvPr id="15" name="TextBox 14">
            <a:extLst>
              <a:ext uri="{FF2B5EF4-FFF2-40B4-BE49-F238E27FC236}">
                <a16:creationId xmlns:a16="http://schemas.microsoft.com/office/drawing/2014/main" id="{6F50920F-5362-6A39-FFDC-3B449BA87A60}"/>
              </a:ext>
            </a:extLst>
          </p:cNvPr>
          <p:cNvSpPr txBox="1"/>
          <p:nvPr/>
        </p:nvSpPr>
        <p:spPr>
          <a:xfrm>
            <a:off x="1097280" y="4617720"/>
            <a:ext cx="9966960" cy="365760"/>
          </a:xfrm>
          <a:prstGeom prst="rect">
            <a:avLst/>
          </a:prstGeom>
          <a:noFill/>
        </p:spPr>
        <p:txBody>
          <a:bodyPr wrap="square">
            <a:normAutofit fontScale="85000" lnSpcReduction="10000"/>
          </a:bodyPr>
          <a:lstStyle/>
          <a:p>
            <a:pPr algn="l">
              <a:defRPr sz="1500" b="1">
                <a:solidFill>
                  <a:srgbClr val="162D38"/>
                </a:solidFill>
                <a:latin typeface="Aptos"/>
              </a:defRPr>
            </a:pPr>
            <a:r>
              <a:t>✓ 8 tables created in MySQL     ✓ PK/FK constraints applied     ✓ Minimum 5 rows per table     ✓ JOIN queries verify the design</a:t>
            </a:r>
          </a:p>
        </p:txBody>
      </p:sp>
      <p:sp>
        <p:nvSpPr>
          <p:cNvPr id="16" name="TextBox 15">
            <a:extLst>
              <a:ext uri="{FF2B5EF4-FFF2-40B4-BE49-F238E27FC236}">
                <a16:creationId xmlns:a16="http://schemas.microsoft.com/office/drawing/2014/main" id="{78175791-305E-3C34-8358-830910770FFB}"/>
              </a:ext>
            </a:extLst>
          </p:cNvPr>
          <p:cNvSpPr txBox="1"/>
          <p:nvPr/>
        </p:nvSpPr>
        <p:spPr>
          <a:xfrm>
            <a:off x="1097280" y="5029200"/>
            <a:ext cx="9966960" cy="320040"/>
          </a:xfrm>
          <a:prstGeom prst="rect">
            <a:avLst/>
          </a:prstGeom>
          <a:noFill/>
        </p:spPr>
        <p:txBody>
          <a:bodyPr wrap="square">
            <a:normAutofit fontScale="85000" lnSpcReduction="10000"/>
          </a:bodyPr>
          <a:lstStyle/>
          <a:p>
            <a:pPr algn="l">
              <a:defRPr sz="1400" b="0">
                <a:solidFill>
                  <a:srgbClr val="162D38"/>
                </a:solidFill>
                <a:latin typeface="Aptos"/>
              </a:defRPr>
            </a:pPr>
            <a:r>
              <a:t>Conclusion: redundancy and anomalies are removed, and SejutaStay now has a clean database foundation for hotel booking management.</a:t>
            </a:r>
          </a:p>
        </p:txBody>
      </p:sp>
      <p:sp>
        <p:nvSpPr>
          <p:cNvPr id="17" name="TextBox 16">
            <a:extLst>
              <a:ext uri="{FF2B5EF4-FFF2-40B4-BE49-F238E27FC236}">
                <a16:creationId xmlns:a16="http://schemas.microsoft.com/office/drawing/2014/main" id="{FCF94202-8F40-C368-5AB3-DE4CF62EC99B}"/>
              </a:ext>
            </a:extLst>
          </p:cNvPr>
          <p:cNvSpPr txBox="1"/>
          <p:nvPr/>
        </p:nvSpPr>
        <p:spPr>
          <a:xfrm>
            <a:off x="566928" y="6446520"/>
            <a:ext cx="6217920" cy="256032"/>
          </a:xfrm>
          <a:prstGeom prst="rect">
            <a:avLst/>
          </a:prstGeom>
          <a:noFill/>
        </p:spPr>
        <p:txBody>
          <a:bodyPr wrap="none">
            <a:spAutoFit/>
          </a:bodyPr>
          <a:lstStyle/>
          <a:p>
            <a:pPr>
              <a:defRPr sz="900">
                <a:solidFill>
                  <a:srgbClr val="66747D"/>
                </a:solidFill>
                <a:latin typeface="Aptos"/>
              </a:defRPr>
            </a:pPr>
            <a:r>
              <a:t>SejutaStay Hotel Booking Database</a:t>
            </a:r>
          </a:p>
        </p:txBody>
      </p:sp>
      <p:sp>
        <p:nvSpPr>
          <p:cNvPr id="18" name="TextBox 17">
            <a:extLst>
              <a:ext uri="{FF2B5EF4-FFF2-40B4-BE49-F238E27FC236}">
                <a16:creationId xmlns:a16="http://schemas.microsoft.com/office/drawing/2014/main" id="{B0E2DC65-1043-35BF-2525-6611E01EE511}"/>
              </a:ext>
            </a:extLst>
          </p:cNvPr>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13</a:t>
            </a:r>
          </a:p>
        </p:txBody>
      </p:sp>
    </p:spTree>
    <p:extLst>
      <p:ext uri="{BB962C8B-B14F-4D97-AF65-F5344CB8AC3E}">
        <p14:creationId xmlns:p14="http://schemas.microsoft.com/office/powerpoint/2010/main" val="2422665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C4A6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8860B"/>
          </a:solidFill>
          <a:ln/>
        </p:spPr>
        <p:txBody>
          <a:bodyPr/>
          <a:lstStyle/>
          <a:p>
            <a:endParaRPr/>
          </a:p>
        </p:txBody>
      </p:sp>
      <p:sp>
        <p:nvSpPr>
          <p:cNvPr id="3" name="Shape 1"/>
          <p:cNvSpPr/>
          <p:nvPr/>
        </p:nvSpPr>
        <p:spPr>
          <a:xfrm>
            <a:off x="-1371600" y="4572000"/>
            <a:ext cx="3840480" cy="3840480"/>
          </a:xfrm>
          <a:prstGeom prst="ellipse">
            <a:avLst/>
          </a:prstGeom>
          <a:solidFill>
            <a:srgbClr val="13415A"/>
          </a:solidFill>
          <a:ln/>
        </p:spPr>
        <p:txBody>
          <a:bodyPr/>
          <a:lstStyle/>
          <a:p>
            <a:endParaRPr/>
          </a:p>
        </p:txBody>
      </p:sp>
      <p:sp>
        <p:nvSpPr>
          <p:cNvPr id="4" name="Shape 2"/>
          <p:cNvSpPr/>
          <p:nvPr/>
        </p:nvSpPr>
        <p:spPr>
          <a:xfrm>
            <a:off x="10424160" y="-1463040"/>
            <a:ext cx="3474720" cy="3474720"/>
          </a:xfrm>
          <a:prstGeom prst="ellipse">
            <a:avLst/>
          </a:prstGeom>
          <a:solidFill>
            <a:srgbClr val="13415A"/>
          </a:solidFill>
          <a:ln/>
        </p:spPr>
        <p:txBody>
          <a:bodyPr/>
          <a:lstStyle/>
          <a:p>
            <a:endParaRPr/>
          </a:p>
        </p:txBody>
      </p:sp>
      <p:sp>
        <p:nvSpPr>
          <p:cNvPr id="5" name="Text 3"/>
          <p:cNvSpPr/>
          <p:nvPr/>
        </p:nvSpPr>
        <p:spPr>
          <a:xfrm>
            <a:off x="0" y="2286000"/>
            <a:ext cx="12191695" cy="109728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6" name="Text 4"/>
          <p:cNvSpPr/>
          <p:nvPr/>
        </p:nvSpPr>
        <p:spPr>
          <a:xfrm>
            <a:off x="0" y="3429000"/>
            <a:ext cx="12191695" cy="457200"/>
          </a:xfrm>
          <a:prstGeom prst="rect">
            <a:avLst/>
          </a:prstGeom>
          <a:noFill/>
          <a:ln/>
        </p:spPr>
        <p:txBody>
          <a:bodyPr wrap="square" lIns="0" tIns="0" rIns="0" bIns="0" rtlCol="0" anchor="ctr"/>
          <a:lstStyle/>
          <a:p>
            <a:pPr marL="0" indent="0" algn="ctr">
              <a:buNone/>
            </a:pPr>
            <a:r>
              <a:rPr lang="en-US" sz="1700" i="1" dirty="0">
                <a:solidFill>
                  <a:srgbClr val="CADCE3"/>
                </a:solidFill>
                <a:latin typeface="Calibri" pitchFamily="34" charset="0"/>
                <a:ea typeface="Calibri" pitchFamily="34" charset="-122"/>
                <a:cs typeface="Calibri" pitchFamily="34" charset="-120"/>
              </a:rPr>
              <a:t>We welcome your questions and feedback.</a:t>
            </a:r>
            <a:endParaRPr lang="en-US" sz="1700" dirty="0"/>
          </a:p>
        </p:txBody>
      </p:sp>
      <p:sp>
        <p:nvSpPr>
          <p:cNvPr id="7" name="Shape 5"/>
          <p:cNvSpPr/>
          <p:nvPr/>
        </p:nvSpPr>
        <p:spPr>
          <a:xfrm>
            <a:off x="4815688" y="4069080"/>
            <a:ext cx="2560320" cy="0"/>
          </a:xfrm>
          <a:prstGeom prst="line">
            <a:avLst/>
          </a:prstGeom>
          <a:noFill/>
          <a:ln w="25400">
            <a:solidFill>
              <a:srgbClr val="B8860B"/>
            </a:solidFill>
            <a:prstDash val="solid"/>
          </a:ln>
        </p:spPr>
        <p:txBody>
          <a:bodyPr/>
          <a:lstStyle/>
          <a:p>
            <a:endParaRPr/>
          </a:p>
        </p:txBody>
      </p:sp>
      <p:sp>
        <p:nvSpPr>
          <p:cNvPr id="8" name="Text 6"/>
          <p:cNvSpPr/>
          <p:nvPr/>
        </p:nvSpPr>
        <p:spPr>
          <a:xfrm>
            <a:off x="0" y="4297680"/>
            <a:ext cx="12191695" cy="365760"/>
          </a:xfrm>
          <a:prstGeom prst="rect">
            <a:avLst/>
          </a:prstGeom>
          <a:noFill/>
          <a:ln/>
        </p:spPr>
        <p:txBody>
          <a:bodyPr wrap="square" lIns="0" tIns="0" rIns="0" bIns="0" rtlCol="0" anchor="ctr"/>
          <a:lstStyle/>
          <a:p>
            <a:pPr marL="0" indent="0" algn="ctr">
              <a:buNone/>
            </a:pPr>
            <a:r>
              <a:rPr lang="en-US" sz="1250" dirty="0">
                <a:solidFill>
                  <a:srgbClr val="8FB9C8"/>
                </a:solidFill>
                <a:latin typeface="Calibri" pitchFamily="34" charset="0"/>
                <a:ea typeface="Calibri" pitchFamily="34" charset="-122"/>
                <a:cs typeface="Calibri" pitchFamily="34" charset="-120"/>
              </a:rPr>
              <a:t>SejutaStay Hotel Booking Database  ·  AOL Database Technology (COMP6799001)</a:t>
            </a:r>
            <a:endParaRPr lang="en-US" sz="1250" dirty="0"/>
          </a:p>
        </p:txBody>
      </p:sp>
      <p:sp>
        <p:nvSpPr>
          <p:cNvPr id="9" name="TextBox 8"/>
          <p:cNvSpPr txBox="1"/>
          <p:nvPr/>
        </p:nvSpPr>
        <p:spPr>
          <a:xfrm>
            <a:off x="731520" y="4617720"/>
            <a:ext cx="10698480" cy="594360"/>
          </a:xfrm>
          <a:prstGeom prst="rect">
            <a:avLst/>
          </a:prstGeom>
          <a:noFill/>
        </p:spPr>
        <p:txBody>
          <a:bodyPr wrap="none">
            <a:spAutoFit/>
          </a:bodyPr>
          <a:lstStyle/>
          <a:p>
            <a:pPr algn="ctr"/>
            <a:r>
              <a:rPr sz="1100" b="1">
                <a:solidFill>
                  <a:srgbClr val="FFFFFF"/>
                </a:solidFill>
              </a:rPr>
              <a:t>Daniel Steffen Kurniawan — 2602071171   ·   Edvardo Khong — 2602177171</a:t>
            </a:r>
          </a:p>
        </p:txBody>
      </p:sp>
      <p:sp>
        <p:nvSpPr>
          <p:cNvPr id="10" name="TextBox 9"/>
          <p:cNvSpPr txBox="1"/>
          <p:nvPr/>
        </p:nvSpPr>
        <p:spPr>
          <a:xfrm>
            <a:off x="11448288" y="6446520"/>
            <a:ext cx="320040" cy="256032"/>
          </a:xfrm>
          <a:prstGeom prst="rect">
            <a:avLst/>
          </a:prstGeom>
          <a:noFill/>
        </p:spPr>
        <p:txBody>
          <a:bodyPr wrap="none">
            <a:spAutoFit/>
          </a:bodyPr>
          <a:lstStyle/>
          <a:p>
            <a:pPr algn="r">
              <a:defRPr sz="900">
                <a:solidFill>
                  <a:srgbClr val="66747D"/>
                </a:solidFill>
                <a:latin typeface="Aptos"/>
              </a:defRPr>
            </a:pPr>
            <a: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2549</Words>
  <Application>Microsoft Office PowerPoint</Application>
  <PresentationFormat>Widescreen</PresentationFormat>
  <Paragraphs>334</Paragraphs>
  <Slides>15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SejutaStay Hotel Booking Database - AOL Database Technology</dc:title>
  <dc:subject>PptxGenJS Presentation</dc:subject>
  <dc:creator>Daniel Steffen Kurniawan</dc:creator>
  <cp:lastModifiedBy>EDVARDO KHONG</cp:lastModifiedBy>
  <cp:revision>6</cp:revision>
  <dcterms:created xsi:type="dcterms:W3CDTF">2026-05-26T02:50:58Z</dcterms:created>
  <dcterms:modified xsi:type="dcterms:W3CDTF">2026-06-10T01:36:36Z</dcterms:modified>
</cp:coreProperties>
</file>